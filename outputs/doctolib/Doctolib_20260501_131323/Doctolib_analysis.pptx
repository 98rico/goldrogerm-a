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Valuation Football Field  ($M EV)</a:t>
            </a:r>
          </a:p>
        </c:rich>
      </c:tx>
      <c:layout/>
      <c:overlay val="0"/>
    </c:title>
    <c:autoTitleDeleted val="0"/>
    <c:plotArea>
      <c:barChart>
        <c:barDir val="bar"/>
        <c:grouping val="clustered"/>
        <c:ser>
          <c:idx val="0"/>
          <c:order val="0"/>
          <c:tx>
            <c:strRef>
              <c:f>Sheet1!$B$1</c:f>
              <c:strCache>
                <c:ptCount val="1"/>
                <c:pt idx="0">
                  <c:v>Bear</c:v>
                </c:pt>
              </c:strCache>
            </c:strRef>
          </c:tx>
          <c:spPr>
            <a:solidFill>
              <a:srgbClr val="C00000"/>
            </a:solidFill>
          </c:spPr>
          <c:cat>
            <c:strRef>
              <c:f>Sheet1!$A$2:$A$4</c:f>
              <c:strCache>
                <c:ptCount val="3"/>
                <c:pt idx="0">
                  <c:v>DCF EV</c:v>
                </c:pt>
                <c:pt idx="1">
                  <c:v>Comps EV</c:v>
                </c:pt>
                <c:pt idx="2">
                  <c:v>Blended EV</c:v>
                </c:pt>
              </c:strCache>
            </c:strRef>
          </c:cat>
          <c:val>
            <c:numRef>
              <c:f>Sheet1!$B$2:$B$4</c:f>
              <c:numCache>
                <c:formatCode>General</c:formatCode>
                <c:ptCount val="3"/>
                <c:pt idx="0">
                  <c:v>329.0</c:v>
                </c:pt>
                <c:pt idx="1">
                  <c:v>1000.0</c:v>
                </c:pt>
                <c:pt idx="2">
                  <c:v>1500.0</c:v>
                </c:pt>
              </c:numCache>
            </c:numRef>
          </c:val>
        </c:ser>
        <c:ser>
          <c:idx val="1"/>
          <c:order val="1"/>
          <c:tx>
            <c:strRef>
              <c:f>Sheet1!$C$1</c:f>
              <c:strCache>
                <c:ptCount val="1"/>
                <c:pt idx="0">
                  <c:v>Base</c:v>
                </c:pt>
              </c:strCache>
            </c:strRef>
          </c:tx>
          <c:spPr>
            <a:solidFill>
              <a:srgbClr val="FFC000"/>
            </a:solidFill>
          </c:spPr>
          <c:cat>
            <c:strRef>
              <c:f>Sheet1!$A$2:$A$4</c:f>
              <c:strCache>
                <c:ptCount val="3"/>
                <c:pt idx="0">
                  <c:v>DCF EV</c:v>
                </c:pt>
                <c:pt idx="1">
                  <c:v>Comps EV</c:v>
                </c:pt>
                <c:pt idx="2">
                  <c:v>Blended EV</c:v>
                </c:pt>
              </c:strCache>
            </c:strRef>
          </c:cat>
          <c:val>
            <c:numRef>
              <c:f>Sheet1!$C$2:$C$4</c:f>
              <c:numCache>
                <c:formatCode>General</c:formatCode>
                <c:ptCount val="3"/>
                <c:pt idx="0">
                  <c:v>591.0</c:v>
                </c:pt>
                <c:pt idx="1">
                  <c:v>1800.0</c:v>
                </c:pt>
                <c:pt idx="2">
                  <c:v>2400.0</c:v>
                </c:pt>
              </c:numCache>
            </c:numRef>
          </c:val>
        </c:ser>
        <c:ser>
          <c:idx val="2"/>
          <c:order val="2"/>
          <c:tx>
            <c:strRef>
              <c:f>Sheet1!$D$1</c:f>
              <c:strCache>
                <c:ptCount val="1"/>
                <c:pt idx="0">
                  <c:v>Bull</c:v>
                </c:pt>
              </c:strCache>
            </c:strRef>
          </c:tx>
          <c:spPr>
            <a:solidFill>
              <a:srgbClr val="00B050"/>
            </a:solidFill>
          </c:spPr>
          <c:cat>
            <c:strRef>
              <c:f>Sheet1!$A$2:$A$4</c:f>
              <c:strCache>
                <c:ptCount val="3"/>
                <c:pt idx="0">
                  <c:v>DCF EV</c:v>
                </c:pt>
                <c:pt idx="1">
                  <c:v>Comps EV</c:v>
                </c:pt>
                <c:pt idx="2">
                  <c:v>Blended EV</c:v>
                </c:pt>
              </c:strCache>
            </c:strRef>
          </c:cat>
          <c:val>
            <c:numRef>
              <c:f>Sheet1!$D$2:$D$4</c:f>
              <c:numCache>
                <c:formatCode>General</c:formatCode>
                <c:ptCount val="3"/>
                <c:pt idx="0">
                  <c:v>1000.0</c:v>
                </c:pt>
                <c:pt idx="1">
                  <c:v>2900.0</c:v>
                </c:pt>
                <c:pt idx="2">
                  <c:v>3800.0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7.0</c:v>
                </c:pt>
                <c:pt idx="3">
                  <c:v>2.0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Healthcare Technology (HealthTech)  |  Private</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NEUTRAL</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$2.4B     |     Revenue: $300.0M     |     EBITDA Margin: 18.0% [sector avg]     |     Upside/Downside: N/A [no market price]</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50/100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Doctolib maintains its market leadership in France while gradually expanding its footprint in Germany and It</a:t>
            </a:r>
          </a:p>
          <a:p>
            <a:pPr>
              <a:spcBef>
                <a:spcPts val="200"/>
              </a:spcBef>
              <a:spcAft>
                <a:spcPts val="200"/>
              </a:spcAft>
              <a:defRPr sz="1400">
                <a:solidFill>
                  <a:srgbClr val="333333"/>
                </a:solidFill>
                <a:latin typeface="Calibri"/>
              </a:defRPr>
            </a:pPr>
            <a:r>
              <a:t>Bull: In a bull scenario, Doctolib could accelerate its revenue growth by capitalizing on three key drivers: (1) deeper penetration into</a:t>
            </a:r>
          </a:p>
          <a:p>
            <a:pPr>
              <a:spcBef>
                <a:spcPts val="200"/>
              </a:spcBef>
              <a:spcAft>
                <a:spcPts val="200"/>
              </a:spcAft>
              <a:defRPr sz="1400">
                <a:solidFill>
                  <a:srgbClr val="333333"/>
                </a:solidFill>
                <a:latin typeface="Calibri"/>
              </a:defRPr>
            </a:pPr>
            <a:r>
              <a:t>Bear: In a bear scenario, Doctolib faces significant downside risks from (1) regulatory setbacks, such as stricter data privacy laws 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May 01, 2026 | Healthcare Technology (HealthTech)</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European digital health platform that connects patients with healthcare professionals, offering appointment scheduling, telemedicine, and practice management software.</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NEUTRAL | Target: $2.4B | Upside/Downside: N/A [no market price] | Current: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Generates revenue through subscription fees from healthcare providers for software services, transaction fees for appointment bookings, and premium features for clinics and hospitals.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DOCTOL</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+7.0%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300.0</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+7.0%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43.0% [estimated]</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18.0% [sector avg]</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$35M [estimated]</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N/A</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$2.4B</a:t>
            </a:r>
          </a:p>
          <a:p>
            <a:pPr>
              <a:spcBef>
                <a:spcPts val="200"/>
              </a:spcBef>
              <a:spcAft>
                <a:spcPts val="200"/>
              </a:spcAft>
              <a:defRPr sz="1400">
                <a:solidFill>
                  <a:srgbClr val="333333"/>
                </a:solidFill>
                <a:latin typeface="Calibri"/>
              </a:defRPr>
            </a:pPr>
            <a:r>
              <a:t>Upside/Downside: N/A [no market price]</a:t>
            </a:r>
          </a:p>
          <a:p>
            <a:pPr>
              <a:spcBef>
                <a:spcPts val="200"/>
              </a:spcBef>
              <a:spcAft>
                <a:spcPts val="200"/>
              </a:spcAft>
              <a:defRPr sz="1400">
                <a:solidFill>
                  <a:srgbClr val="333333"/>
                </a:solidFill>
                <a:latin typeface="Calibri"/>
              </a:defRPr>
            </a:pPr>
            <a:r>
              <a:t>Recommendation: NEUTRAL</a:t>
            </a:r>
          </a:p>
          <a:p>
            <a:pPr>
              <a:spcBef>
                <a:spcPts val="200"/>
              </a:spcBef>
              <a:spcAft>
                <a:spcPts val="200"/>
              </a:spcAft>
              <a:defRPr sz="1400">
                <a:solidFill>
                  <a:srgbClr val="333333"/>
                </a:solidFill>
                <a:latin typeface="Calibri"/>
              </a:defRPr>
            </a:pPr>
            <a:r>
              <a:t>Current price: N/A</a:t>
            </a:r>
          </a:p>
          <a:p>
            <a:pPr>
              <a:spcBef>
                <a:spcPts val="200"/>
              </a:spcBef>
              <a:spcAft>
                <a:spcPts val="200"/>
              </a:spcAft>
              <a:defRPr sz="1400">
                <a:solidFill>
                  <a:srgbClr val="333333"/>
                </a:solidFill>
                <a:latin typeface="Calibri"/>
              </a:defRPr>
            </a:pPr>
            <a:r>
              <a:t>DCF: WACC 10.00%, TGR 3.00%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591.1</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50%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1322.4</a:t>
                      </a:r>
                    </a:p>
                  </a:txBody>
                  <a:tcPr>
                    <a:solidFill>
                      <a:srgbClr val="FAFAFA"/>
                    </a:solidFill>
                  </a:tcPr>
                </a:tc>
                <a:tc>
                  <a:txBody>
                    <a:bodyPr/>
                    <a:lstStyle/>
                    <a:p>
                      <a:pPr>
                        <a:defRPr sz="1100">
                          <a:solidFill>
                            <a:srgbClr val="333333"/>
                          </a:solidFill>
                          <a:latin typeface="Calibri"/>
                        </a:defRPr>
                      </a:pPr>
                      <a:r>
                        <a:t>1763.2</a:t>
                      </a:r>
                    </a:p>
                  </a:txBody>
                  <a:tcPr>
                    <a:solidFill>
                      <a:srgbClr val="FAFAFA"/>
                    </a:solidFill>
                  </a:tcPr>
                </a:tc>
                <a:tc>
                  <a:txBody>
                    <a:bodyPr/>
                    <a:lstStyle/>
                    <a:p>
                      <a:pPr>
                        <a:defRPr sz="1100">
                          <a:solidFill>
                            <a:srgbClr val="333333"/>
                          </a:solidFill>
                          <a:latin typeface="Calibri"/>
                        </a:defRPr>
                      </a:pPr>
                      <a:r>
                        <a:t>2204.0</a:t>
                      </a:r>
                    </a:p>
                  </a:txBody>
                  <a:tcPr>
                    <a:solidFill>
                      <a:srgbClr val="FAFAFA"/>
                    </a:solidFill>
                  </a:tcPr>
                </a:tc>
                <a:tc>
                  <a:txBody>
                    <a:bodyPr/>
                    <a:lstStyle/>
                    <a:p>
                      <a:pPr>
                        <a:defRPr sz="1100">
                          <a:solidFill>
                            <a:srgbClr val="333333"/>
                          </a:solidFill>
                          <a:latin typeface="Calibri"/>
                        </a:defRPr>
                      </a:pPr>
                      <a:r>
                        <a:t>30%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7934.4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20%</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graphicFrame>
        <p:nvGraphicFramePr>
          <p:cNvPr id="5" name="Chart 4"/>
          <p:cNvGraphicFramePr>
            <a:graphicFrameLocks noGrp="1"/>
          </p:cNvGraphicFramePr>
          <p:nvPr/>
        </p:nvGraphicFramePr>
        <p:xfrm>
          <a:off x="457200" y="1097280"/>
          <a:ext cx="11430000" cy="5303520"/>
        </p:xfrm>
        <a:graphic>
          <a:graphicData uri="http://schemas.openxmlformats.org/drawingml/2006/chart">
            <c:chart xmlns:c="http://schemas.openxmlformats.org/drawingml/2006/chart" r:id="rId2"/>
          </a:graphicData>
        </a:graphic>
      </p:graphicFrame>
      <p:sp>
        <p:nvSpPr>
          <p:cNvPr id="6" name="TextBox 5"/>
          <p:cNvSpPr txBox="1"/>
          <p:nvPr/>
        </p:nvSpPr>
        <p:spPr>
          <a:xfrm>
            <a:off x="457200" y="6492240"/>
            <a:ext cx="11247120" cy="274320"/>
          </a:xfrm>
          <a:prstGeom prst="rect">
            <a:avLst/>
          </a:prstGeom>
          <a:noFill/>
        </p:spPr>
        <p:txBody>
          <a:bodyPr wrap="none">
            <a:spAutoFit/>
          </a:bodyPr>
          <a:lstStyle/>
          <a:p>
            <a:r>
              <a:rPr b="1" sz="2000">
                <a:solidFill>
                  <a:srgbClr val="333333"/>
                </a:solidFill>
                <a:latin typeface="Calibri"/>
              </a:rPr>
              <a:t/>
            </a:r>
          </a:p>
          <a:p>
            <a:pPr>
              <a:spcBef>
                <a:spcPts val="200"/>
              </a:spcBef>
              <a:spcAft>
                <a:spcPts val="200"/>
              </a:spcAft>
              <a:defRPr sz="1400">
                <a:solidFill>
                  <a:srgbClr val="333333"/>
                </a:solidFill>
                <a:latin typeface="Calibri"/>
              </a:defRPr>
            </a:pPr>
            <a:r>
              <a:t>Blended range: $1.5B — $3.8B   DCF: $329M — $1.0B   Comps: $1.0B — $2.9B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7.0/10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2.0/10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50/100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Doctolib IC score 50/100. Strengths: financial (7/10), strategy (5/10). Risks: lbo (2/10), strategy (5/10). LBO IRR: 10.1%.</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a:p>
            <a:pPr>
              <a:spcBef>
                <a:spcPts val="200"/>
              </a:spcBef>
              <a:spcAft>
                <a:spcPts val="200"/>
              </a:spcAft>
              <a:defRPr sz="1400">
                <a:solidFill>
                  <a:srgbClr val="333333"/>
                </a:solidFill>
                <a:latin typeface="Calibri"/>
              </a:defRPr>
            </a:pPr>
            <a:r>
              <a:t>Reassess capital structure — current leverage profile impedes LBO.</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Doctolib has established itself as the leading digital health platform in Europe, leveraging a robust network effect to dominate the appointment scheduling and telemedicine markets across France, Germany, and Italy. The company’s moat is underpinned by its first-mover advantage, high provider adoption (over 300,000 healthcare professionals), and deep integration into the European healthcare ecosystem, which creates significant switching costs for both practitioners and patients. Doctolib’s revenue trajectory has been driven by a mix of subscription-based SaaS models for providers and transactional revenue from teleconsultations, with recent expansion into adjacent services such as electronic health records (EHR) and practice management tools. However, the company operates in a highly regulated environment, and its growth is constrained by the pace of digital adoption among traditional healthcare providers, particularly in markets outside France. Valuation support hinges on sustained market share gains, successful monetization of its user base, and execution in scaling ancillary services, though the implied valuation reflects elevated expectations for continued double-digit growth in a competitive and fragmented industry.</a:t>
            </a:r>
          </a:p>
          <a:p>
            <a:pPr>
              <a:spcBef>
                <a:spcPts val="200"/>
              </a:spcBef>
              <a:spcAft>
                <a:spcPts val="200"/>
              </a:spcAft>
              <a:defRPr sz="1400">
                <a:solidFill>
                  <a:srgbClr val="333333"/>
                </a:solidFill>
                <a:latin typeface="Calibri"/>
              </a:defRPr>
            </a:pPr>
            <a:r>
              <a:t>Bull: In a bull scenario, Doctolib could accelerate its revenue growth by capitalizing on three key drivers: (1) deeper penetration into the German and Italian markets, where digital health adoption is still nascent but growing rapidly, (2) expansion of its telemedicine and EHR offerings, which command higher monetization potential than its core scheduling business, and (3) strategic acquisitions to consolidate its position in Europe’s fragmented health tech landscape. If the company successfully scales its ancillary services to account for 30-40% of revenue within the next three years, it could justify a premium valuation by diversifying its revenue streams and improving margins. Additionally, regulatory tailwinds, such as government mandates for digital health records, could further entrench Doctolib as an indispensable infrastructure player in European healthcare.</a:t>
            </a:r>
          </a:p>
          <a:p>
            <a:pPr>
              <a:spcBef>
                <a:spcPts val="200"/>
              </a:spcBef>
              <a:spcAft>
                <a:spcPts val="200"/>
              </a:spcAft>
              <a:defRPr sz="1400">
                <a:solidFill>
                  <a:srgbClr val="333333"/>
                </a:solidFill>
                <a:latin typeface="Calibri"/>
              </a:defRPr>
            </a:pPr>
            <a:r>
              <a:t>Base: The base case assumes Doctolib maintains its market leadership in France while gradually expanding its footprint in Germany and Italy, though at a slower pace than initially projected due to regulatory and cultural barriers. Revenue growth would be driven primarily by organic adoption of its core scheduling and telemedicine services, with ancillary offerings contributing modestly to the top line. The company’s ability to retain its provider base and upsell higher-margin services will be critical, as competition from local and international players (e.g., KRY, Zocdoc) intensifies. Margins may remain under pressure due to ongoing investments in product development and compliance, but the business could achieve sustainable profitability as it scales. Valuation would be supported by steady growth, though upside would be limited by the lack of near-term catalysts for multiple expansion.</a:t>
            </a:r>
          </a:p>
          <a:p>
            <a:pPr>
              <a:spcBef>
                <a:spcPts val="200"/>
              </a:spcBef>
              <a:spcAft>
                <a:spcPts val="200"/>
              </a:spcAft>
              <a:defRPr sz="1400">
                <a:solidFill>
                  <a:srgbClr val="333333"/>
                </a:solidFill>
                <a:latin typeface="Calibri"/>
              </a:defRPr>
            </a:pPr>
            <a:r>
              <a:t>Bear: In a bear scenario, Doctolib faces significant downside risks from (1) regulatory setbacks, such as stricter data privacy laws or restrictions on telemedicine reimbursement, which could erode its value proposition for providers, (2) aggressive competition from well-funded rivals like KRY or Amazon Care, which could poach market share in key geographies, and (3) slower-than-expected adoption of its EHR and practice management tools, limiting revenue diversification. A failure to achieve critical mass in Germany or Italy could force the company to retrench to its core French market, compressing growth prospects and margins. Additionally, any missteps in execution, such as integration challenges from potential acquisitions or data breaches, could damage its reputation and lead to provider churn. In this scenario, the implied valuation would appear stretched, and the company could face pressure to raise additional capital at less favorable terms.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Q3 2024 earnings release, which will provide updates on adoption trends for its EHR and practice management tools in France and Germany</a:t>
            </a:r>
          </a:p>
          <a:p>
            <a:pPr>
              <a:spcBef>
                <a:spcPts val="200"/>
              </a:spcBef>
              <a:spcAft>
                <a:spcPts val="200"/>
              </a:spcAft>
              <a:defRPr sz="1400">
                <a:solidFill>
                  <a:srgbClr val="333333"/>
                </a:solidFill>
                <a:latin typeface="Calibri"/>
              </a:defRPr>
            </a:pPr>
            <a:r>
              <a:t>Potential regulatory approval for expanded telemedicine services in Italy, which could unlock a new revenue stream</a:t>
            </a:r>
          </a:p>
          <a:p>
            <a:pPr>
              <a:spcBef>
                <a:spcPts val="200"/>
              </a:spcBef>
              <a:spcAft>
                <a:spcPts val="200"/>
              </a:spcAft>
              <a:defRPr sz="1400">
                <a:solidFill>
                  <a:srgbClr val="333333"/>
                </a:solidFill>
                <a:latin typeface="Calibri"/>
              </a:defRPr>
            </a:pPr>
            <a:r>
              <a:t>Announcement of a strategic acquisition or partnership to bolster its presence in the German market, where competition is intensifying</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