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Valuation Football Field  ($M EV)</a:t>
            </a:r>
          </a:p>
        </c:rich>
      </c:tx>
      <c:layout/>
      <c:overlay val="0"/>
    </c:title>
    <c:autoTitleDeleted val="0"/>
    <c:plotArea>
      <c:barChart>
        <c:barDir val="bar"/>
        <c:grouping val="clustered"/>
        <c:ser>
          <c:idx val="0"/>
          <c:order val="0"/>
          <c:tx>
            <c:strRef>
              <c:f>Sheet1!$B$1</c:f>
              <c:strCache>
                <c:ptCount val="1"/>
                <c:pt idx="0">
                  <c:v>Bear</c:v>
                </c:pt>
              </c:strCache>
            </c:strRef>
          </c:tx>
          <c:spPr>
            <a:solidFill>
              <a:srgbClr val="C00000"/>
            </a:solidFill>
          </c:spPr>
          <c:cat>
            <c:strRef>
              <c:f>Sheet1!$A$2:$A$4</c:f>
              <c:strCache>
                <c:ptCount val="3"/>
                <c:pt idx="0">
                  <c:v>DCF EV</c:v>
                </c:pt>
                <c:pt idx="1">
                  <c:v>Comps EV</c:v>
                </c:pt>
                <c:pt idx="2">
                  <c:v>Blended EV</c:v>
                </c:pt>
              </c:strCache>
            </c:strRef>
          </c:cat>
          <c:val>
            <c:numRef>
              <c:f>Sheet1!$B$2:$B$4</c:f>
              <c:numCache>
                <c:formatCode>General</c:formatCode>
                <c:ptCount val="3"/>
                <c:pt idx="0">
                  <c:v>1514100.0</c:v>
                </c:pt>
                <c:pt idx="1">
                  <c:v>3137000.0</c:v>
                </c:pt>
                <c:pt idx="2">
                  <c:v>2163300.0</c:v>
                </c:pt>
              </c:numCache>
            </c:numRef>
          </c:val>
        </c:ser>
        <c:ser>
          <c:idx val="1"/>
          <c:order val="1"/>
          <c:tx>
            <c:strRef>
              <c:f>Sheet1!$C$1</c:f>
              <c:strCache>
                <c:ptCount val="1"/>
                <c:pt idx="0">
                  <c:v>Base</c:v>
                </c:pt>
              </c:strCache>
            </c:strRef>
          </c:tx>
          <c:spPr>
            <a:solidFill>
              <a:srgbClr val="FFC000"/>
            </a:solidFill>
          </c:spPr>
          <c:cat>
            <c:strRef>
              <c:f>Sheet1!$A$2:$A$4</c:f>
              <c:strCache>
                <c:ptCount val="3"/>
                <c:pt idx="0">
                  <c:v>DCF EV</c:v>
                </c:pt>
                <c:pt idx="1">
                  <c:v>Comps EV</c:v>
                </c:pt>
                <c:pt idx="2">
                  <c:v>Blended EV</c:v>
                </c:pt>
              </c:strCache>
            </c:strRef>
          </c:cat>
          <c:val>
            <c:numRef>
              <c:f>Sheet1!$C$2:$C$4</c:f>
              <c:numCache>
                <c:formatCode>General</c:formatCode>
                <c:ptCount val="3"/>
                <c:pt idx="0">
                  <c:v>2121600.0</c:v>
                </c:pt>
                <c:pt idx="1">
                  <c:v>4931200.0</c:v>
                </c:pt>
                <c:pt idx="2">
                  <c:v>3245400.0</c:v>
                </c:pt>
              </c:numCache>
            </c:numRef>
          </c:val>
        </c:ser>
        <c:ser>
          <c:idx val="2"/>
          <c:order val="2"/>
          <c:tx>
            <c:strRef>
              <c:f>Sheet1!$D$1</c:f>
              <c:strCache>
                <c:ptCount val="1"/>
                <c:pt idx="0">
                  <c:v>Bull</c:v>
                </c:pt>
              </c:strCache>
            </c:strRef>
          </c:tx>
          <c:spPr>
            <a:solidFill>
              <a:srgbClr val="00B050"/>
            </a:solidFill>
          </c:spPr>
          <c:cat>
            <c:strRef>
              <c:f>Sheet1!$A$2:$A$4</c:f>
              <c:strCache>
                <c:ptCount val="3"/>
                <c:pt idx="0">
                  <c:v>DCF EV</c:v>
                </c:pt>
                <c:pt idx="1">
                  <c:v>Comps EV</c:v>
                </c:pt>
                <c:pt idx="2">
                  <c:v>Blended EV</c:v>
                </c:pt>
              </c:strCache>
            </c:strRef>
          </c:cat>
          <c:val>
            <c:numRef>
              <c:f>Sheet1!$D$2:$D$4</c:f>
              <c:numCache>
                <c:formatCode>General</c:formatCode>
                <c:ptCount val="3"/>
                <c:pt idx="0">
                  <c:v>2897000.0</c:v>
                </c:pt>
                <c:pt idx="1">
                  <c:v>7378900.0</c:v>
                </c:pt>
                <c:pt idx="2">
                  <c:v>4689700.0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Score</c:v>
                </c:pt>
              </c:strCache>
            </c:strRef>
          </c:tx>
          <c:spPr>
            <a:solidFill>
              <a:srgbClr val="1F497D"/>
            </a:solidFill>
          </c:spPr>
          <c:cat>
            <c:strRef>
              <c:f>Sheet1!$A$2:$A$7</c:f>
              <c:strCache>
                <c:ptCount val="6"/>
                <c:pt idx="0">
                  <c:v>Strategy</c:v>
                </c:pt>
                <c:pt idx="1">
                  <c:v>Synergies</c:v>
                </c:pt>
                <c:pt idx="2">
                  <c:v>Financial</c:v>
                </c:pt>
                <c:pt idx="3">
                  <c:v>LBO</c:v>
                </c:pt>
                <c:pt idx="4">
                  <c:v>Integration</c:v>
                </c:pt>
                <c:pt idx="5">
                  <c:v>Risk</c:v>
                </c:pt>
              </c:strCache>
            </c:strRef>
          </c:cat>
          <c:val>
            <c:numRef>
              <c:f>Sheet1!$B$2:$B$7</c:f>
              <c:numCache>
                <c:formatCode>General</c:formatCode>
                <c:ptCount val="6"/>
                <c:pt idx="0">
                  <c:v>5.0</c:v>
                </c:pt>
                <c:pt idx="1">
                  <c:v>5.0</c:v>
                </c:pt>
                <c:pt idx="2">
                  <c:v>6.0</c:v>
                </c:pt>
                <c:pt idx="3">
                  <c:v>5.0</c:v>
                </c:pt>
                <c:pt idx="4">
                  <c:v>5.0</c:v>
                </c:pt>
                <c:pt idx="5">
                  <c:v>5.0</c:v>
                </c:pt>
              </c:numCache>
            </c:numRef>
          </c:val>
          <c:smooth val="0"/>
        </c:ser>
        <c:ser>
          <c:idx val="1"/>
          <c:order val="1"/>
          <c:tx>
            <c:strRef>
              <c:f>Sheet1!$C$1</c:f>
              <c:strCache>
                <c:ptCount val="1"/>
                <c:pt idx="0">
                  <c:v>Midpoint</c:v>
                </c:pt>
              </c:strCache>
            </c:strRef>
          </c:tx>
          <c:spPr>
            <a:ln>
              <a:solidFill>
                <a:srgbClr val="B4B4B4"/>
              </a:solidFill>
            </a:ln>
          </c:spPr>
          <c:cat>
            <c:strRef>
              <c:f>Sheet1!$A$2:$A$7</c:f>
              <c:strCache>
                <c:ptCount val="6"/>
                <c:pt idx="0">
                  <c:v>Strategy</c:v>
                </c:pt>
                <c:pt idx="1">
                  <c:v>Synergies</c:v>
                </c:pt>
                <c:pt idx="2">
                  <c:v>Financial</c:v>
                </c:pt>
                <c:pt idx="3">
                  <c:v>LBO</c:v>
                </c:pt>
                <c:pt idx="4">
                  <c:v>Integration</c:v>
                </c:pt>
                <c:pt idx="5">
                  <c:v>Risk</c:v>
                </c:pt>
              </c:strCache>
            </c:strRef>
          </c:cat>
          <c:val>
            <c:numRef>
              <c:f>Sheet1!$C$2:$C$7</c:f>
              <c:numCache>
                <c:formatCode>General</c:formatCode>
                <c:ptCount val="6"/>
                <c:pt idx="0">
                  <c:v>5.0</c:v>
                </c:pt>
                <c:pt idx="1">
                  <c:v>5.0</c:v>
                </c:pt>
                <c:pt idx="2">
                  <c:v>5.0</c:v>
                </c:pt>
                <c:pt idx="3">
                  <c:v>5.0</c:v>
                </c:pt>
                <c:pt idx="4">
                  <c:v>5.0</c:v>
                </c:pt>
                <c:pt idx="5">
                  <c:v>5.0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NVIDIA</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Executive Summary  |  Information Technology  |  Public</a:t>
            </a:r>
          </a:p>
        </p:txBody>
      </p:sp>
      <p:sp>
        <p:nvSpPr>
          <p:cNvPr id="6" name="TextBox 5"/>
          <p:cNvSpPr txBox="1"/>
          <p:nvPr/>
        </p:nvSpPr>
        <p:spPr>
          <a:xfrm>
            <a:off x="4114800" y="1371600"/>
            <a:ext cx="3657600" cy="822960"/>
          </a:xfrm>
          <a:prstGeom prst="rect">
            <a:avLst/>
          </a:prstGeom>
          <a:noFill/>
        </p:spPr>
        <p:txBody>
          <a:bodyPr wrap="none">
            <a:spAutoFit/>
          </a:bodyPr>
          <a:lstStyle/>
          <a:p>
            <a:pPr algn="ctr"/>
            <a:r>
              <a:rPr b="1" sz="3600">
                <a:solidFill>
                  <a:srgbClr val="FFC000"/>
                </a:solidFill>
                <a:latin typeface="Calibri"/>
              </a:rPr>
              <a:t>HOLD</a:t>
            </a:r>
          </a:p>
        </p:txBody>
      </p:sp>
      <p:sp>
        <p:nvSpPr>
          <p:cNvPr id="7" name="TextBox 6"/>
          <p:cNvSpPr txBox="1"/>
          <p:nvPr/>
        </p:nvSpPr>
        <p:spPr>
          <a:xfrm>
            <a:off x="457200" y="2377440"/>
            <a:ext cx="11247120" cy="1280160"/>
          </a:xfrm>
          <a:prstGeom prst="rect">
            <a:avLst/>
          </a:prstGeom>
          <a:noFill/>
        </p:spPr>
        <p:txBody>
          <a:bodyPr wrap="none">
            <a:spAutoFit/>
          </a:bodyPr>
          <a:lstStyle/>
          <a:p>
            <a:pPr algn="ctr"/>
            <a:r>
              <a:rPr b="1" sz="1500">
                <a:solidFill>
                  <a:srgbClr val="1B2A4A"/>
                </a:solidFill>
                <a:latin typeface="Calibri"/>
              </a:rPr>
              <a:t>Implied EV: $4.97T     |     Revenue: $215938.00704M     |     EBITDA Margin: 0.61698     |     Upside/Downside: +5.0%</a:t>
            </a:r>
          </a:p>
        </p:txBody>
      </p:sp>
      <p:sp>
        <p:nvSpPr>
          <p:cNvPr id="8" name="TextBox 7"/>
          <p:cNvSpPr txBox="1"/>
          <p:nvPr/>
        </p:nvSpPr>
        <p:spPr>
          <a:xfrm>
            <a:off x="4754880" y="3657600"/>
            <a:ext cx="2560320" cy="640080"/>
          </a:xfrm>
          <a:prstGeom prst="rect">
            <a:avLst/>
          </a:prstGeom>
          <a:noFill/>
        </p:spPr>
        <p:txBody>
          <a:bodyPr wrap="none">
            <a:spAutoFit/>
          </a:bodyPr>
          <a:lstStyle/>
          <a:p>
            <a:pPr algn="ctr"/>
            <a:r>
              <a:rPr b="1" sz="1600">
                <a:solidFill>
                  <a:srgbClr val="1B2A4A"/>
                </a:solidFill>
                <a:latin typeface="Calibri"/>
              </a:rPr>
              <a:t>IC Score: 52/100</a:t>
            </a:r>
          </a:p>
        </p:txBody>
      </p:sp>
      <p:sp>
        <p:nvSpPr>
          <p:cNvPr id="9" name="TextBox 8"/>
          <p:cNvSpPr txBox="1"/>
          <p:nvPr/>
        </p:nvSpPr>
        <p:spPr>
          <a:xfrm>
            <a:off x="457200" y="4480560"/>
            <a:ext cx="11247120" cy="2103120"/>
          </a:xfrm>
          <a:prstGeom prst="rect">
            <a:avLst/>
          </a:prstGeom>
          <a:noFill/>
        </p:spPr>
        <p:txBody>
          <a:bodyPr wrap="none">
            <a:spAutoFit/>
          </a:bodyPr>
          <a:lstStyle/>
          <a:p>
            <a:r>
              <a:rPr b="1" sz="2000">
                <a:solidFill>
                  <a:srgbClr val="333333"/>
                </a:solidFill>
                <a:latin typeface="Calibri"/>
              </a:rPr>
              <a:t>Key Scenarios</a:t>
            </a:r>
          </a:p>
          <a:p>
            <a:pPr>
              <a:spcBef>
                <a:spcPts val="200"/>
              </a:spcBef>
              <a:spcAft>
                <a:spcPts val="200"/>
              </a:spcAft>
              <a:defRPr sz="1400">
                <a:solidFill>
                  <a:srgbClr val="333333"/>
                </a:solidFill>
                <a:latin typeface="Calibri"/>
              </a:defRPr>
            </a:pPr>
            <a:r>
              <a:t>Base case: The base case assumes NVIDIA continues to dominate the AI accelerator market but faces incremental competition from AMD’s MI300 se</a:t>
            </a:r>
          </a:p>
          <a:p>
            <a:pPr>
              <a:spcBef>
                <a:spcPts val="200"/>
              </a:spcBef>
              <a:spcAft>
                <a:spcPts val="200"/>
              </a:spcAft>
              <a:defRPr sz="1400">
                <a:solidFill>
                  <a:srgbClr val="333333"/>
                </a:solidFill>
                <a:latin typeface="Calibri"/>
              </a:defRPr>
            </a:pPr>
            <a:r>
              <a:t>Bull: In the bull scenario, NVIDIA sustains its leadership in AI infrastructure by successfully transitioning to the Blackwell architect</a:t>
            </a:r>
          </a:p>
          <a:p>
            <a:pPr>
              <a:spcBef>
                <a:spcPts val="200"/>
              </a:spcBef>
              <a:spcAft>
                <a:spcPts val="200"/>
              </a:spcAft>
              <a:defRPr sz="1400">
                <a:solidFill>
                  <a:srgbClr val="333333"/>
                </a:solidFill>
                <a:latin typeface="Calibri"/>
              </a:defRPr>
            </a:pPr>
            <a:r>
              <a:t>Bear: The bear case materializes if NVIDIA’s AI leadership erodes faster than anticipated, driven by competitive threats from AMD, Intel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NVIDIA</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May 04, 2026 | Information Technology</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NVIDIA is a technology company specializing in graphics processing units (GPUs) for gaming, professional visualization, data centers, and artificial intelligence (AI).</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$206.68 | Implied EV: $4.97T | Upside/Downside: +5.0% | Current: $196.88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NVIDIA generates revenue primarily through the sale of GPUs, AI software, data center solutions, and automotive chips. It also earns from licensing, cloud services, and professional visualization products.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NVDA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Competitive positioning data unavailable.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Market size data not available [no verified source]</a:t>
            </a:r>
          </a:p>
          <a:p>
            <a:pPr>
              <a:spcBef>
                <a:spcPts val="200"/>
              </a:spcBef>
              <a:spcAft>
                <a:spcPts val="200"/>
              </a:spcAft>
              <a:defRPr sz="1400">
                <a:solidFill>
                  <a:srgbClr val="333333"/>
                </a:solidFill>
                <a:latin typeface="Calibri"/>
              </a:defRPr>
            </a:pPr>
            <a:r>
              <a:t>Growth (CAGR): +12.0% [sector benchmark]</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market trend data available from current sources.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215938.00704</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+12.0% [estimated]</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0.71068</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0.61698</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0.55603004</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58128.9984</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0.0023848688377788507</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EV: $4.97T</a:t>
            </a:r>
          </a:p>
          <a:p>
            <a:pPr>
              <a:spcBef>
                <a:spcPts val="200"/>
              </a:spcBef>
              <a:spcAft>
                <a:spcPts val="200"/>
              </a:spcAft>
              <a:defRPr sz="1400">
                <a:solidFill>
                  <a:srgbClr val="333333"/>
                </a:solidFill>
                <a:latin typeface="Calibri"/>
              </a:defRPr>
            </a:pPr>
            <a:r>
              <a:t>Target price (per share): $206.68</a:t>
            </a:r>
          </a:p>
          <a:p>
            <a:pPr>
              <a:spcBef>
                <a:spcPts val="200"/>
              </a:spcBef>
              <a:spcAft>
                <a:spcPts val="200"/>
              </a:spcAft>
              <a:defRPr sz="1400">
                <a:solidFill>
                  <a:srgbClr val="333333"/>
                </a:solidFill>
                <a:latin typeface="Calibri"/>
              </a:defRPr>
            </a:pPr>
            <a:r>
              <a:t>Upside/Downside: +5.0%</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Current price: $196.88</a:t>
            </a:r>
          </a:p>
          <a:p>
            <a:pPr>
              <a:spcBef>
                <a:spcPts val="200"/>
              </a:spcBef>
              <a:spcAft>
                <a:spcPts val="200"/>
              </a:spcAft>
              <a:defRPr sz="1400">
                <a:solidFill>
                  <a:srgbClr val="333333"/>
                </a:solidFill>
                <a:latin typeface="Calibri"/>
              </a:defRPr>
            </a:pPr>
            <a:r>
              <a:t>DCF: WACC 16.84%,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3335697.0</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60%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5939380.0</a:t>
                      </a:r>
                    </a:p>
                  </a:txBody>
                  <a:tcPr>
                    <a:solidFill>
                      <a:srgbClr val="FAFAFA"/>
                    </a:solidFill>
                  </a:tcPr>
                </a:tc>
                <a:tc>
                  <a:txBody>
                    <a:bodyPr/>
                    <a:lstStyle/>
                    <a:p>
                      <a:pPr>
                        <a:defRPr sz="1100">
                          <a:solidFill>
                            <a:srgbClr val="333333"/>
                          </a:solidFill>
                          <a:latin typeface="Calibri"/>
                        </a:defRPr>
                      </a:pPr>
                      <a:r>
                        <a:t>7424225.0</a:t>
                      </a:r>
                    </a:p>
                  </a:txBody>
                  <a:tcPr>
                    <a:solidFill>
                      <a:srgbClr val="FAFAFA"/>
                    </a:solidFill>
                  </a:tcPr>
                </a:tc>
                <a:tc>
                  <a:txBody>
                    <a:bodyPr/>
                    <a:lstStyle/>
                    <a:p>
                      <a:pPr>
                        <a:defRPr sz="1100">
                          <a:solidFill>
                            <a:srgbClr val="333333"/>
                          </a:solidFill>
                          <a:latin typeface="Calibri"/>
                        </a:defRPr>
                      </a:pPr>
                      <a:r>
                        <a:t>8909070.0</a:t>
                      </a:r>
                    </a:p>
                  </a:txBody>
                  <a:tcPr>
                    <a:solidFill>
                      <a:srgbClr val="FAFAFA"/>
                    </a:solidFill>
                  </a:tcPr>
                </a:tc>
                <a:tc>
                  <a:txBody>
                    <a:bodyPr/>
                    <a:lstStyle/>
                    <a:p>
                      <a:pPr>
                        <a:defRPr sz="1100">
                          <a:solidFill>
                            <a:srgbClr val="333333"/>
                          </a:solidFill>
                          <a:latin typeface="Calibri"/>
                        </a:defRPr>
                      </a:pPr>
                      <a:r>
                        <a:t>40%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3008292.4</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graphicFrame>
        <p:nvGraphicFramePr>
          <p:cNvPr id="5" name="Chart 4"/>
          <p:cNvGraphicFramePr>
            <a:graphicFrameLocks noGrp="1"/>
          </p:cNvGraphicFramePr>
          <p:nvPr/>
        </p:nvGraphicFramePr>
        <p:xfrm>
          <a:off x="457200" y="1097280"/>
          <a:ext cx="11430000" cy="5303520"/>
        </p:xfrm>
        <a:graphic>
          <a:graphicData uri="http://schemas.openxmlformats.org/drawingml/2006/chart">
            <c:chart xmlns:c="http://schemas.openxmlformats.org/drawingml/2006/chart" r:id="rId2"/>
          </a:graphicData>
        </a:graphic>
      </p:graphicFrame>
      <p:sp>
        <p:nvSpPr>
          <p:cNvPr id="6" name="TextBox 5"/>
          <p:cNvSpPr txBox="1"/>
          <p:nvPr/>
        </p:nvSpPr>
        <p:spPr>
          <a:xfrm>
            <a:off x="457200" y="6492240"/>
            <a:ext cx="11247120" cy="274320"/>
          </a:xfrm>
          <a:prstGeom prst="rect">
            <a:avLst/>
          </a:prstGeom>
          <a:noFill/>
        </p:spPr>
        <p:txBody>
          <a:bodyPr wrap="none">
            <a:spAutoFit/>
          </a:bodyPr>
          <a:lstStyle/>
          <a:p>
            <a:r>
              <a:rPr b="1" sz="2000">
                <a:solidFill>
                  <a:srgbClr val="333333"/>
                </a:solidFill>
                <a:latin typeface="Calibri"/>
              </a:rPr>
              <a:t/>
            </a:r>
          </a:p>
          <a:p>
            <a:pPr>
              <a:spcBef>
                <a:spcPts val="200"/>
              </a:spcBef>
              <a:spcAft>
                <a:spcPts val="200"/>
              </a:spcAft>
              <a:defRPr sz="1400">
                <a:solidFill>
                  <a:srgbClr val="333333"/>
                </a:solidFill>
                <a:latin typeface="Calibri"/>
              </a:defRPr>
            </a:pPr>
            <a:r>
              <a:t>Blended range: $2163.3B — $4689.7B   DCF: $1514.1B — $2897.0B   Comps: $3137.0B — $7378.9B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457200" y="1097280"/>
            <a:ext cx="539496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457200" y="1554480"/>
          <a:ext cx="5394960" cy="3017520"/>
        </p:xfrm>
        <a:graphic>
          <a:graphicData uri="http://schemas.openxmlformats.org/drawingml/2006/table">
            <a:tbl>
              <a:tblPr firstRow="1" bandRow="1">
                <a:tableStyleId>{5C22544A-7EE6-4342-B048-85BDC9FD1C3A}</a:tableStyleId>
              </a:tblPr>
              <a:tblGrid>
                <a:gridCol w="2697480"/>
                <a:gridCol w="2697480"/>
              </a:tblGrid>
              <a:tr h="37719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37719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6.0/10</a:t>
                      </a:r>
                    </a:p>
                  </a:txBody>
                  <a:tcPr>
                    <a:solidFill>
                      <a:srgbClr val="FFFFFF"/>
                    </a:solidFill>
                  </a:tcPr>
                </a:tc>
              </a:tr>
              <a:tr h="37719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52/100</a:t>
                      </a:r>
                    </a:p>
                  </a:txBody>
                  <a:tcPr>
                    <a:solidFill>
                      <a:srgbClr val="FFFFFF"/>
                    </a:solidFill>
                  </a:tcPr>
                </a:tc>
              </a:tr>
            </a:tbl>
          </a:graphicData>
        </a:graphic>
      </p:graphicFrame>
      <p:sp>
        <p:nvSpPr>
          <p:cNvPr id="8" name="TextBox 7"/>
          <p:cNvSpPr txBox="1"/>
          <p:nvPr/>
        </p:nvSpPr>
        <p:spPr>
          <a:xfrm>
            <a:off x="457200" y="4754880"/>
            <a:ext cx="5394960" cy="1828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NVIDIA IC score 52/100. Strengths: financial (6/10), strategy (5/10). Risks: strategy (5/10), synergies (5/10). Equity upside: +5.0%.</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graphicFrame>
        <p:nvGraphicFramePr>
          <p:cNvPr id="9" name="Chart 8"/>
          <p:cNvGraphicFramePr>
            <a:graphicFrameLocks noGrp="1"/>
          </p:cNvGraphicFramePr>
          <p:nvPr/>
        </p:nvGraphicFramePr>
        <p:xfrm>
          <a:off x="6217920" y="1097280"/>
          <a:ext cx="5760720"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NVIDIA remains the undisputed leader in accelerated computing, underpinned by its dominant position in AI infrastructure and a multi-year secular tailwind from enterprise and hyperscale adoption of generative AI. The company’s competitive moat is anchored in its full-stack ecosystem—spanning high-performance GPUs, CUDA software, and proprietary networking solutions—which creates significant barriers to entry and fosters customer lock-in. Recent product cycles, including the Hopper and Blackwell architectures, have demonstrated sustained performance leadership, with Blackwell’s introduction in 2024 expected to further extend NVIDIA’s advantage in training and inference workloads. Financially, the company has exhibited exceptional operating leverage, with EBITDA margins expanding materially as high-margin data center revenue scales. While valuation appears elevated on an absolute basis, the company’s ability to sustain above-industry growth rates—driven by AI-driven demand, new verticals such as automotive and healthcare, and geographic expansion—provides a credible path to justify its premium multiple. However, the pace of revenue growth is expected to moderate from prior peaks, and the stock’s performance will increasingly hinge on execution in adjacent markets and the ability to fend off competitive threats from AMD, Intel, and custom silicon initiatives by cloud providers.</a:t>
            </a:r>
          </a:p>
          <a:p>
            <a:pPr>
              <a:spcBef>
                <a:spcPts val="200"/>
              </a:spcBef>
              <a:spcAft>
                <a:spcPts val="200"/>
              </a:spcAft>
              <a:defRPr sz="1400">
                <a:solidFill>
                  <a:srgbClr val="333333"/>
                </a:solidFill>
                <a:latin typeface="Calibri"/>
              </a:defRPr>
            </a:pPr>
            <a:r>
              <a:t>Bull: In the bull scenario, NVIDIA sustains its leadership in AI infrastructure by successfully transitioning to the Blackwell architecture, which could unlock incremental demand from enterprise and sovereign AI deployments. A key driver would be the acceleration of AI adoption beyond hyperscalers, with Fortune 500 companies and governments ramping investments in on-premises AI clusters. Additionally, NVIDIA’s Omniverse platform could gain traction as a critical tool for digital twins and industrial metaverse applications, creating a new high-margin revenue stream. If the company maintains its current market share in AI accelerators while expanding into new verticals, revenue growth could reaccelerate, supporting further multiple expansion. A successful execution of this scenario would likely be validated by sustained outperformance in data center revenue and margin resilience despite competitive pressures.</a:t>
            </a:r>
          </a:p>
          <a:p>
            <a:pPr>
              <a:spcBef>
                <a:spcPts val="200"/>
              </a:spcBef>
              <a:spcAft>
                <a:spcPts val="200"/>
              </a:spcAft>
              <a:defRPr sz="1400">
                <a:solidFill>
                  <a:srgbClr val="333333"/>
                </a:solidFill>
                <a:latin typeface="Calibri"/>
              </a:defRPr>
            </a:pPr>
            <a:r>
              <a:t>Base: The base case assumes NVIDIA continues to dominate the AI accelerator market but faces incremental competition from AMD’s MI300 series and custom silicon from cloud providers like Google and Amazon. Revenue growth moderates as hyperscale customers optimize existing deployments and diversify their supplier base, though NVIDIA retains its leadership position due to superior performance and software ecosystem. The company’s EBITDA margins remain robust, supported by high-margin data center sales, but face pressure from rising R&amp;D and capital expenditures to maintain its technological edge. New growth vectors, such as automotive and healthcare, contribute meaningfully but do not offset the deceleration in core data center revenue. Valuation remains supported by the company’s structural growth tailwinds, but the stock’s performance is likely to be range-bound as investors await evidence of sustained execution in adjacent markets.</a:t>
            </a:r>
          </a:p>
          <a:p>
            <a:pPr>
              <a:spcBef>
                <a:spcPts val="200"/>
              </a:spcBef>
              <a:spcAft>
                <a:spcPts val="200"/>
              </a:spcAft>
              <a:defRPr sz="1400">
                <a:solidFill>
                  <a:srgbClr val="333333"/>
                </a:solidFill>
                <a:latin typeface="Calibri"/>
              </a:defRPr>
            </a:pPr>
            <a:r>
              <a:t>Bear: The bear case materializes if NVIDIA’s AI leadership erodes faster than anticipated, driven by competitive threats from AMD, Intel, and custom silicon initiatives by cloud providers. A key trigger would be a deceleration in data center revenue growth, as customers shift spending toward lower-cost alternatives or in-house solutions, leading to margin compression. Additionally, regulatory risks—such as antitrust scrutiny or export restrictions on advanced AI chips—could disrupt the company’s supply chain or limit its ability to serve key markets like China. A broader slowdown in AI adoption, whether due to macroeconomic headwinds or disillusionment with generative AI’s ROI, could further weigh on demand. In this scenario, NVIDIA’s valuation multiple contracts sharply, as investors reassess the durability of its growth trajectory and competitive moat.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Fiscal Q2 2025 earnings report (August 2024), which will provide visibility into Blackwell ramp, data center demand trends, and inventory levels across the supply chain</a:t>
            </a:r>
          </a:p>
          <a:p>
            <a:pPr>
              <a:spcBef>
                <a:spcPts val="200"/>
              </a:spcBef>
              <a:spcAft>
                <a:spcPts val="200"/>
              </a:spcAft>
              <a:defRPr sz="1400">
                <a:solidFill>
                  <a:srgbClr val="333333"/>
                </a:solidFill>
                <a:latin typeface="Calibri"/>
              </a:defRPr>
            </a:pPr>
            <a:r>
              <a:t>Progress on NVIDIA’s automotive and healthcare initiatives, including partnerships with major OEMs and FDA approvals for AI-driven medical devices</a:t>
            </a:r>
          </a:p>
          <a:p>
            <a:pPr>
              <a:spcBef>
                <a:spcPts val="200"/>
              </a:spcBef>
              <a:spcAft>
                <a:spcPts val="200"/>
              </a:spcAft>
              <a:defRPr sz="1400">
                <a:solidFill>
                  <a:srgbClr val="333333"/>
                </a:solidFill>
                <a:latin typeface="Calibri"/>
              </a:defRPr>
            </a:pPr>
            <a:r>
              <a:t>Regulatory developments, including potential U.S. export controls on AI chips to China or antitrust actions targeting NVIDIA’s dominance in the GPU market</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