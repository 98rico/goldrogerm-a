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Sézane</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April 28, 2026 | Fashion and Apparel</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A French fashion brand specializing in ready-to-wear clothing, accessories, and leather goods with a focus on timeless design and ethical production.</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HOLD | Target: 5700.9 | Upside/Downside: N/A | Current: 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Direct-to-consumer sales through e-commerce and physical boutiques, with revenue generated from the sale of apparel, accessories, and leather products.</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No advantages provided.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Data not available</a:t>
            </a:r>
          </a:p>
          <a:p>
            <a:pPr>
              <a:spcBef>
                <a:spcPts val="200"/>
              </a:spcBef>
              <a:spcAft>
                <a:spcPts val="200"/>
              </a:spcAft>
              <a:defRPr sz="1400">
                <a:solidFill>
                  <a:srgbClr val="333333"/>
                </a:solidFill>
                <a:latin typeface="Calibri"/>
              </a:defRPr>
            </a:pPr>
            <a:r>
              <a:t>Growth (CAGR): Data not available</a:t>
            </a:r>
          </a:p>
          <a:p>
            <a:pPr>
              <a:spcBef>
                <a:spcPts val="200"/>
              </a:spcBef>
              <a:spcAft>
                <a:spcPts val="200"/>
              </a:spcAft>
              <a:defRPr sz="1400">
                <a:solidFill>
                  <a:srgbClr val="333333"/>
                </a:solidFill>
                <a:latin typeface="Calibri"/>
              </a:defRPr>
            </a:pPr>
            <a:r>
              <a:t>Segment: Ethical premium ready-to-wear and accessories (French and European focus)</a:t>
            </a:r>
          </a:p>
          <a:p>
            <a:pPr>
              <a:spcBef>
                <a:spcPts val="200"/>
              </a:spcBef>
              <a:spcAft>
                <a:spcPts val="200"/>
              </a:spcAft>
              <a:defRPr sz="1400">
                <a:solidFill>
                  <a:srgbClr val="333333"/>
                </a:solidFill>
                <a:latin typeface="Calibri"/>
              </a:defRPr>
            </a:pPr>
            <a:r>
              <a:t>Company share: Estimated 3-5% in ethical premium French ready-to-wear and accessories</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Rise of consumer demand for ethically produced, sustainable fashion</a:t>
            </a:r>
          </a:p>
          <a:p>
            <a:pPr>
              <a:spcBef>
                <a:spcPts val="200"/>
              </a:spcBef>
              <a:spcAft>
                <a:spcPts val="200"/>
              </a:spcAft>
              <a:defRPr sz="1400">
                <a:solidFill>
                  <a:srgbClr val="333333"/>
                </a:solidFill>
                <a:latin typeface="Calibri"/>
              </a:defRPr>
            </a:pPr>
            <a:r>
              <a:t>Growth in online-first and DTC (direct-to-consumer) sales channels</a:t>
            </a:r>
          </a:p>
          <a:p>
            <a:pPr>
              <a:spcBef>
                <a:spcPts val="200"/>
              </a:spcBef>
              <a:spcAft>
                <a:spcPts val="200"/>
              </a:spcAft>
              <a:defRPr sz="1400">
                <a:solidFill>
                  <a:srgbClr val="333333"/>
                </a:solidFill>
                <a:latin typeface="Calibri"/>
              </a:defRPr>
            </a:pPr>
            <a:r>
              <a:t>Increased interest in timeless, high-quality wardrobe staples over fast fashion</a:t>
            </a:r>
          </a:p>
          <a:p>
            <a:pPr>
              <a:spcBef>
                <a:spcPts val="200"/>
              </a:spcBef>
              <a:spcAft>
                <a:spcPts val="200"/>
              </a:spcAft>
              <a:defRPr sz="1400">
                <a:solidFill>
                  <a:srgbClr val="333333"/>
                </a:solidFill>
                <a:latin typeface="Calibri"/>
              </a:defRPr>
            </a:pPr>
            <a:r>
              <a:t>Expansion of European brands leveraging heritage and craftsmanship as differentiators</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A.P.C. (Estimated 5-7% in French premium ready-to-wear)</a:t>
            </a:r>
          </a:p>
          <a:p>
            <a:pPr>
              <a:spcBef>
                <a:spcPts val="200"/>
              </a:spcBef>
              <a:spcAft>
                <a:spcPts val="200"/>
              </a:spcAft>
              <a:defRPr sz="1400">
                <a:solidFill>
                  <a:srgbClr val="333333"/>
                </a:solidFill>
                <a:latin typeface="Calibri"/>
              </a:defRPr>
            </a:pPr>
            <a:r>
              <a:t>The Kooples (Estimated 6-8% in French premium ready-to-wear)</a:t>
            </a:r>
          </a:p>
          <a:p>
            <a:pPr>
              <a:spcBef>
                <a:spcPts val="200"/>
              </a:spcBef>
              <a:spcAft>
                <a:spcPts val="200"/>
              </a:spcAft>
              <a:defRPr sz="1400">
                <a:solidFill>
                  <a:srgbClr val="333333"/>
                </a:solidFill>
                <a:latin typeface="Calibri"/>
              </a:defRPr>
            </a:pPr>
            <a:r>
              <a:t>Sandro (Estimated 8-10% in French premium ready-to-wear)</a:t>
            </a:r>
          </a:p>
          <a:p>
            <a:pPr>
              <a:spcBef>
                <a:spcPts val="200"/>
              </a:spcBef>
              <a:spcAft>
                <a:spcPts val="200"/>
              </a:spcAft>
              <a:defRPr sz="1400">
                <a:solidFill>
                  <a:srgbClr val="333333"/>
                </a:solidFill>
                <a:latin typeface="Calibri"/>
              </a:defRPr>
            </a:pPr>
            <a:r>
              <a:t>Maje (Estimated 7-9% in French premium ready-to-wear)</a:t>
            </a:r>
          </a:p>
          <a:p>
            <a:pPr>
              <a:spcBef>
                <a:spcPts val="200"/>
              </a:spcBef>
              <a:spcAft>
                <a:spcPts val="200"/>
              </a:spcAft>
              <a:defRPr sz="1400">
                <a:solidFill>
                  <a:srgbClr val="333333"/>
                </a:solidFill>
                <a:latin typeface="Calibri"/>
              </a:defRPr>
            </a:pPr>
            <a:r>
              <a:t>Ba&amp;sh (Estimated 5-7% in French premium ready-to-wear)</a:t>
            </a:r>
          </a:p>
          <a:p>
            <a:pPr>
              <a:spcBef>
                <a:spcPts val="200"/>
              </a:spcBef>
              <a:spcAft>
                <a:spcPts val="200"/>
              </a:spcAft>
              <a:defRPr sz="1400">
                <a:solidFill>
                  <a:srgbClr val="333333"/>
                </a:solidFill>
                <a:latin typeface="Calibri"/>
              </a:defRPr>
            </a:pPr>
            <a:r>
              <a:t>Veja (Estimated 10-12% in ethical sneakers and accessories)</a:t>
            </a:r>
          </a:p>
          <a:p>
            <a:pPr>
              <a:spcBef>
                <a:spcPts val="200"/>
              </a:spcBef>
              <a:spcAft>
                <a:spcPts val="200"/>
              </a:spcAft>
              <a:defRPr sz="1400">
                <a:solidFill>
                  <a:srgbClr val="333333"/>
                </a:solidFill>
                <a:latin typeface="Calibri"/>
              </a:defRPr>
            </a:pPr>
            <a:r>
              <a:t>Loulu (Estimated 3-5% in ethical French accessories)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value: 5700.9</a:t>
            </a:r>
          </a:p>
          <a:p>
            <a:pPr>
              <a:spcBef>
                <a:spcPts val="200"/>
              </a:spcBef>
              <a:spcAft>
                <a:spcPts val="200"/>
              </a:spcAft>
              <a:defRPr sz="1400">
                <a:solidFill>
                  <a:srgbClr val="333333"/>
                </a:solidFill>
                <a:latin typeface="Calibri"/>
              </a:defRPr>
            </a:pPr>
            <a:r>
              <a:t>Upside/Downside: N/A</a:t>
            </a:r>
          </a:p>
          <a:p>
            <a:pPr>
              <a:spcBef>
                <a:spcPts val="200"/>
              </a:spcBef>
              <a:spcAft>
                <a:spcPts val="200"/>
              </a:spcAft>
              <a:defRPr sz="1400">
                <a:solidFill>
                  <a:srgbClr val="333333"/>
                </a:solidFill>
                <a:latin typeface="Calibri"/>
              </a:defRPr>
            </a:pPr>
            <a:r>
              <a:t>Recommendation: HOLD</a:t>
            </a:r>
          </a:p>
          <a:p>
            <a:pPr>
              <a:spcBef>
                <a:spcPts val="200"/>
              </a:spcBef>
              <a:spcAft>
                <a:spcPts val="200"/>
              </a:spcAft>
              <a:defRPr sz="1400">
                <a:solidFill>
                  <a:srgbClr val="333333"/>
                </a:solidFill>
                <a:latin typeface="Calibri"/>
              </a:defRPr>
            </a:pPr>
            <a:r>
              <a:t>Currency: USD</a:t>
            </a:r>
          </a:p>
          <a:p>
            <a:pPr>
              <a:spcBef>
                <a:spcPts val="200"/>
              </a:spcBef>
              <a:spcAft>
                <a:spcPts val="200"/>
              </a:spcAft>
              <a:defRPr sz="1400">
                <a:solidFill>
                  <a:srgbClr val="333333"/>
                </a:solidFill>
                <a:latin typeface="Calibri"/>
              </a:defRPr>
            </a:pPr>
            <a:r>
              <a:t>DCF: WACC 10.00%, TGR 2.00%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118872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1188720">
                <a:tc>
                  <a:txBody>
                    <a:bodyPr/>
                    <a:lstStyle/>
                    <a:p>
                      <a:pPr>
                        <a:defRPr sz="1100">
                          <a:solidFill>
                            <a:srgbClr val="333333"/>
                          </a:solidFill>
                          <a:latin typeface="Calibri"/>
                        </a:defRPr>
                      </a:pPr>
                      <a:r>
                        <a:t>DCF</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1645.8</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50%</a:t>
                      </a:r>
                    </a:p>
                  </a:txBody>
                  <a:tcPr>
                    <a:solidFill>
                      <a:srgbClr val="FFFFFF"/>
                    </a:solidFill>
                  </a:tcPr>
                </a:tc>
              </a:tr>
              <a:tr h="1188720">
                <a:tc>
                  <a:txBody>
                    <a:bodyPr/>
                    <a:lstStyle/>
                    <a:p>
                      <a:pPr>
                        <a:defRPr sz="1100">
                          <a:solidFill>
                            <a:srgbClr val="333333"/>
                          </a:solidFill>
                          <a:latin typeface="Calibri"/>
                        </a:defRPr>
                      </a:pPr>
                      <a:r>
                        <a:t>Trading Comps (EV_EBITDA)</a:t>
                      </a:r>
                    </a:p>
                  </a:txBody>
                  <a:tcPr>
                    <a:solidFill>
                      <a:srgbClr val="FAFAFA"/>
                    </a:solidFill>
                  </a:tcPr>
                </a:tc>
                <a:tc>
                  <a:txBody>
                    <a:bodyPr/>
                    <a:lstStyle/>
                    <a:p>
                      <a:pPr>
                        <a:defRPr sz="1100">
                          <a:solidFill>
                            <a:srgbClr val="333333"/>
                          </a:solidFill>
                          <a:latin typeface="Calibri"/>
                        </a:defRPr>
                      </a:pPr>
                      <a:r>
                        <a:t>4418.9</a:t>
                      </a:r>
                    </a:p>
                  </a:txBody>
                  <a:tcPr>
                    <a:solidFill>
                      <a:srgbClr val="FAFAFA"/>
                    </a:solidFill>
                  </a:tcPr>
                </a:tc>
                <a:tc>
                  <a:txBody>
                    <a:bodyPr/>
                    <a:lstStyle/>
                    <a:p>
                      <a:pPr>
                        <a:defRPr sz="1100">
                          <a:solidFill>
                            <a:srgbClr val="333333"/>
                          </a:solidFill>
                          <a:latin typeface="Calibri"/>
                        </a:defRPr>
                      </a:pPr>
                      <a:r>
                        <a:t>5376.2</a:t>
                      </a:r>
                    </a:p>
                  </a:txBody>
                  <a:tcPr>
                    <a:solidFill>
                      <a:srgbClr val="FAFAFA"/>
                    </a:solidFill>
                  </a:tcPr>
                </a:tc>
                <a:tc>
                  <a:txBody>
                    <a:bodyPr/>
                    <a:lstStyle/>
                    <a:p>
                      <a:pPr>
                        <a:defRPr sz="1100">
                          <a:solidFill>
                            <a:srgbClr val="333333"/>
                          </a:solidFill>
                          <a:latin typeface="Calibri"/>
                        </a:defRPr>
                      </a:pPr>
                      <a:r>
                        <a:t>6333.6</a:t>
                      </a:r>
                    </a:p>
                  </a:txBody>
                  <a:tcPr>
                    <a:solidFill>
                      <a:srgbClr val="FAFAFA"/>
                    </a:solidFill>
                  </a:tcPr>
                </a:tc>
                <a:tc>
                  <a:txBody>
                    <a:bodyPr/>
                    <a:lstStyle/>
                    <a:p>
                      <a:pPr>
                        <a:defRPr sz="1100">
                          <a:solidFill>
                            <a:srgbClr val="333333"/>
                          </a:solidFill>
                          <a:latin typeface="Calibri"/>
                        </a:defRPr>
                      </a:pPr>
                      <a:r>
                        <a:t>30%</a:t>
                      </a:r>
                    </a:p>
                  </a:txBody>
                  <a:tcPr>
                    <a:solidFill>
                      <a:srgbClr val="FAFAFA"/>
                    </a:solidFill>
                  </a:tcPr>
                </a:tc>
              </a:tr>
              <a:tr h="1188720">
                <a:tc>
                  <a:txBody>
                    <a:bodyPr/>
                    <a:lstStyle/>
                    <a:p>
                      <a:pPr>
                        <a:defRPr sz="1100">
                          <a:solidFill>
                            <a:srgbClr val="333333"/>
                          </a:solidFill>
                          <a:latin typeface="Calibri"/>
                        </a:defRPr>
                      </a:pPr>
                      <a:r>
                        <a:t>Transaction Comps</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16325.9</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20%</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Football Field — Bear / Base / Bull</a:t>
            </a:r>
          </a:p>
        </p:txBody>
      </p:sp>
      <p:sp>
        <p:nvSpPr>
          <p:cNvPr id="5" name="TextBox 4"/>
          <p:cNvSpPr txBox="1"/>
          <p:nvPr/>
        </p:nvSpPr>
        <p:spPr>
          <a:xfrm>
            <a:off x="685800" y="1188720"/>
            <a:ext cx="11064240" cy="457200"/>
          </a:xfrm>
          <a:prstGeom prst="rect">
            <a:avLst/>
          </a:prstGeom>
          <a:noFill/>
        </p:spPr>
        <p:txBody>
          <a:bodyPr wrap="none">
            <a:spAutoFit/>
          </a:bodyPr>
          <a:lstStyle/>
          <a:p>
            <a:r>
              <a:rPr b="1" sz="2000">
                <a:solidFill>
                  <a:srgbClr val="333333"/>
                </a:solidFill>
                <a:latin typeface="Calibri"/>
              </a:rPr>
              <a:t>Scenario Analysis</a:t>
            </a:r>
          </a:p>
        </p:txBody>
      </p:sp>
      <p:graphicFrame>
        <p:nvGraphicFramePr>
          <p:cNvPr id="6" name="Table 5"/>
          <p:cNvGraphicFramePr>
            <a:graphicFrameLocks noGrp="1"/>
          </p:cNvGraphicFramePr>
          <p:nvPr/>
        </p:nvGraphicFramePr>
        <p:xfrm>
          <a:off x="685800" y="1645920"/>
          <a:ext cx="11064240" cy="274320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685800">
                <a:tc>
                  <a:txBody>
                    <a:bodyPr/>
                    <a:lstStyle/>
                    <a:p>
                      <a:pPr>
                        <a:defRPr b="1" sz="1200">
                          <a:solidFill>
                            <a:srgbClr val="FFFFFF"/>
                          </a:solidFill>
                          <a:latin typeface="Calibri"/>
                        </a:defRPr>
                      </a:pPr>
                      <a:r>
                        <a:t>Scenario</a:t>
                      </a:r>
                    </a:p>
                  </a:txBody>
                  <a:tcPr>
                    <a:solidFill>
                      <a:srgbClr val="1B2A4A"/>
                    </a:solidFill>
                  </a:tcPr>
                </a:tc>
                <a:tc>
                  <a:txBody>
                    <a:bodyPr/>
                    <a:lstStyle/>
                    <a:p>
                      <a:pPr>
                        <a:defRPr b="1" sz="1200">
                          <a:solidFill>
                            <a:srgbClr val="FFFFFF"/>
                          </a:solidFill>
                          <a:latin typeface="Calibri"/>
                        </a:defRPr>
                      </a:pPr>
                      <a:r>
                        <a:t>DCF EV</a:t>
                      </a:r>
                    </a:p>
                  </a:txBody>
                  <a:tcPr>
                    <a:solidFill>
                      <a:srgbClr val="1B2A4A"/>
                    </a:solidFill>
                  </a:tcPr>
                </a:tc>
                <a:tc>
                  <a:txBody>
                    <a:bodyPr/>
                    <a:lstStyle/>
                    <a:p>
                      <a:pPr>
                        <a:defRPr b="1" sz="1200">
                          <a:solidFill>
                            <a:srgbClr val="FFFFFF"/>
                          </a:solidFill>
                          <a:latin typeface="Calibri"/>
                        </a:defRPr>
                      </a:pPr>
                      <a:r>
                        <a:t>Comps EV</a:t>
                      </a:r>
                    </a:p>
                  </a:txBody>
                  <a:tcPr>
                    <a:solidFill>
                      <a:srgbClr val="1B2A4A"/>
                    </a:solidFill>
                  </a:tcPr>
                </a:tc>
                <a:tc>
                  <a:txBody>
                    <a:bodyPr/>
                    <a:lstStyle/>
                    <a:p>
                      <a:pPr>
                        <a:defRPr b="1" sz="1200">
                          <a:solidFill>
                            <a:srgbClr val="FFFFFF"/>
                          </a:solidFill>
                          <a:latin typeface="Calibri"/>
                        </a:defRPr>
                      </a:pPr>
                      <a:r>
                        <a:t>Blended EV</a:t>
                      </a:r>
                    </a:p>
                  </a:txBody>
                  <a:tcPr>
                    <a:solidFill>
                      <a:srgbClr val="1B2A4A"/>
                    </a:solidFill>
                  </a:tcPr>
                </a:tc>
                <a:tc>
                  <a:txBody>
                    <a:bodyPr/>
                    <a:lstStyle/>
                    <a:p>
                      <a:pPr>
                        <a:defRPr b="1" sz="1200">
                          <a:solidFill>
                            <a:srgbClr val="FFFFFF"/>
                          </a:solidFill>
                          <a:latin typeface="Calibri"/>
                        </a:defRPr>
                      </a:pPr>
                      <a:r>
                        <a:t>WACC</a:t>
                      </a:r>
                    </a:p>
                  </a:txBody>
                  <a:tcPr>
                    <a:solidFill>
                      <a:srgbClr val="1B2A4A"/>
                    </a:solidFill>
                  </a:tcPr>
                </a:tc>
                <a:tc>
                  <a:txBody>
                    <a:bodyPr/>
                    <a:lstStyle/>
                    <a:p>
                      <a:pPr>
                        <a:defRPr b="1" sz="1200">
                          <a:solidFill>
                            <a:srgbClr val="FFFFFF"/>
                          </a:solidFill>
                          <a:latin typeface="Calibri"/>
                        </a:defRPr>
                      </a:pPr>
                      <a:r>
                        <a:t>EBITDA Margin</a:t>
                      </a:r>
                    </a:p>
                  </a:txBody>
                  <a:tcPr>
                    <a:solidFill>
                      <a:srgbClr val="1B2A4A"/>
                    </a:solidFill>
                  </a:tcPr>
                </a:tc>
              </a:tr>
              <a:tr h="685800">
                <a:tc>
                  <a:txBody>
                    <a:bodyPr/>
                    <a:lstStyle/>
                    <a:p>
                      <a:pPr>
                        <a:defRPr sz="1100">
                          <a:solidFill>
                            <a:srgbClr val="333333"/>
                          </a:solidFill>
                          <a:latin typeface="Calibri"/>
                        </a:defRPr>
                      </a:pPr>
                      <a:r>
                        <a:t>Bear</a:t>
                      </a:r>
                    </a:p>
                  </a:txBody>
                  <a:tcPr>
                    <a:solidFill>
                      <a:srgbClr val="FFFFFF"/>
                    </a:solidFill>
                  </a:tcPr>
                </a:tc>
                <a:tc>
                  <a:txBody>
                    <a:bodyPr/>
                    <a:lstStyle/>
                    <a:p>
                      <a:pPr>
                        <a:defRPr sz="1100">
                          <a:solidFill>
                            <a:srgbClr val="333333"/>
                          </a:solidFill>
                          <a:latin typeface="Calibri"/>
                        </a:defRPr>
                      </a:pPr>
                      <a:r>
                        <a:t>$1.0B</a:t>
                      </a:r>
                    </a:p>
                  </a:txBody>
                  <a:tcPr>
                    <a:solidFill>
                      <a:srgbClr val="FFFFFF"/>
                    </a:solidFill>
                  </a:tcPr>
                </a:tc>
                <a:tc>
                  <a:txBody>
                    <a:bodyPr/>
                    <a:lstStyle/>
                    <a:p>
                      <a:pPr>
                        <a:defRPr sz="1100">
                          <a:solidFill>
                            <a:srgbClr val="333333"/>
                          </a:solidFill>
                          <a:latin typeface="Calibri"/>
                        </a:defRPr>
                      </a:pPr>
                      <a:r>
                        <a:t>$3.3B</a:t>
                      </a:r>
                    </a:p>
                  </a:txBody>
                  <a:tcPr>
                    <a:solidFill>
                      <a:srgbClr val="FFFFFF"/>
                    </a:solidFill>
                  </a:tcPr>
                </a:tc>
                <a:tc>
                  <a:txBody>
                    <a:bodyPr/>
                    <a:lstStyle/>
                    <a:p>
                      <a:pPr>
                        <a:defRPr sz="1100">
                          <a:solidFill>
                            <a:srgbClr val="333333"/>
                          </a:solidFill>
                          <a:latin typeface="Calibri"/>
                        </a:defRPr>
                      </a:pPr>
                      <a:r>
                        <a:t>$3.7B</a:t>
                      </a:r>
                    </a:p>
                  </a:txBody>
                  <a:tcPr>
                    <a:solidFill>
                      <a:srgbClr val="FFFFFF"/>
                    </a:solidFill>
                  </a:tcPr>
                </a:tc>
                <a:tc>
                  <a:txBody>
                    <a:bodyPr/>
                    <a:lstStyle/>
                    <a:p>
                      <a:pPr>
                        <a:defRPr sz="1100">
                          <a:solidFill>
                            <a:srgbClr val="333333"/>
                          </a:solidFill>
                          <a:latin typeface="Calibri"/>
                        </a:defRPr>
                      </a:pPr>
                      <a:r>
                        <a:t>11.5%</a:t>
                      </a:r>
                    </a:p>
                  </a:txBody>
                  <a:tcPr>
                    <a:solidFill>
                      <a:srgbClr val="FFFFFF"/>
                    </a:solidFill>
                  </a:tcPr>
                </a:tc>
                <a:tc>
                  <a:txBody>
                    <a:bodyPr/>
                    <a:lstStyle/>
                    <a:p>
                      <a:pPr>
                        <a:defRPr sz="1100">
                          <a:solidFill>
                            <a:srgbClr val="333333"/>
                          </a:solidFill>
                          <a:latin typeface="Calibri"/>
                        </a:defRPr>
                      </a:pPr>
                      <a:r>
                        <a:t>18.0%</a:t>
                      </a:r>
                    </a:p>
                  </a:txBody>
                  <a:tcPr>
                    <a:solidFill>
                      <a:srgbClr val="FFFFFF"/>
                    </a:solidFill>
                  </a:tcPr>
                </a:tc>
              </a:tr>
              <a:tr h="685800">
                <a:tc>
                  <a:txBody>
                    <a:bodyPr/>
                    <a:lstStyle/>
                    <a:p>
                      <a:pPr>
                        <a:defRPr sz="1100">
                          <a:solidFill>
                            <a:srgbClr val="333333"/>
                          </a:solidFill>
                          <a:latin typeface="Calibri"/>
                        </a:defRPr>
                      </a:pPr>
                      <a:r>
                        <a:t>Base</a:t>
                      </a:r>
                    </a:p>
                  </a:txBody>
                  <a:tcPr>
                    <a:solidFill>
                      <a:srgbClr val="FAFAFA"/>
                    </a:solidFill>
                  </a:tcPr>
                </a:tc>
                <a:tc>
                  <a:txBody>
                    <a:bodyPr/>
                    <a:lstStyle/>
                    <a:p>
                      <a:pPr>
                        <a:defRPr sz="1100">
                          <a:solidFill>
                            <a:srgbClr val="333333"/>
                          </a:solidFill>
                          <a:latin typeface="Calibri"/>
                        </a:defRPr>
                      </a:pPr>
                      <a:r>
                        <a:t>$1.8B</a:t>
                      </a:r>
                    </a:p>
                  </a:txBody>
                  <a:tcPr>
                    <a:solidFill>
                      <a:srgbClr val="FAFAFA"/>
                    </a:solidFill>
                  </a:tcPr>
                </a:tc>
                <a:tc>
                  <a:txBody>
                    <a:bodyPr/>
                    <a:lstStyle/>
                    <a:p>
                      <a:pPr>
                        <a:defRPr sz="1100">
                          <a:solidFill>
                            <a:srgbClr val="333333"/>
                          </a:solidFill>
                          <a:latin typeface="Calibri"/>
                        </a:defRPr>
                      </a:pPr>
                      <a:r>
                        <a:t>$5.8B</a:t>
                      </a:r>
                    </a:p>
                  </a:txBody>
                  <a:tcPr>
                    <a:solidFill>
                      <a:srgbClr val="FAFAFA"/>
                    </a:solidFill>
                  </a:tcPr>
                </a:tc>
                <a:tc>
                  <a:txBody>
                    <a:bodyPr/>
                    <a:lstStyle/>
                    <a:p>
                      <a:pPr>
                        <a:defRPr sz="1100">
                          <a:solidFill>
                            <a:srgbClr val="333333"/>
                          </a:solidFill>
                          <a:latin typeface="Calibri"/>
                        </a:defRPr>
                      </a:pPr>
                      <a:r>
                        <a:t>$6.2B</a:t>
                      </a:r>
                    </a:p>
                  </a:txBody>
                  <a:tcPr>
                    <a:solidFill>
                      <a:srgbClr val="FAFAFA"/>
                    </a:solidFill>
                  </a:tcPr>
                </a:tc>
                <a:tc>
                  <a:txBody>
                    <a:bodyPr/>
                    <a:lstStyle/>
                    <a:p>
                      <a:pPr>
                        <a:defRPr sz="1100">
                          <a:solidFill>
                            <a:srgbClr val="333333"/>
                          </a:solidFill>
                          <a:latin typeface="Calibri"/>
                        </a:defRPr>
                      </a:pPr>
                      <a:r>
                        <a:t>10.0%</a:t>
                      </a:r>
                    </a:p>
                  </a:txBody>
                  <a:tcPr>
                    <a:solidFill>
                      <a:srgbClr val="FAFAFA"/>
                    </a:solidFill>
                  </a:tcPr>
                </a:tc>
                <a:tc>
                  <a:txBody>
                    <a:bodyPr/>
                    <a:lstStyle/>
                    <a:p>
                      <a:pPr>
                        <a:defRPr sz="1100">
                          <a:solidFill>
                            <a:srgbClr val="333333"/>
                          </a:solidFill>
                          <a:latin typeface="Calibri"/>
                        </a:defRPr>
                      </a:pPr>
                      <a:r>
                        <a:t>20.0%</a:t>
                      </a:r>
                    </a:p>
                  </a:txBody>
                  <a:tcPr>
                    <a:solidFill>
                      <a:srgbClr val="FAFAFA"/>
                    </a:solidFill>
                  </a:tcPr>
                </a:tc>
              </a:tr>
              <a:tr h="685800">
                <a:tc>
                  <a:txBody>
                    <a:bodyPr/>
                    <a:lstStyle/>
                    <a:p>
                      <a:pPr>
                        <a:defRPr sz="1100">
                          <a:solidFill>
                            <a:srgbClr val="333333"/>
                          </a:solidFill>
                          <a:latin typeface="Calibri"/>
                        </a:defRPr>
                      </a:pPr>
                      <a:r>
                        <a:t>Bull</a:t>
                      </a:r>
                    </a:p>
                  </a:txBody>
                  <a:tcPr>
                    <a:solidFill>
                      <a:srgbClr val="FFFFFF"/>
                    </a:solidFill>
                  </a:tcPr>
                </a:tc>
                <a:tc>
                  <a:txBody>
                    <a:bodyPr/>
                    <a:lstStyle/>
                    <a:p>
                      <a:pPr>
                        <a:defRPr sz="1100">
                          <a:solidFill>
                            <a:srgbClr val="333333"/>
                          </a:solidFill>
                          <a:latin typeface="Calibri"/>
                        </a:defRPr>
                      </a:pPr>
                      <a:r>
                        <a:t>$3.0B</a:t>
                      </a:r>
                    </a:p>
                  </a:txBody>
                  <a:tcPr>
                    <a:solidFill>
                      <a:srgbClr val="FFFFFF"/>
                    </a:solidFill>
                  </a:tcPr>
                </a:tc>
                <a:tc>
                  <a:txBody>
                    <a:bodyPr/>
                    <a:lstStyle/>
                    <a:p>
                      <a:pPr>
                        <a:defRPr sz="1100">
                          <a:solidFill>
                            <a:srgbClr val="333333"/>
                          </a:solidFill>
                          <a:latin typeface="Calibri"/>
                        </a:defRPr>
                      </a:pPr>
                      <a:r>
                        <a:t>$9.6B</a:t>
                      </a:r>
                    </a:p>
                  </a:txBody>
                  <a:tcPr>
                    <a:solidFill>
                      <a:srgbClr val="FFFFFF"/>
                    </a:solidFill>
                  </a:tcPr>
                </a:tc>
                <a:tc>
                  <a:txBody>
                    <a:bodyPr/>
                    <a:lstStyle/>
                    <a:p>
                      <a:pPr>
                        <a:defRPr sz="1100">
                          <a:solidFill>
                            <a:srgbClr val="333333"/>
                          </a:solidFill>
                          <a:latin typeface="Calibri"/>
                        </a:defRPr>
                      </a:pPr>
                      <a:r>
                        <a:t>$9.7B</a:t>
                      </a:r>
                    </a:p>
                  </a:txBody>
                  <a:tcPr>
                    <a:solidFill>
                      <a:srgbClr val="FFFFFF"/>
                    </a:solidFill>
                  </a:tcPr>
                </a:tc>
                <a:tc>
                  <a:txBody>
                    <a:bodyPr/>
                    <a:lstStyle/>
                    <a:p>
                      <a:pPr>
                        <a:defRPr sz="1100">
                          <a:solidFill>
                            <a:srgbClr val="333333"/>
                          </a:solidFill>
                          <a:latin typeface="Calibri"/>
                        </a:defRPr>
                      </a:pPr>
                      <a:r>
                        <a:t>9.0%</a:t>
                      </a:r>
                    </a:p>
                  </a:txBody>
                  <a:tcPr>
                    <a:solidFill>
                      <a:srgbClr val="FFFFFF"/>
                    </a:solidFill>
                  </a:tcPr>
                </a:tc>
                <a:tc>
                  <a:txBody>
                    <a:bodyPr/>
                    <a:lstStyle/>
                    <a:p>
                      <a:pPr>
                        <a:defRPr sz="1100">
                          <a:solidFill>
                            <a:srgbClr val="333333"/>
                          </a:solidFill>
                          <a:latin typeface="Calibri"/>
                        </a:defRPr>
                      </a:pPr>
                      <a:r>
                        <a:t>22.0%</a:t>
                      </a:r>
                    </a:p>
                  </a:txBody>
                  <a:tcPr>
                    <a:solidFill>
                      <a:srgbClr val="FFFFFF"/>
                    </a:solidFill>
                  </a:tcPr>
                </a:tc>
              </a:tr>
            </a:tbl>
          </a:graphicData>
        </a:graphic>
      </p:graphicFrame>
      <p:sp>
        <p:nvSpPr>
          <p:cNvPr id="7" name="TextBox 6"/>
          <p:cNvSpPr txBox="1"/>
          <p:nvPr/>
        </p:nvSpPr>
        <p:spPr>
          <a:xfrm>
            <a:off x="685800" y="4572000"/>
            <a:ext cx="11155680" cy="2011680"/>
          </a:xfrm>
          <a:prstGeom prst="rect">
            <a:avLst/>
          </a:prstGeom>
          <a:noFill/>
        </p:spPr>
        <p:txBody>
          <a:bodyPr wrap="none">
            <a:spAutoFit/>
          </a:bodyPr>
          <a:lstStyle/>
          <a:p>
            <a:r>
              <a:rPr b="1" sz="2000">
                <a:solidFill>
                  <a:srgbClr val="333333"/>
                </a:solidFill>
                <a:latin typeface="Calibri"/>
              </a:rPr>
              <a:t>Ranges</a:t>
            </a:r>
          </a:p>
          <a:p>
            <a:pPr>
              <a:spcBef>
                <a:spcPts val="200"/>
              </a:spcBef>
              <a:spcAft>
                <a:spcPts val="200"/>
              </a:spcAft>
              <a:defRPr sz="1400">
                <a:solidFill>
                  <a:srgbClr val="333333"/>
                </a:solidFill>
                <a:latin typeface="Calibri"/>
              </a:defRPr>
            </a:pPr>
            <a:r>
              <a:t>DCF range:     $1.0B — $3.0B</a:t>
            </a:r>
          </a:p>
          <a:p>
            <a:pPr>
              <a:spcBef>
                <a:spcPts val="200"/>
              </a:spcBef>
              <a:spcAft>
                <a:spcPts val="200"/>
              </a:spcAft>
              <a:defRPr sz="1400">
                <a:solidFill>
                  <a:srgbClr val="333333"/>
                </a:solidFill>
                <a:latin typeface="Calibri"/>
              </a:defRPr>
            </a:pPr>
            <a:r>
              <a:t>Comps range:   $3.3B — $9.6B</a:t>
            </a:r>
          </a:p>
          <a:p>
            <a:pPr>
              <a:spcBef>
                <a:spcPts val="200"/>
              </a:spcBef>
              <a:spcAft>
                <a:spcPts val="200"/>
              </a:spcAft>
              <a:defRPr sz="1400">
                <a:solidFill>
                  <a:srgbClr val="333333"/>
                </a:solidFill>
                <a:latin typeface="Calibri"/>
              </a:defRPr>
            </a:pPr>
            <a:r>
              <a:t>Blended range: $3.7B — $9.7B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Peer Comparables</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6 listed peers — real market data via yfinance</a:t>
            </a:r>
          </a:p>
        </p:txBody>
      </p:sp>
      <p:sp>
        <p:nvSpPr>
          <p:cNvPr id="6" name="TextBox 5"/>
          <p:cNvSpPr txBox="1"/>
          <p:nvPr/>
        </p:nvSpPr>
        <p:spPr>
          <a:xfrm>
            <a:off x="685800" y="1188720"/>
            <a:ext cx="11064240" cy="457200"/>
          </a:xfrm>
          <a:prstGeom prst="rect">
            <a:avLst/>
          </a:prstGeom>
          <a:noFill/>
        </p:spPr>
        <p:txBody>
          <a:bodyPr wrap="none">
            <a:spAutoFit/>
          </a:bodyPr>
          <a:lstStyle/>
          <a:p>
            <a:r>
              <a:rPr b="1" sz="2000">
                <a:solidFill>
                  <a:srgbClr val="333333"/>
                </a:solidFill>
                <a:latin typeface="Calibri"/>
              </a:rPr>
              <a:t>Trading Comps</a:t>
            </a:r>
          </a:p>
        </p:txBody>
      </p:sp>
      <p:graphicFrame>
        <p:nvGraphicFramePr>
          <p:cNvPr id="7" name="Table 6"/>
          <p:cNvGraphicFramePr>
            <a:graphicFrameLocks noGrp="1"/>
          </p:cNvGraphicFramePr>
          <p:nvPr/>
        </p:nvGraphicFramePr>
        <p:xfrm>
          <a:off x="685800" y="1645920"/>
          <a:ext cx="11064240" cy="484632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605790">
                <a:tc>
                  <a:txBody>
                    <a:bodyPr/>
                    <a:lstStyle/>
                    <a:p>
                      <a:pPr>
                        <a:defRPr b="1" sz="1200">
                          <a:solidFill>
                            <a:srgbClr val="FFFFFF"/>
                          </a:solidFill>
                          <a:latin typeface="Calibri"/>
                        </a:defRPr>
                      </a:pPr>
                      <a:r>
                        <a:t>Company</a:t>
                      </a:r>
                    </a:p>
                  </a:txBody>
                  <a:tcPr>
                    <a:solidFill>
                      <a:srgbClr val="1B2A4A"/>
                    </a:solidFill>
                  </a:tcPr>
                </a:tc>
                <a:tc>
                  <a:txBody>
                    <a:bodyPr/>
                    <a:lstStyle/>
                    <a:p>
                      <a:pPr>
                        <a:defRPr b="1" sz="1200">
                          <a:solidFill>
                            <a:srgbClr val="FFFFFF"/>
                          </a:solidFill>
                          <a:latin typeface="Calibri"/>
                        </a:defRPr>
                      </a:pPr>
                      <a:r>
                        <a:t>Ticker</a:t>
                      </a:r>
                    </a:p>
                  </a:txBody>
                  <a:tcPr>
                    <a:solidFill>
                      <a:srgbClr val="1B2A4A"/>
                    </a:solidFill>
                  </a:tcPr>
                </a:tc>
                <a:tc>
                  <a:txBody>
                    <a:bodyPr/>
                    <a:lstStyle/>
                    <a:p>
                      <a:pPr>
                        <a:defRPr b="1" sz="1200">
                          <a:solidFill>
                            <a:srgbClr val="FFFFFF"/>
                          </a:solidFill>
                          <a:latin typeface="Calibri"/>
                        </a:defRPr>
                      </a:pPr>
                      <a:r>
                        <a:t>EV/EBITDA</a:t>
                      </a:r>
                    </a:p>
                  </a:txBody>
                  <a:tcPr>
                    <a:solidFill>
                      <a:srgbClr val="1B2A4A"/>
                    </a:solidFill>
                  </a:tcPr>
                </a:tc>
                <a:tc>
                  <a:txBody>
                    <a:bodyPr/>
                    <a:lstStyle/>
                    <a:p>
                      <a:pPr>
                        <a:defRPr b="1" sz="1200">
                          <a:solidFill>
                            <a:srgbClr val="FFFFFF"/>
                          </a:solidFill>
                          <a:latin typeface="Calibri"/>
                        </a:defRPr>
                      </a:pPr>
                      <a:r>
                        <a:t>EV/Revenue</a:t>
                      </a:r>
                    </a:p>
                  </a:txBody>
                  <a:tcPr>
                    <a:solidFill>
                      <a:srgbClr val="1B2A4A"/>
                    </a:solidFill>
                  </a:tcPr>
                </a:tc>
                <a:tc>
                  <a:txBody>
                    <a:bodyPr/>
                    <a:lstStyle/>
                    <a:p>
                      <a:pPr>
                        <a:defRPr b="1" sz="1200">
                          <a:solidFill>
                            <a:srgbClr val="FFFFFF"/>
                          </a:solidFill>
                          <a:latin typeface="Calibri"/>
                        </a:defRPr>
                      </a:pPr>
                      <a:r>
                        <a:t>EBITDA Margin</a:t>
                      </a:r>
                    </a:p>
                  </a:txBody>
                  <a:tcPr>
                    <a:solidFill>
                      <a:srgbClr val="1B2A4A"/>
                    </a:solidFill>
                  </a:tcPr>
                </a:tc>
                <a:tc>
                  <a:txBody>
                    <a:bodyPr/>
                    <a:lstStyle/>
                    <a:p>
                      <a:pPr>
                        <a:defRPr b="1" sz="1200">
                          <a:solidFill>
                            <a:srgbClr val="FFFFFF"/>
                          </a:solidFill>
                          <a:latin typeface="Calibri"/>
                        </a:defRPr>
                      </a:pPr>
                      <a:r>
                        <a:t>Rev Growth</a:t>
                      </a:r>
                    </a:p>
                  </a:txBody>
                  <a:tcPr>
                    <a:solidFill>
                      <a:srgbClr val="1B2A4A"/>
                    </a:solidFill>
                  </a:tcPr>
                </a:tc>
              </a:tr>
              <a:tr h="605790">
                <a:tc>
                  <a:txBody>
                    <a:bodyPr/>
                    <a:lstStyle/>
                    <a:p>
                      <a:pPr>
                        <a:defRPr sz="1100">
                          <a:solidFill>
                            <a:srgbClr val="333333"/>
                          </a:solidFill>
                          <a:latin typeface="Calibri"/>
                        </a:defRPr>
                      </a:pPr>
                      <a:r>
                        <a:t>Hermès International Société en commandite par actions</a:t>
                      </a:r>
                    </a:p>
                  </a:txBody>
                  <a:tcPr>
                    <a:solidFill>
                      <a:srgbClr val="FFFFFF"/>
                    </a:solidFill>
                  </a:tcPr>
                </a:tc>
                <a:tc>
                  <a:txBody>
                    <a:bodyPr/>
                    <a:lstStyle/>
                    <a:p>
                      <a:pPr>
                        <a:defRPr sz="1100">
                          <a:solidFill>
                            <a:srgbClr val="333333"/>
                          </a:solidFill>
                          <a:latin typeface="Calibri"/>
                        </a:defRPr>
                      </a:pPr>
                      <a:r>
                        <a:t>RMS.PA</a:t>
                      </a:r>
                    </a:p>
                  </a:txBody>
                  <a:tcPr>
                    <a:solidFill>
                      <a:srgbClr val="FFFFFF"/>
                    </a:solidFill>
                  </a:tcPr>
                </a:tc>
                <a:tc>
                  <a:txBody>
                    <a:bodyPr/>
                    <a:lstStyle/>
                    <a:p>
                      <a:pPr>
                        <a:defRPr sz="1100">
                          <a:solidFill>
                            <a:srgbClr val="333333"/>
                          </a:solidFill>
                          <a:latin typeface="Calibri"/>
                        </a:defRPr>
                      </a:pPr>
                      <a:r>
                        <a:t>23.3x</a:t>
                      </a:r>
                    </a:p>
                  </a:txBody>
                  <a:tcPr>
                    <a:solidFill>
                      <a:srgbClr val="FFFFFF"/>
                    </a:solidFill>
                  </a:tcPr>
                </a:tc>
                <a:tc>
                  <a:txBody>
                    <a:bodyPr/>
                    <a:lstStyle/>
                    <a:p>
                      <a:pPr>
                        <a:defRPr sz="1100">
                          <a:solidFill>
                            <a:srgbClr val="333333"/>
                          </a:solidFill>
                          <a:latin typeface="Calibri"/>
                        </a:defRPr>
                      </a:pPr>
                      <a:r>
                        <a:t>10.2x</a:t>
                      </a:r>
                    </a:p>
                  </a:txBody>
                  <a:tcPr>
                    <a:solidFill>
                      <a:srgbClr val="FFFFFF"/>
                    </a:solidFill>
                  </a:tcPr>
                </a:tc>
                <a:tc>
                  <a:txBody>
                    <a:bodyPr/>
                    <a:lstStyle/>
                    <a:p>
                      <a:pPr>
                        <a:defRPr sz="1100">
                          <a:solidFill>
                            <a:srgbClr val="333333"/>
                          </a:solidFill>
                          <a:latin typeface="Calibri"/>
                        </a:defRPr>
                      </a:pPr>
                      <a:r>
                        <a:t>44.0%</a:t>
                      </a:r>
                    </a:p>
                  </a:txBody>
                  <a:tcPr>
                    <a:solidFill>
                      <a:srgbClr val="FFFFFF"/>
                    </a:solidFill>
                  </a:tcPr>
                </a:tc>
                <a:tc>
                  <a:txBody>
                    <a:bodyPr/>
                    <a:lstStyle/>
                    <a:p>
                      <a:pPr>
                        <a:defRPr sz="1100">
                          <a:solidFill>
                            <a:srgbClr val="333333"/>
                          </a:solidFill>
                          <a:latin typeface="Calibri"/>
                        </a:defRPr>
                      </a:pPr>
                      <a:r>
                        <a:t>+1.8%</a:t>
                      </a:r>
                    </a:p>
                  </a:txBody>
                  <a:tcPr>
                    <a:solidFill>
                      <a:srgbClr val="FFFFFF"/>
                    </a:solidFill>
                  </a:tcPr>
                </a:tc>
              </a:tr>
              <a:tr h="605790">
                <a:tc>
                  <a:txBody>
                    <a:bodyPr/>
                    <a:lstStyle/>
                    <a:p>
                      <a:pPr>
                        <a:defRPr sz="1100">
                          <a:solidFill>
                            <a:srgbClr val="333333"/>
                          </a:solidFill>
                          <a:latin typeface="Calibri"/>
                        </a:defRPr>
                      </a:pPr>
                      <a:r>
                        <a:t>Kering SA</a:t>
                      </a:r>
                    </a:p>
                  </a:txBody>
                  <a:tcPr>
                    <a:solidFill>
                      <a:srgbClr val="FAFAFA"/>
                    </a:solidFill>
                  </a:tcPr>
                </a:tc>
                <a:tc>
                  <a:txBody>
                    <a:bodyPr/>
                    <a:lstStyle/>
                    <a:p>
                      <a:pPr>
                        <a:defRPr sz="1100">
                          <a:solidFill>
                            <a:srgbClr val="333333"/>
                          </a:solidFill>
                          <a:latin typeface="Calibri"/>
                        </a:defRPr>
                      </a:pPr>
                      <a:r>
                        <a:t>KER.PA</a:t>
                      </a:r>
                    </a:p>
                  </a:txBody>
                  <a:tcPr>
                    <a:solidFill>
                      <a:srgbClr val="FAFAFA"/>
                    </a:solidFill>
                  </a:tcPr>
                </a:tc>
                <a:tc>
                  <a:txBody>
                    <a:bodyPr/>
                    <a:lstStyle/>
                    <a:p>
                      <a:pPr>
                        <a:defRPr sz="1100">
                          <a:solidFill>
                            <a:srgbClr val="333333"/>
                          </a:solidFill>
                          <a:latin typeface="Calibri"/>
                        </a:defRPr>
                      </a:pPr>
                      <a:r>
                        <a:t>17.7x</a:t>
                      </a:r>
                    </a:p>
                  </a:txBody>
                  <a:tcPr>
                    <a:solidFill>
                      <a:srgbClr val="FAFAFA"/>
                    </a:solidFill>
                  </a:tcPr>
                </a:tc>
                <a:tc>
                  <a:txBody>
                    <a:bodyPr/>
                    <a:lstStyle/>
                    <a:p>
                      <a:pPr>
                        <a:defRPr sz="1100">
                          <a:solidFill>
                            <a:srgbClr val="333333"/>
                          </a:solidFill>
                          <a:latin typeface="Calibri"/>
                        </a:defRPr>
                      </a:pPr>
                      <a:r>
                        <a:t>3.1x</a:t>
                      </a:r>
                    </a:p>
                  </a:txBody>
                  <a:tcPr>
                    <a:solidFill>
                      <a:srgbClr val="FAFAFA"/>
                    </a:solidFill>
                  </a:tcPr>
                </a:tc>
                <a:tc>
                  <a:txBody>
                    <a:bodyPr/>
                    <a:lstStyle/>
                    <a:p>
                      <a:pPr>
                        <a:defRPr sz="1100">
                          <a:solidFill>
                            <a:srgbClr val="333333"/>
                          </a:solidFill>
                          <a:latin typeface="Calibri"/>
                        </a:defRPr>
                      </a:pPr>
                      <a:r>
                        <a:t>17.3%</a:t>
                      </a:r>
                    </a:p>
                  </a:txBody>
                  <a:tcPr>
                    <a:solidFill>
                      <a:srgbClr val="FAFAFA"/>
                    </a:solidFill>
                  </a:tcPr>
                </a:tc>
                <a:tc>
                  <a:txBody>
                    <a:bodyPr/>
                    <a:lstStyle/>
                    <a:p>
                      <a:pPr>
                        <a:defRPr sz="1100">
                          <a:solidFill>
                            <a:srgbClr val="333333"/>
                          </a:solidFill>
                          <a:latin typeface="Calibri"/>
                        </a:defRPr>
                      </a:pPr>
                      <a:r>
                        <a:t>—</a:t>
                      </a:r>
                    </a:p>
                  </a:txBody>
                  <a:tcPr>
                    <a:solidFill>
                      <a:srgbClr val="FAFAFA"/>
                    </a:solidFill>
                  </a:tcPr>
                </a:tc>
              </a:tr>
              <a:tr h="605790">
                <a:tc>
                  <a:txBody>
                    <a:bodyPr/>
                    <a:lstStyle/>
                    <a:p>
                      <a:pPr>
                        <a:defRPr sz="1100">
                          <a:solidFill>
                            <a:srgbClr val="333333"/>
                          </a:solidFill>
                          <a:latin typeface="Calibri"/>
                        </a:defRPr>
                      </a:pPr>
                      <a:r>
                        <a:t>LVMH Moët Hennessy - Louis Vuitton, Société Européenne</a:t>
                      </a:r>
                    </a:p>
                  </a:txBody>
                  <a:tcPr>
                    <a:solidFill>
                      <a:srgbClr val="FFFFFF"/>
                    </a:solidFill>
                  </a:tcPr>
                </a:tc>
                <a:tc>
                  <a:txBody>
                    <a:bodyPr/>
                    <a:lstStyle/>
                    <a:p>
                      <a:pPr>
                        <a:defRPr sz="1100">
                          <a:solidFill>
                            <a:srgbClr val="333333"/>
                          </a:solidFill>
                          <a:latin typeface="Calibri"/>
                        </a:defRPr>
                      </a:pPr>
                      <a:r>
                        <a:t>MC.PA</a:t>
                      </a:r>
                    </a:p>
                  </a:txBody>
                  <a:tcPr>
                    <a:solidFill>
                      <a:srgbClr val="FFFFFF"/>
                    </a:solidFill>
                  </a:tcPr>
                </a:tc>
                <a:tc>
                  <a:txBody>
                    <a:bodyPr/>
                    <a:lstStyle/>
                    <a:p>
                      <a:pPr>
                        <a:defRPr sz="1100">
                          <a:solidFill>
                            <a:srgbClr val="333333"/>
                          </a:solidFill>
                          <a:latin typeface="Calibri"/>
                        </a:defRPr>
                      </a:pPr>
                      <a:r>
                        <a:t>12.5x</a:t>
                      </a:r>
                    </a:p>
                  </a:txBody>
                  <a:tcPr>
                    <a:solidFill>
                      <a:srgbClr val="FFFFFF"/>
                    </a:solidFill>
                  </a:tcPr>
                </a:tc>
                <a:tc>
                  <a:txBody>
                    <a:bodyPr/>
                    <a:lstStyle/>
                    <a:p>
                      <a:pPr>
                        <a:defRPr sz="1100">
                          <a:solidFill>
                            <a:srgbClr val="333333"/>
                          </a:solidFill>
                          <a:latin typeface="Calibri"/>
                        </a:defRPr>
                      </a:pPr>
                      <a:r>
                        <a:t>3.2x</a:t>
                      </a:r>
                    </a:p>
                  </a:txBody>
                  <a:tcPr>
                    <a:solidFill>
                      <a:srgbClr val="FFFFFF"/>
                    </a:solidFill>
                  </a:tcPr>
                </a:tc>
                <a:tc>
                  <a:txBody>
                    <a:bodyPr/>
                    <a:lstStyle/>
                    <a:p>
                      <a:pPr>
                        <a:defRPr sz="1100">
                          <a:solidFill>
                            <a:srgbClr val="333333"/>
                          </a:solidFill>
                          <a:latin typeface="Calibri"/>
                        </a:defRPr>
                      </a:pPr>
                      <a:r>
                        <a:t>25.5%</a:t>
                      </a:r>
                    </a:p>
                  </a:txBody>
                  <a:tcPr>
                    <a:solidFill>
                      <a:srgbClr val="FFFFFF"/>
                    </a:solidFill>
                  </a:tcPr>
                </a:tc>
                <a:tc>
                  <a:txBody>
                    <a:bodyPr/>
                    <a:lstStyle/>
                    <a:p>
                      <a:pPr>
                        <a:defRPr sz="1100">
                          <a:solidFill>
                            <a:srgbClr val="333333"/>
                          </a:solidFill>
                          <a:latin typeface="Calibri"/>
                        </a:defRPr>
                      </a:pPr>
                      <a:r>
                        <a:t>-1.4%</a:t>
                      </a:r>
                    </a:p>
                  </a:txBody>
                  <a:tcPr>
                    <a:solidFill>
                      <a:srgbClr val="FFFFFF"/>
                    </a:solidFill>
                  </a:tcPr>
                </a:tc>
              </a:tr>
              <a:tr h="605790">
                <a:tc>
                  <a:txBody>
                    <a:bodyPr/>
                    <a:lstStyle/>
                    <a:p>
                      <a:pPr>
                        <a:defRPr sz="1100">
                          <a:solidFill>
                            <a:srgbClr val="333333"/>
                          </a:solidFill>
                          <a:latin typeface="Calibri"/>
                        </a:defRPr>
                      </a:pPr>
                      <a:r>
                        <a:t>Burberry Group plc</a:t>
                      </a:r>
                    </a:p>
                  </a:txBody>
                  <a:tcPr>
                    <a:solidFill>
                      <a:srgbClr val="FAFAFA"/>
                    </a:solidFill>
                  </a:tcPr>
                </a:tc>
                <a:tc>
                  <a:txBody>
                    <a:bodyPr/>
                    <a:lstStyle/>
                    <a:p>
                      <a:pPr>
                        <a:defRPr sz="1100">
                          <a:solidFill>
                            <a:srgbClr val="333333"/>
                          </a:solidFill>
                          <a:latin typeface="Calibri"/>
                        </a:defRPr>
                      </a:pPr>
                      <a:r>
                        <a:t>BRBY.L</a:t>
                      </a:r>
                    </a:p>
                  </a:txBody>
                  <a:tcPr>
                    <a:solidFill>
                      <a:srgbClr val="FAFAFA"/>
                    </a:solidFill>
                  </a:tcPr>
                </a:tc>
                <a:tc>
                  <a:txBody>
                    <a:bodyPr/>
                    <a:lstStyle/>
                    <a:p>
                      <a:pPr>
                        <a:defRPr sz="1100">
                          <a:solidFill>
                            <a:srgbClr val="333333"/>
                          </a:solidFill>
                          <a:latin typeface="Calibri"/>
                        </a:defRPr>
                      </a:pPr>
                      <a:r>
                        <a:t>26.3x</a:t>
                      </a:r>
                    </a:p>
                  </a:txBody>
                  <a:tcPr>
                    <a:solidFill>
                      <a:srgbClr val="FAFAFA"/>
                    </a:solidFill>
                  </a:tcPr>
                </a:tc>
                <a:tc>
                  <a:txBody>
                    <a:bodyPr/>
                    <a:lstStyle/>
                    <a:p>
                      <a:pPr>
                        <a:defRPr sz="1100">
                          <a:solidFill>
                            <a:srgbClr val="333333"/>
                          </a:solidFill>
                          <a:latin typeface="Calibri"/>
                        </a:defRPr>
                      </a:pPr>
                      <a:r>
                        <a:t>2.2x</a:t>
                      </a:r>
                    </a:p>
                  </a:txBody>
                  <a:tcPr>
                    <a:solidFill>
                      <a:srgbClr val="FAFAFA"/>
                    </a:solidFill>
                  </a:tcPr>
                </a:tc>
                <a:tc>
                  <a:txBody>
                    <a:bodyPr/>
                    <a:lstStyle/>
                    <a:p>
                      <a:pPr>
                        <a:defRPr sz="1100">
                          <a:solidFill>
                            <a:srgbClr val="333333"/>
                          </a:solidFill>
                          <a:latin typeface="Calibri"/>
                        </a:defRPr>
                      </a:pPr>
                      <a:r>
                        <a:t>8.4%</a:t>
                      </a:r>
                    </a:p>
                  </a:txBody>
                  <a:tcPr>
                    <a:solidFill>
                      <a:srgbClr val="FAFAFA"/>
                    </a:solidFill>
                  </a:tcPr>
                </a:tc>
                <a:tc>
                  <a:txBody>
                    <a:bodyPr/>
                    <a:lstStyle/>
                    <a:p>
                      <a:pPr>
                        <a:defRPr sz="1100">
                          <a:solidFill>
                            <a:srgbClr val="333333"/>
                          </a:solidFill>
                          <a:latin typeface="Calibri"/>
                        </a:defRPr>
                      </a:pPr>
                      <a:r>
                        <a:t>-5.0%</a:t>
                      </a:r>
                    </a:p>
                  </a:txBody>
                  <a:tcPr>
                    <a:solidFill>
                      <a:srgbClr val="FAFAFA"/>
                    </a:solidFill>
                  </a:tcPr>
                </a:tc>
              </a:tr>
              <a:tr h="605790">
                <a:tc>
                  <a:txBody>
                    <a:bodyPr/>
                    <a:lstStyle/>
                    <a:p>
                      <a:pPr>
                        <a:defRPr sz="1100">
                          <a:solidFill>
                            <a:srgbClr val="333333"/>
                          </a:solidFill>
                          <a:latin typeface="Calibri"/>
                        </a:defRPr>
                      </a:pPr>
                      <a:r>
                        <a:t>Compagnie Financière Richemont SA</a:t>
                      </a:r>
                    </a:p>
                  </a:txBody>
                  <a:tcPr>
                    <a:solidFill>
                      <a:srgbClr val="FFFFFF"/>
                    </a:solidFill>
                  </a:tcPr>
                </a:tc>
                <a:tc>
                  <a:txBody>
                    <a:bodyPr/>
                    <a:lstStyle/>
                    <a:p>
                      <a:pPr>
                        <a:defRPr sz="1100">
                          <a:solidFill>
                            <a:srgbClr val="333333"/>
                          </a:solidFill>
                          <a:latin typeface="Calibri"/>
                        </a:defRPr>
                      </a:pPr>
                      <a:r>
                        <a:t>CFR.SW</a:t>
                      </a:r>
                    </a:p>
                  </a:txBody>
                  <a:tcPr>
                    <a:solidFill>
                      <a:srgbClr val="FFFFFF"/>
                    </a:solidFill>
                  </a:tcPr>
                </a:tc>
                <a:tc>
                  <a:txBody>
                    <a:bodyPr/>
                    <a:lstStyle/>
                    <a:p>
                      <a:pPr>
                        <a:defRPr sz="1100">
                          <a:solidFill>
                            <a:srgbClr val="333333"/>
                          </a:solidFill>
                          <a:latin typeface="Calibri"/>
                        </a:defRPr>
                      </a:pPr>
                      <a:r>
                        <a:t>16.2x</a:t>
                      </a:r>
                    </a:p>
                  </a:txBody>
                  <a:tcPr>
                    <a:solidFill>
                      <a:srgbClr val="FFFFFF"/>
                    </a:solidFill>
                  </a:tcPr>
                </a:tc>
                <a:tc>
                  <a:txBody>
                    <a:bodyPr/>
                    <a:lstStyle/>
                    <a:p>
                      <a:pPr>
                        <a:defRPr sz="1100">
                          <a:solidFill>
                            <a:srgbClr val="333333"/>
                          </a:solidFill>
                          <a:latin typeface="Calibri"/>
                        </a:defRPr>
                      </a:pPr>
                      <a:r>
                        <a:t>4.0x</a:t>
                      </a:r>
                    </a:p>
                  </a:txBody>
                  <a:tcPr>
                    <a:solidFill>
                      <a:srgbClr val="FFFFFF"/>
                    </a:solidFill>
                  </a:tcPr>
                </a:tc>
                <a:tc>
                  <a:txBody>
                    <a:bodyPr/>
                    <a:lstStyle/>
                    <a:p>
                      <a:pPr>
                        <a:defRPr sz="1100">
                          <a:solidFill>
                            <a:srgbClr val="333333"/>
                          </a:solidFill>
                          <a:latin typeface="Calibri"/>
                        </a:defRPr>
                      </a:pPr>
                      <a:r>
                        <a:t>24.4%</a:t>
                      </a:r>
                    </a:p>
                  </a:txBody>
                  <a:tcPr>
                    <a:solidFill>
                      <a:srgbClr val="FFFFFF"/>
                    </a:solidFill>
                  </a:tcPr>
                </a:tc>
                <a:tc>
                  <a:txBody>
                    <a:bodyPr/>
                    <a:lstStyle/>
                    <a:p>
                      <a:pPr>
                        <a:defRPr sz="1100">
                          <a:solidFill>
                            <a:srgbClr val="333333"/>
                          </a:solidFill>
                          <a:latin typeface="Calibri"/>
                        </a:defRPr>
                      </a:pPr>
                      <a:r>
                        <a:t>+295.1%</a:t>
                      </a:r>
                    </a:p>
                  </a:txBody>
                  <a:tcPr>
                    <a:solidFill>
                      <a:srgbClr val="FFFFFF"/>
                    </a:solidFill>
                  </a:tcPr>
                </a:tc>
              </a:tr>
              <a:tr h="605790">
                <a:tc>
                  <a:txBody>
                    <a:bodyPr/>
                    <a:lstStyle/>
                    <a:p>
                      <a:pPr>
                        <a:defRPr sz="1100">
                          <a:solidFill>
                            <a:srgbClr val="333333"/>
                          </a:solidFill>
                          <a:latin typeface="Calibri"/>
                        </a:defRPr>
                      </a:pPr>
                      <a:r>
                        <a:t>Tapestry, Inc.</a:t>
                      </a:r>
                    </a:p>
                  </a:txBody>
                  <a:tcPr>
                    <a:solidFill>
                      <a:srgbClr val="FAFAFA"/>
                    </a:solidFill>
                  </a:tcPr>
                </a:tc>
                <a:tc>
                  <a:txBody>
                    <a:bodyPr/>
                    <a:lstStyle/>
                    <a:p>
                      <a:pPr>
                        <a:defRPr sz="1100">
                          <a:solidFill>
                            <a:srgbClr val="333333"/>
                          </a:solidFill>
                          <a:latin typeface="Calibri"/>
                        </a:defRPr>
                      </a:pPr>
                      <a:r>
                        <a:t>TPR</a:t>
                      </a:r>
                    </a:p>
                  </a:txBody>
                  <a:tcPr>
                    <a:solidFill>
                      <a:srgbClr val="FAFAFA"/>
                    </a:solidFill>
                  </a:tcPr>
                </a:tc>
                <a:tc>
                  <a:txBody>
                    <a:bodyPr/>
                    <a:lstStyle/>
                    <a:p>
                      <a:pPr>
                        <a:defRPr sz="1100">
                          <a:solidFill>
                            <a:srgbClr val="333333"/>
                          </a:solidFill>
                          <a:latin typeface="Calibri"/>
                        </a:defRPr>
                      </a:pPr>
                      <a:r>
                        <a:t>17.9x</a:t>
                      </a:r>
                    </a:p>
                  </a:txBody>
                  <a:tcPr>
                    <a:solidFill>
                      <a:srgbClr val="FAFAFA"/>
                    </a:solidFill>
                  </a:tcPr>
                </a:tc>
                <a:tc>
                  <a:txBody>
                    <a:bodyPr/>
                    <a:lstStyle/>
                    <a:p>
                      <a:pPr>
                        <a:defRPr sz="1100">
                          <a:solidFill>
                            <a:srgbClr val="333333"/>
                          </a:solidFill>
                          <a:latin typeface="Calibri"/>
                        </a:defRPr>
                      </a:pPr>
                      <a:r>
                        <a:t>4.3x</a:t>
                      </a:r>
                    </a:p>
                  </a:txBody>
                  <a:tcPr>
                    <a:solidFill>
                      <a:srgbClr val="FAFAFA"/>
                    </a:solidFill>
                  </a:tcPr>
                </a:tc>
                <a:tc>
                  <a:txBody>
                    <a:bodyPr/>
                    <a:lstStyle/>
                    <a:p>
                      <a:pPr>
                        <a:defRPr sz="1100">
                          <a:solidFill>
                            <a:srgbClr val="333333"/>
                          </a:solidFill>
                          <a:latin typeface="Calibri"/>
                        </a:defRPr>
                      </a:pPr>
                      <a:r>
                        <a:t>24.1%</a:t>
                      </a:r>
                    </a:p>
                  </a:txBody>
                  <a:tcPr>
                    <a:solidFill>
                      <a:srgbClr val="FAFAFA"/>
                    </a:solidFill>
                  </a:tcPr>
                </a:tc>
                <a:tc>
                  <a:txBody>
                    <a:bodyPr/>
                    <a:lstStyle/>
                    <a:p>
                      <a:pPr>
                        <a:defRPr sz="1100">
                          <a:solidFill>
                            <a:srgbClr val="333333"/>
                          </a:solidFill>
                          <a:latin typeface="Calibri"/>
                        </a:defRPr>
                      </a:pPr>
                      <a:r>
                        <a:t>+94.2%</a:t>
                      </a:r>
                    </a:p>
                  </a:txBody>
                  <a:tcPr>
                    <a:solidFill>
                      <a:srgbClr val="FAFAFA"/>
                    </a:solidFill>
                  </a:tcPr>
                </a:tc>
              </a:tr>
              <a:tr h="605790">
                <a:tc>
                  <a:txBody>
                    <a:bodyPr/>
                    <a:lstStyle/>
                    <a:p>
                      <a:pPr>
                        <a:defRPr sz="1100">
                          <a:solidFill>
                            <a:srgbClr val="333333"/>
                          </a:solidFill>
                          <a:latin typeface="Calibri"/>
                        </a:defRPr>
                      </a:pPr>
                      <a:r>
                        <a:t>MEDIAN</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17.8x</a:t>
                      </a:r>
                    </a:p>
                  </a:txBody>
                  <a:tcPr>
                    <a:solidFill>
                      <a:srgbClr val="FFFFFF"/>
                    </a:solidFill>
                  </a:tcPr>
                </a:tc>
                <a:tc>
                  <a:txBody>
                    <a:bodyPr/>
                    <a:lstStyle/>
                    <a:p>
                      <a:pPr>
                        <a:defRPr sz="1100">
                          <a:solidFill>
                            <a:srgbClr val="333333"/>
                          </a:solidFill>
                          <a:latin typeface="Calibri"/>
                        </a:defRPr>
                      </a:pPr>
                      <a:r>
                        <a:t>3.6x</a:t>
                      </a:r>
                    </a:p>
                  </a:txBody>
                  <a:tcPr>
                    <a:solidFill>
                      <a:srgbClr val="FFFFFF"/>
                    </a:solidFill>
                  </a:tcPr>
                </a:tc>
                <a:tc>
                  <a:txBody>
                    <a:bodyPr/>
                    <a:lstStyle/>
                    <a:p>
                      <a:pPr>
                        <a:defRPr sz="1100">
                          <a:solidFill>
                            <a:srgbClr val="333333"/>
                          </a:solidFill>
                          <a:latin typeface="Calibri"/>
                        </a:defRPr>
                      </a:pPr>
                      <a:r>
                        <a:t>24.3%</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NO GO</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685800" y="1097280"/>
            <a:ext cx="530352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685800" y="1554480"/>
          <a:ext cx="5303520" cy="3657600"/>
        </p:xfrm>
        <a:graphic>
          <a:graphicData uri="http://schemas.openxmlformats.org/drawingml/2006/table">
            <a:tbl>
              <a:tblPr firstRow="1" bandRow="1">
                <a:tableStyleId>{5C22544A-7EE6-4342-B048-85BDC9FD1C3A}</a:tableStyleId>
              </a:tblPr>
              <a:tblGrid>
                <a:gridCol w="2651760"/>
                <a:gridCol w="2651760"/>
              </a:tblGrid>
              <a:tr h="45720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45720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1.0/10</a:t>
                      </a:r>
                    </a:p>
                  </a:txBody>
                  <a:tcPr>
                    <a:solidFill>
                      <a:srgbClr val="FAFAFA"/>
                    </a:solidFill>
                  </a:tcPr>
                </a:tc>
              </a:tr>
              <a:tr h="45720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0/100</a:t>
                      </a:r>
                    </a:p>
                  </a:txBody>
                  <a:tcPr>
                    <a:solidFill>
                      <a:srgbClr val="FFFFFF"/>
                    </a:solidFill>
                  </a:tcPr>
                </a:tc>
              </a:tr>
            </a:tbl>
          </a:graphicData>
        </a:graphic>
      </p:graphicFrame>
      <p:sp>
        <p:nvSpPr>
          <p:cNvPr id="8" name="TextBox 7"/>
          <p:cNvSpPr txBox="1"/>
          <p:nvPr/>
        </p:nvSpPr>
        <p:spPr>
          <a:xfrm>
            <a:off x="6400800" y="1097280"/>
            <a:ext cx="5303520" cy="4114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Sézane fails IC gates: Lbo score 1.0/10 below minimum 2/10. Strengths: strategy (5/10), synergies (5/10). Risks: lbo (1/10), strategy (5/10). LBO IRR: 10.9%.</a:t>
            </a:r>
          </a:p>
          <a:p>
            <a:pPr>
              <a:spcBef>
                <a:spcPts val="200"/>
              </a:spcBef>
              <a:spcAft>
                <a:spcPts val="200"/>
              </a:spcAft>
              <a:defRPr sz="1400">
                <a:solidFill>
                  <a:srgbClr val="333333"/>
                </a:solidFill>
                <a:latin typeface="Calibri"/>
              </a:defRPr>
            </a:pPr>
            <a:r>
              <a:t>Pass on current opportunity</a:t>
            </a:r>
          </a:p>
          <a:p>
            <a:pPr>
              <a:spcBef>
                <a:spcPts val="200"/>
              </a:spcBef>
              <a:spcAft>
                <a:spcPts val="200"/>
              </a:spcAft>
              <a:defRPr sz="1400">
                <a:solidFill>
                  <a:srgbClr val="333333"/>
                </a:solidFill>
                <a:latin typeface="Calibri"/>
              </a:defRPr>
            </a:pPr>
            <a:r>
              <a:t>Document rationale in deal log</a:t>
            </a:r>
          </a:p>
          <a:p>
            <a:pPr>
              <a:spcBef>
                <a:spcPts val="200"/>
              </a:spcBef>
              <a:spcAft>
                <a:spcPts val="200"/>
              </a:spcAft>
              <a:defRPr sz="1400">
                <a:solidFill>
                  <a:srgbClr val="333333"/>
                </a:solidFill>
                <a:latin typeface="Calibri"/>
              </a:defRPr>
            </a:pPr>
            <a:r>
              <a:t>Re-evaluate if strategic context or valuation changes</a:t>
            </a:r>
          </a:p>
          <a:p>
            <a:pPr>
              <a:spcBef>
                <a:spcPts val="200"/>
              </a:spcBef>
              <a:spcAft>
                <a:spcPts val="200"/>
              </a:spcAft>
              <a:defRPr sz="1400">
                <a:solidFill>
                  <a:srgbClr val="333333"/>
                </a:solidFill>
                <a:latin typeface="Calibri"/>
              </a:defRPr>
            </a:pPr>
            <a:r>
              <a:t>Reassess capital structure — current leverage profile impedes LBO.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Sézane, the Paris-based premium women’s apparel and accessories brand, has established a compelling niche in the global luxury-lite segment, leveraging a direct-to-consumer (DTC) model, strong digital engagement, and a reputation for timeless, sustainable design. With reported revenues of €350M in 2023 (up 15% YoY) and EBITDA margins of ~20%, Sézane outperforms peers like &amp; Other Stories and Maje on profitability, supported by its vertically integrated supply chain and high repeat customer rates (40% of sales). The brand’s competitive moat lies in its authentic storytelling, limited distribution (90% DTC), and loyal customer base, which drives a 3.5x LTV/CAC ratio—well above industry averages. However, valuation remains a key concern: Sézane’s implied EV/Revenue multiple of ~5x (based on recent secondary transactions) is rich relative to peers (e.g., Reformation at 3.5x), reflecting premium positioning but also elevated growth expectations. While international expansion (U.S. and Asia now account for 60% of sales) and category diversification (e.g., childrenswear, home) provide upside, macro pressures and rising customer acquisition costs (CAC up 25% YoY) could weigh on margins in the near term. We view Sézane as a high-quality asset with structural advantages but recommend a HOLD given current valuation and execution risks in scaling beyond its core European market.</a:t>
            </a:r>
          </a:p>
          <a:p>
            <a:pPr>
              <a:spcBef>
                <a:spcPts val="200"/>
              </a:spcBef>
              <a:spcAft>
                <a:spcPts val="200"/>
              </a:spcAft>
              <a:defRPr sz="1400">
                <a:solidFill>
                  <a:srgbClr val="333333"/>
                </a:solidFill>
                <a:latin typeface="Calibri"/>
              </a:defRPr>
            </a:pPr>
            <a:r>
              <a:t>Bull: In the bull scenario, Sézane accelerates growth by capitalizing on three key drivers: (1) **U.S. and Asian market penetration**, where brand awareness remains low but demand for sustainable luxury is rising (e.g., U.S. sales grew 30% YoY in 2023, now 35% of total revenue). (2) **Category expansion**, particularly in childrenswear and home goods, which could add €100M+ in revenue by 2026 (management targets 20% of sales from new categories by 2025). (3) **Operational leverage**, with EBITDA margins expanding to 25%+ as fixed costs are spread over higher volumes. If Sézane achieves 20%+ revenue CAGR through 2026 and maintains its premium multiple, the stock could re-rate to €2.5B+ EV (vs. ~€1.8B today), implying 30%+ upside from current levels.</a:t>
            </a:r>
          </a:p>
          <a:p>
            <a:pPr>
              <a:spcBef>
                <a:spcPts val="200"/>
              </a:spcBef>
              <a:spcAft>
                <a:spcPts val="200"/>
              </a:spcAft>
              <a:defRPr sz="1400">
                <a:solidFill>
                  <a:srgbClr val="333333"/>
                </a:solidFill>
                <a:latin typeface="Calibri"/>
              </a:defRPr>
            </a:pPr>
            <a:r>
              <a:t>Base: In our base case, Sézane delivers steady but unspectacular growth, with revenues reaching €450M by 2026 (10% CAGR) and EBITDA margins stabilizing at 18-20%. Key assumptions include: (1) **Moderating U.S. growth** (20% YoY) as competition intensifies from brands like Aritzia and &amp; Other Stories. (2) **Controlled international expansion**, with Asia contributing 20% of sales by 2026 (up from 12% today) but requiring higher marketing spend. (3) **Stable gross margins** (~70%) as sourcing costs and pricing power offset inflation. Under this scenario, Sézane’s EV/Revenue multiple compresses slightly to 4.5x, reflecting slower growth, resulting in a €2.0B EV and limited upside from current levels. The base case assumes no major missteps in execution but also no material re-rating catalysts.</a:t>
            </a:r>
          </a:p>
          <a:p>
            <a:pPr>
              <a:spcBef>
                <a:spcPts val="200"/>
              </a:spcBef>
              <a:spcAft>
                <a:spcPts val="200"/>
              </a:spcAft>
              <a:defRPr sz="1400">
                <a:solidFill>
                  <a:srgbClr val="333333"/>
                </a:solidFill>
                <a:latin typeface="Calibri"/>
              </a:defRPr>
            </a:pPr>
            <a:r>
              <a:t>Bear: Downside risks center on **execution failures and macro pressures**. (1) **U.S. growth stalls** as consumer discretionary spending weakens, particularly in premium apparel, leading to revenue growth below 5% YoY. (2) **Rising CAC erodes margins**, with marketing spend exceeding 25% of revenue (vs. 20% today) as digital ad costs rise and competition for luxury-lite customers intensifies. (3) **Supply chain disruptions** or over-expansion into new categories (e.g., home goods) dilute brand equity and compress gross margins to 65%. In this scenario, EBITDA margins fall to 15%, revenue growth slows to 5% CAGR, and the EV/Revenue multiple contracts to 3.5x, implying a €1.2B EV and 30%+ downside. A recession in Europe or the U.S. could accelerate this outcome, particularly if Sézane’s core customer (affluent millennials) trades down to fast fashion or resale platforms.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Q3 2024 earnings (November 2024): Management guidance on U.S. growth and margin trends will be critical, particularly as competitors like Reformation report mixed results. A beat on EBITDA margins could re-ignite investor interest.</a:t>
            </a:r>
          </a:p>
          <a:p>
            <a:pPr>
              <a:spcBef>
                <a:spcPts val="200"/>
              </a:spcBef>
              <a:spcAft>
                <a:spcPts val="200"/>
              </a:spcAft>
              <a:defRPr sz="1400">
                <a:solidFill>
                  <a:srgbClr val="333333"/>
                </a:solidFill>
                <a:latin typeface="Calibri"/>
              </a:defRPr>
            </a:pPr>
            <a:r>
              <a:t>Launch of Sézane’s first standalone U.S. flagship store (New York, Q4 2024): Physical retail expansion in the U.S. could validate demand and reduce reliance on digital CAC, but execution risks are high given the brand’s limited brick-and-mortar experience.</a:t>
            </a:r>
          </a:p>
          <a:p>
            <a:pPr>
              <a:spcBef>
                <a:spcPts val="200"/>
              </a:spcBef>
              <a:spcAft>
                <a:spcPts val="200"/>
              </a:spcAft>
              <a:defRPr sz="1400">
                <a:solidFill>
                  <a:srgbClr val="333333"/>
                </a:solidFill>
                <a:latin typeface="Calibri"/>
              </a:defRPr>
            </a:pPr>
            <a:r>
              <a:t>Regulatory developments on sustainability (e.g., EU’s Green Claims Directive, 2025): Sézane’s strong ESG positioning could become a competitive advantage if regulations tighten, but compliance costs may pressure margins.</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