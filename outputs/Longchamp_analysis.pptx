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972800" cy="548640"/>
          </a:xfrm>
          <a:prstGeom prst="rect">
            <a:avLst/>
          </a:prstGeom>
          <a:noFill/>
        </p:spPr>
        <p:txBody>
          <a:bodyPr wrap="none">
            <a:spAutoFit/>
          </a:bodyPr>
          <a:lstStyle/>
          <a:p>
            <a:pPr algn="l"/>
            <a:r>
              <a:rPr b="1" sz="2200">
                <a:solidFill>
                  <a:srgbClr val="FFFFFF"/>
                </a:solidFill>
                <a:latin typeface="Calibri"/>
              </a:rPr>
              <a:t>Longchamp</a:t>
            </a:r>
          </a:p>
        </p:txBody>
      </p:sp>
      <p:sp>
        <p:nvSpPr>
          <p:cNvPr id="5" name="TextBox 4"/>
          <p:cNvSpPr txBox="1"/>
          <p:nvPr/>
        </p:nvSpPr>
        <p:spPr>
          <a:xfrm>
            <a:off x="685800" y="566928"/>
            <a:ext cx="10972800" cy="320040"/>
          </a:xfrm>
          <a:prstGeom prst="rect">
            <a:avLst/>
          </a:prstGeom>
          <a:noFill/>
        </p:spPr>
        <p:txBody>
          <a:bodyPr wrap="none">
            <a:spAutoFit/>
          </a:bodyPr>
          <a:lstStyle/>
          <a:p>
            <a:pPr algn="l"/>
            <a:r>
              <a:rPr b="0" sz="1200">
                <a:solidFill>
                  <a:srgbClr val="666666"/>
                </a:solidFill>
                <a:latin typeface="Calibri"/>
              </a:rPr>
              <a:t>Generated April 27, 2026 | Luxury Goods &amp; Fashion</a:t>
            </a:r>
          </a:p>
        </p:txBody>
      </p:sp>
      <p:sp>
        <p:nvSpPr>
          <p:cNvPr id="6" name="TextBox 5"/>
          <p:cNvSpPr txBox="1"/>
          <p:nvPr/>
        </p:nvSpPr>
        <p:spPr>
          <a:xfrm>
            <a:off x="685800" y="2011680"/>
            <a:ext cx="11155680" cy="1371600"/>
          </a:xfrm>
          <a:prstGeom prst="rect">
            <a:avLst/>
          </a:prstGeom>
          <a:noFill/>
        </p:spPr>
        <p:txBody>
          <a:bodyPr wrap="none">
            <a:spAutoFit/>
          </a:bodyPr>
          <a:lstStyle/>
          <a:p>
            <a:r>
              <a:rPr b="0" sz="1800">
                <a:solidFill>
                  <a:srgbClr val="333333"/>
                </a:solidFill>
                <a:latin typeface="Calibri"/>
              </a:rPr>
              <a:t>A French luxury leather goods company known for its handbags, luggage, and accessories, founded in 1948.</a:t>
            </a:r>
          </a:p>
        </p:txBody>
      </p:sp>
      <p:sp>
        <p:nvSpPr>
          <p:cNvPr id="7" name="TextBox 6"/>
          <p:cNvSpPr txBox="1"/>
          <p:nvPr/>
        </p:nvSpPr>
        <p:spPr>
          <a:xfrm>
            <a:off x="685800" y="6035040"/>
            <a:ext cx="11155680" cy="548640"/>
          </a:xfrm>
          <a:prstGeom prst="rect">
            <a:avLst/>
          </a:prstGeom>
          <a:noFill/>
        </p:spPr>
        <p:txBody>
          <a:bodyPr wrap="none">
            <a:spAutoFit/>
          </a:bodyPr>
          <a:lstStyle/>
          <a:p>
            <a:r>
              <a:rPr b="1" sz="1400">
                <a:solidFill>
                  <a:srgbClr val="1B2A4A"/>
                </a:solidFill>
                <a:latin typeface="Calibri"/>
              </a:rPr>
              <a:t>Recommendation: HOLD | Target: 3411.7 | Upside/Downside: N/A | Current: 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972800" cy="548640"/>
          </a:xfrm>
          <a:prstGeom prst="rect">
            <a:avLst/>
          </a:prstGeom>
          <a:noFill/>
        </p:spPr>
        <p:txBody>
          <a:bodyPr wrap="none">
            <a:spAutoFit/>
          </a:bodyPr>
          <a:lstStyle/>
          <a:p>
            <a:pPr algn="l"/>
            <a:r>
              <a:rPr b="1" sz="2200">
                <a:solidFill>
                  <a:srgbClr val="FFFFFF"/>
                </a:solidFill>
                <a:latin typeface="Calibri"/>
              </a:rPr>
              <a:t>Company Overview</a:t>
            </a:r>
          </a:p>
        </p:txBody>
      </p:sp>
      <p:sp>
        <p:nvSpPr>
          <p:cNvPr id="5" name="TextBox 4"/>
          <p:cNvSpPr txBox="1"/>
          <p:nvPr/>
        </p:nvSpPr>
        <p:spPr>
          <a:xfrm>
            <a:off x="685800" y="1645920"/>
            <a:ext cx="5486400" cy="4754880"/>
          </a:xfrm>
          <a:prstGeom prst="rect">
            <a:avLst/>
          </a:prstGeom>
          <a:noFill/>
        </p:spPr>
        <p:txBody>
          <a:bodyPr wrap="none">
            <a:spAutoFit/>
          </a:bodyPr>
          <a:lstStyle/>
          <a:p>
            <a:r>
              <a:rPr b="1" sz="2000">
                <a:solidFill>
                  <a:srgbClr val="333333"/>
                </a:solidFill>
                <a:latin typeface="Calibri"/>
              </a:rPr>
              <a:t>Business Model</a:t>
            </a:r>
          </a:p>
          <a:p>
            <a:pPr>
              <a:spcBef>
                <a:spcPts val="200"/>
              </a:spcBef>
              <a:spcAft>
                <a:spcPts val="200"/>
              </a:spcAft>
              <a:defRPr sz="1400">
                <a:solidFill>
                  <a:srgbClr val="333333"/>
                </a:solidFill>
                <a:latin typeface="Calibri"/>
              </a:defRPr>
            </a:pPr>
            <a:r>
              <a:t>Sells high-end leather products, accessories, and ready-to-wear items through owned retail stores, e-commerce, and wholesale partnerships.</a:t>
            </a:r>
          </a:p>
          <a:p>
            <a:pPr>
              <a:spcBef>
                <a:spcPts val="200"/>
              </a:spcBef>
              <a:spcAft>
                <a:spcPts val="200"/>
              </a:spcAft>
              <a:defRPr sz="1400">
                <a:solidFill>
                  <a:srgbClr val="333333"/>
                </a:solidFill>
                <a:latin typeface="Calibri"/>
              </a:defRPr>
            </a:pPr>
            <a:r>
              <a:t>Founded: N/A</a:t>
            </a:r>
          </a:p>
          <a:p>
            <a:pPr>
              <a:spcBef>
                <a:spcPts val="200"/>
              </a:spcBef>
              <a:spcAft>
                <a:spcPts val="200"/>
              </a:spcAft>
              <a:defRPr sz="1400">
                <a:solidFill>
                  <a:srgbClr val="333333"/>
                </a:solidFill>
                <a:latin typeface="Calibri"/>
              </a:defRPr>
            </a:pPr>
            <a:r>
              <a:t>HQ: N/A</a:t>
            </a:r>
          </a:p>
          <a:p>
            <a:pPr>
              <a:spcBef>
                <a:spcPts val="200"/>
              </a:spcBef>
              <a:spcAft>
                <a:spcPts val="200"/>
              </a:spcAft>
              <a:defRPr sz="1400">
                <a:solidFill>
                  <a:srgbClr val="333333"/>
                </a:solidFill>
                <a:latin typeface="Calibri"/>
              </a:defRPr>
            </a:pPr>
            <a:r>
              <a:t>Employees: N/A</a:t>
            </a:r>
          </a:p>
          <a:p>
            <a:pPr>
              <a:spcBef>
                <a:spcPts val="200"/>
              </a:spcBef>
              <a:spcAft>
                <a:spcPts val="200"/>
              </a:spcAft>
              <a:defRPr sz="1400">
                <a:solidFill>
                  <a:srgbClr val="333333"/>
                </a:solidFill>
                <a:latin typeface="Calibri"/>
              </a:defRPr>
            </a:pPr>
            <a:r>
              <a:t>Ticker: N/A</a:t>
            </a:r>
          </a:p>
        </p:txBody>
      </p:sp>
      <p:sp>
        <p:nvSpPr>
          <p:cNvPr id="6" name="TextBox 5"/>
          <p:cNvSpPr txBox="1"/>
          <p:nvPr/>
        </p:nvSpPr>
        <p:spPr>
          <a:xfrm>
            <a:off x="6400800" y="1645920"/>
            <a:ext cx="5486400" cy="4754880"/>
          </a:xfrm>
          <a:prstGeom prst="rect">
            <a:avLst/>
          </a:prstGeom>
          <a:noFill/>
        </p:spPr>
        <p:txBody>
          <a:bodyPr wrap="none">
            <a:spAutoFit/>
          </a:bodyPr>
          <a:lstStyle/>
          <a:p>
            <a:r>
              <a:rPr b="1" sz="2000">
                <a:solidFill>
                  <a:srgbClr val="333333"/>
                </a:solidFill>
                <a:latin typeface="Calibri"/>
              </a:rPr>
              <a:t>Competitive Advantages</a:t>
            </a:r>
          </a:p>
          <a:p>
            <a:pPr>
              <a:spcBef>
                <a:spcPts val="200"/>
              </a:spcBef>
              <a:spcAft>
                <a:spcPts val="200"/>
              </a:spcAft>
              <a:defRPr sz="1400">
                <a:solidFill>
                  <a:srgbClr val="333333"/>
                </a:solidFill>
                <a:latin typeface="Calibri"/>
              </a:defRPr>
            </a:pPr>
            <a:r>
              <a:t>No advantages provided.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972800" cy="548640"/>
          </a:xfrm>
          <a:prstGeom prst="rect">
            <a:avLst/>
          </a:prstGeom>
          <a:noFill/>
        </p:spPr>
        <p:txBody>
          <a:bodyPr wrap="none">
            <a:spAutoFit/>
          </a:bodyPr>
          <a:lstStyle/>
          <a:p>
            <a:pPr algn="l"/>
            <a:r>
              <a:rPr b="1" sz="2200">
                <a:solidFill>
                  <a:srgbClr val="FFFFFF"/>
                </a:solidFill>
                <a:latin typeface="Calibri"/>
              </a:rPr>
              <a:t>Market &amp; Competition</a:t>
            </a:r>
          </a:p>
        </p:txBody>
      </p:sp>
      <p:sp>
        <p:nvSpPr>
          <p:cNvPr id="5" name="TextBox 4"/>
          <p:cNvSpPr txBox="1"/>
          <p:nvPr/>
        </p:nvSpPr>
        <p:spPr>
          <a:xfrm>
            <a:off x="685800" y="1645920"/>
            <a:ext cx="5486400" cy="4754880"/>
          </a:xfrm>
          <a:prstGeom prst="rect">
            <a:avLst/>
          </a:prstGeom>
          <a:noFill/>
        </p:spPr>
        <p:txBody>
          <a:bodyPr wrap="none">
            <a:spAutoFit/>
          </a:bodyPr>
          <a:lstStyle/>
          <a:p>
            <a:r>
              <a:rPr b="1" sz="2000">
                <a:solidFill>
                  <a:srgbClr val="333333"/>
                </a:solidFill>
                <a:latin typeface="Calibri"/>
              </a:rPr>
              <a:t>Market Sizing</a:t>
            </a:r>
          </a:p>
          <a:p>
            <a:pPr>
              <a:spcBef>
                <a:spcPts val="200"/>
              </a:spcBef>
              <a:spcAft>
                <a:spcPts val="200"/>
              </a:spcAft>
              <a:defRPr sz="1400">
                <a:solidFill>
                  <a:srgbClr val="333333"/>
                </a:solidFill>
                <a:latin typeface="Calibri"/>
              </a:defRPr>
            </a:pPr>
            <a:r>
              <a:t>TAM: Not available</a:t>
            </a:r>
          </a:p>
          <a:p>
            <a:pPr>
              <a:spcBef>
                <a:spcPts val="200"/>
              </a:spcBef>
              <a:spcAft>
                <a:spcPts val="200"/>
              </a:spcAft>
              <a:defRPr sz="1400">
                <a:solidFill>
                  <a:srgbClr val="333333"/>
                </a:solidFill>
                <a:latin typeface="Calibri"/>
              </a:defRPr>
            </a:pPr>
            <a:r>
              <a:t>Growth (CAGR): Not available</a:t>
            </a:r>
          </a:p>
          <a:p>
            <a:pPr>
              <a:spcBef>
                <a:spcPts val="200"/>
              </a:spcBef>
              <a:spcAft>
                <a:spcPts val="200"/>
              </a:spcAft>
              <a:defRPr sz="1400">
                <a:solidFill>
                  <a:srgbClr val="333333"/>
                </a:solidFill>
                <a:latin typeface="Calibri"/>
              </a:defRPr>
            </a:pPr>
            <a:r>
              <a:t>Segment: luxury leather goods, specifically luxury handbags and accessories</a:t>
            </a:r>
          </a:p>
          <a:p>
            <a:pPr>
              <a:spcBef>
                <a:spcPts val="200"/>
              </a:spcBef>
              <a:spcAft>
                <a:spcPts val="200"/>
              </a:spcAft>
              <a:defRPr sz="1400">
                <a:solidFill>
                  <a:srgbClr val="333333"/>
                </a:solidFill>
                <a:latin typeface="Calibri"/>
              </a:defRPr>
            </a:pPr>
            <a:r>
              <a:t>Company share: Estimated 2-4% in luxury leather goods (Longchamp)</a:t>
            </a:r>
          </a:p>
        </p:txBody>
      </p:sp>
      <p:sp>
        <p:nvSpPr>
          <p:cNvPr id="6" name="TextBox 5"/>
          <p:cNvSpPr txBox="1"/>
          <p:nvPr/>
        </p:nvSpPr>
        <p:spPr>
          <a:xfrm>
            <a:off x="6400800" y="1645920"/>
            <a:ext cx="5486400" cy="4754880"/>
          </a:xfrm>
          <a:prstGeom prst="rect">
            <a:avLst/>
          </a:prstGeom>
          <a:noFill/>
        </p:spPr>
        <p:txBody>
          <a:bodyPr wrap="none">
            <a:spAutoFit/>
          </a:bodyPr>
          <a:lstStyle/>
          <a:p>
            <a:r>
              <a:rPr b="1" sz="2000">
                <a:solidFill>
                  <a:srgbClr val="333333"/>
                </a:solidFill>
                <a:latin typeface="Calibri"/>
              </a:rPr>
              <a:t>Trends &amp; Competitors</a:t>
            </a:r>
          </a:p>
          <a:p>
            <a:pPr>
              <a:spcBef>
                <a:spcPts val="200"/>
              </a:spcBef>
              <a:spcAft>
                <a:spcPts val="200"/>
              </a:spcAft>
              <a:defRPr sz="1400">
                <a:solidFill>
                  <a:srgbClr val="333333"/>
                </a:solidFill>
                <a:latin typeface="Calibri"/>
              </a:defRPr>
            </a:pPr>
            <a:r>
              <a:t>Sustainability and ethical sourcing in materials</a:t>
            </a:r>
          </a:p>
          <a:p>
            <a:pPr>
              <a:spcBef>
                <a:spcPts val="200"/>
              </a:spcBef>
              <a:spcAft>
                <a:spcPts val="200"/>
              </a:spcAft>
              <a:defRPr sz="1400">
                <a:solidFill>
                  <a:srgbClr val="333333"/>
                </a:solidFill>
                <a:latin typeface="Calibri"/>
              </a:defRPr>
            </a:pPr>
            <a:r>
              <a:t>Rise of 'quiet luxury' and minimalist design</a:t>
            </a:r>
          </a:p>
          <a:p>
            <a:pPr>
              <a:spcBef>
                <a:spcPts val="200"/>
              </a:spcBef>
              <a:spcAft>
                <a:spcPts val="200"/>
              </a:spcAft>
              <a:defRPr sz="1400">
                <a:solidFill>
                  <a:srgbClr val="333333"/>
                </a:solidFill>
                <a:latin typeface="Calibri"/>
              </a:defRPr>
            </a:pPr>
            <a:r>
              <a:t>Growth in online and omnichannel sales</a:t>
            </a:r>
          </a:p>
          <a:p>
            <a:pPr>
              <a:spcBef>
                <a:spcPts val="200"/>
              </a:spcBef>
              <a:spcAft>
                <a:spcPts val="200"/>
              </a:spcAft>
              <a:defRPr sz="1400">
                <a:solidFill>
                  <a:srgbClr val="333333"/>
                </a:solidFill>
                <a:latin typeface="Calibri"/>
              </a:defRPr>
            </a:pPr>
            <a:r>
              <a:t>Increasing demand for vintage and pre-owned luxury handbags</a:t>
            </a:r>
          </a:p>
          <a:p>
            <a:pPr>
              <a:spcBef>
                <a:spcPts val="200"/>
              </a:spcBef>
              <a:spcAft>
                <a:spcPts val="200"/>
              </a:spcAft>
              <a:defRPr sz="1400">
                <a:solidFill>
                  <a:srgbClr val="333333"/>
                </a:solidFill>
                <a:latin typeface="Calibri"/>
              </a:defRPr>
            </a:pPr>
            <a:r>
              <a:t>Top competitors:</a:t>
            </a:r>
          </a:p>
          <a:p>
            <a:pPr>
              <a:spcBef>
                <a:spcPts val="200"/>
              </a:spcBef>
              <a:spcAft>
                <a:spcPts val="200"/>
              </a:spcAft>
              <a:defRPr sz="1400">
                <a:solidFill>
                  <a:srgbClr val="333333"/>
                </a:solidFill>
                <a:latin typeface="Calibri"/>
              </a:defRPr>
            </a:pPr>
            <a:r>
              <a:t>Hermès (Estimated 20-25% in luxury handbags)</a:t>
            </a:r>
          </a:p>
          <a:p>
            <a:pPr>
              <a:spcBef>
                <a:spcPts val="200"/>
              </a:spcBef>
              <a:spcAft>
                <a:spcPts val="200"/>
              </a:spcAft>
              <a:defRPr sz="1400">
                <a:solidFill>
                  <a:srgbClr val="333333"/>
                </a:solidFill>
                <a:latin typeface="Calibri"/>
              </a:defRPr>
            </a:pPr>
            <a:r>
              <a:t>Louis Vuitton (Estimated 15-20% in luxury handbags)</a:t>
            </a:r>
          </a:p>
          <a:p>
            <a:pPr>
              <a:spcBef>
                <a:spcPts val="200"/>
              </a:spcBef>
              <a:spcAft>
                <a:spcPts val="200"/>
              </a:spcAft>
              <a:defRPr sz="1400">
                <a:solidFill>
                  <a:srgbClr val="333333"/>
                </a:solidFill>
                <a:latin typeface="Calibri"/>
              </a:defRPr>
            </a:pPr>
            <a:r>
              <a:t>Chanel (Estimated 10-15% in luxury handbags)</a:t>
            </a:r>
          </a:p>
          <a:p>
            <a:pPr>
              <a:spcBef>
                <a:spcPts val="200"/>
              </a:spcBef>
              <a:spcAft>
                <a:spcPts val="200"/>
              </a:spcAft>
              <a:defRPr sz="1400">
                <a:solidFill>
                  <a:srgbClr val="333333"/>
                </a:solidFill>
                <a:latin typeface="Calibri"/>
              </a:defRPr>
            </a:pPr>
            <a:r>
              <a:t>Gucci (Estimated 8-12% in luxury handbags)</a:t>
            </a:r>
          </a:p>
          <a:p>
            <a:pPr>
              <a:spcBef>
                <a:spcPts val="200"/>
              </a:spcBef>
              <a:spcAft>
                <a:spcPts val="200"/>
              </a:spcAft>
              <a:defRPr sz="1400">
                <a:solidFill>
                  <a:srgbClr val="333333"/>
                </a:solidFill>
                <a:latin typeface="Calibri"/>
              </a:defRPr>
            </a:pPr>
            <a:r>
              <a:t>Coach (Estimated 5-8% in luxury leather goods)</a:t>
            </a:r>
          </a:p>
          <a:p>
            <a:pPr>
              <a:spcBef>
                <a:spcPts val="200"/>
              </a:spcBef>
              <a:spcAft>
                <a:spcPts val="200"/>
              </a:spcAft>
              <a:defRPr sz="1400">
                <a:solidFill>
                  <a:srgbClr val="333333"/>
                </a:solidFill>
                <a:latin typeface="Calibri"/>
              </a:defRPr>
            </a:pPr>
            <a:r>
              <a:t>Prada (Estimated 5-7% in luxury leather goods)</a:t>
            </a:r>
          </a:p>
          <a:p>
            <a:pPr>
              <a:spcBef>
                <a:spcPts val="200"/>
              </a:spcBef>
              <a:spcAft>
                <a:spcPts val="200"/>
              </a:spcAft>
              <a:defRPr sz="1400">
                <a:solidFill>
                  <a:srgbClr val="333333"/>
                </a:solidFill>
                <a:latin typeface="Calibri"/>
              </a:defRPr>
            </a:pPr>
            <a:r>
              <a:t>Furla (Estimated 3-5% in luxury leather goods)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972800" cy="548640"/>
          </a:xfrm>
          <a:prstGeom prst="rect">
            <a:avLst/>
          </a:prstGeom>
          <a:noFill/>
        </p:spPr>
        <p:txBody>
          <a:bodyPr wrap="none">
            <a:spAutoFit/>
          </a:bodyPr>
          <a:lstStyle/>
          <a:p>
            <a:pPr algn="l"/>
            <a:r>
              <a:rPr b="1" sz="2200">
                <a:solidFill>
                  <a:srgbClr val="FFFFFF"/>
                </a:solidFill>
                <a:latin typeface="Calibri"/>
              </a:rPr>
              <a:t>Financial Snapshot</a:t>
            </a:r>
          </a:p>
        </p:txBody>
      </p:sp>
      <p:sp>
        <p:nvSpPr>
          <p:cNvPr id="5" name="TextBox 4"/>
          <p:cNvSpPr txBox="1"/>
          <p:nvPr/>
        </p:nvSpPr>
        <p:spPr>
          <a:xfrm>
            <a:off x="685800" y="1280160"/>
            <a:ext cx="5669280" cy="457200"/>
          </a:xfrm>
          <a:prstGeom prst="rect">
            <a:avLst/>
          </a:prstGeom>
          <a:noFill/>
        </p:spPr>
        <p:txBody>
          <a:bodyPr wrap="none">
            <a:spAutoFit/>
          </a:bodyPr>
          <a:lstStyle/>
          <a:p>
            <a:r>
              <a:rPr b="1" sz="2000">
                <a:solidFill>
                  <a:srgbClr val="333333"/>
                </a:solidFill>
                <a:latin typeface="Calibri"/>
              </a:rPr>
              <a:t>Key Financials</a:t>
            </a:r>
          </a:p>
        </p:txBody>
      </p:sp>
      <p:graphicFrame>
        <p:nvGraphicFramePr>
          <p:cNvPr id="6" name="Table 5"/>
          <p:cNvGraphicFramePr>
            <a:graphicFrameLocks noGrp="1"/>
          </p:cNvGraphicFramePr>
          <p:nvPr/>
        </p:nvGraphicFramePr>
        <p:xfrm>
          <a:off x="685800" y="1737360"/>
          <a:ext cx="5669280" cy="4754880"/>
        </p:xfrm>
        <a:graphic>
          <a:graphicData uri="http://schemas.openxmlformats.org/drawingml/2006/table">
            <a:tbl>
              <a:tblPr firstRow="1" bandRow="1">
                <a:tableStyleId>{5C22544A-7EE6-4342-B048-85BDC9FD1C3A}</a:tableStyleId>
              </a:tblPr>
              <a:tblGrid>
                <a:gridCol w="2834640"/>
                <a:gridCol w="2834640"/>
              </a:tblGrid>
              <a:tr h="594360">
                <a:tc>
                  <a:txBody>
                    <a:bodyPr/>
                    <a:lstStyle/>
                    <a:p>
                      <a:pPr>
                        <a:defRPr b="1" sz="1200">
                          <a:solidFill>
                            <a:srgbClr val="FFFFFF"/>
                          </a:solidFill>
                          <a:latin typeface="Calibri"/>
                        </a:defRPr>
                      </a:pPr>
                      <a:r>
                        <a:t>Metric</a:t>
                      </a:r>
                    </a:p>
                  </a:txBody>
                  <a:tcPr>
                    <a:solidFill>
                      <a:srgbClr val="1B2A4A"/>
                    </a:solidFill>
                  </a:tcPr>
                </a:tc>
                <a:tc>
                  <a:txBody>
                    <a:bodyPr/>
                    <a:lstStyle/>
                    <a:p>
                      <a:pPr>
                        <a:defRPr b="1" sz="1200">
                          <a:solidFill>
                            <a:srgbClr val="FFFFFF"/>
                          </a:solidFill>
                          <a:latin typeface="Calibri"/>
                        </a:defRPr>
                      </a:pPr>
                      <a:r>
                        <a:t>Value</a:t>
                      </a:r>
                    </a:p>
                  </a:txBody>
                  <a:tcPr>
                    <a:solidFill>
                      <a:srgbClr val="1B2A4A"/>
                    </a:solidFill>
                  </a:tcPr>
                </a:tc>
              </a:tr>
              <a:tr h="594360">
                <a:tc>
                  <a:txBody>
                    <a:bodyPr/>
                    <a:lstStyle/>
                    <a:p>
                      <a:pPr>
                        <a:defRPr sz="1100">
                          <a:solidFill>
                            <a:srgbClr val="333333"/>
                          </a:solidFill>
                          <a:latin typeface="Calibri"/>
                        </a:defRPr>
                      </a:pPr>
                      <a:r>
                        <a:t>Revenue</a:t>
                      </a:r>
                    </a:p>
                  </a:txBody>
                  <a:tcPr>
                    <a:solidFill>
                      <a:srgbClr val="FFFFFF"/>
                    </a:solidFill>
                  </a:tcPr>
                </a:tc>
                <a:tc>
                  <a:txBody>
                    <a:bodyPr/>
                    <a:lstStyle/>
                    <a:p>
                      <a:pPr>
                        <a:defRPr sz="1100">
                          <a:solidFill>
                            <a:srgbClr val="333333"/>
                          </a:solidFill>
                          <a:latin typeface="Calibri"/>
                        </a:defRPr>
                      </a:pPr>
                      <a:r>
                        <a:t>1200</a:t>
                      </a:r>
                    </a:p>
                  </a:txBody>
                  <a:tcPr>
                    <a:solidFill>
                      <a:srgbClr val="FFFFFF"/>
                    </a:solidFill>
                  </a:tcPr>
                </a:tc>
              </a:tr>
              <a:tr h="594360">
                <a:tc>
                  <a:txBody>
                    <a:bodyPr/>
                    <a:lstStyle/>
                    <a:p>
                      <a:pPr>
                        <a:defRPr sz="1100">
                          <a:solidFill>
                            <a:srgbClr val="333333"/>
                          </a:solidFill>
                          <a:latin typeface="Calibri"/>
                        </a:defRPr>
                      </a:pPr>
                      <a:r>
                        <a:t>Revenue growth</a:t>
                      </a:r>
                    </a:p>
                  </a:txBody>
                  <a:tcPr>
                    <a:solidFill>
                      <a:srgbClr val="FAFAFA"/>
                    </a:solidFill>
                  </a:tcPr>
                </a:tc>
                <a:tc>
                  <a:txBody>
                    <a:bodyPr/>
                    <a:lstStyle/>
                    <a:p>
                      <a:pPr>
                        <a:defRPr sz="1100">
                          <a:solidFill>
                            <a:srgbClr val="333333"/>
                          </a:solidFill>
                          <a:latin typeface="Calibri"/>
                        </a:defRPr>
                      </a:pPr>
                      <a:r>
                        <a:t>0.0476</a:t>
                      </a:r>
                    </a:p>
                  </a:txBody>
                  <a:tcPr>
                    <a:solidFill>
                      <a:srgbClr val="FAFAFA"/>
                    </a:solidFill>
                  </a:tcPr>
                </a:tc>
              </a:tr>
              <a:tr h="594360">
                <a:tc>
                  <a:txBody>
                    <a:bodyPr/>
                    <a:lstStyle/>
                    <a:p>
                      <a:pPr>
                        <a:defRPr sz="1100">
                          <a:solidFill>
                            <a:srgbClr val="333333"/>
                          </a:solidFill>
                          <a:latin typeface="Calibri"/>
                        </a:defRPr>
                      </a:pPr>
                      <a:r>
                        <a:t>Gross margin</a:t>
                      </a:r>
                    </a:p>
                  </a:txBody>
                  <a:tcPr>
                    <a:solidFill>
                      <a:srgbClr val="FFFFFF"/>
                    </a:solidFill>
                  </a:tcPr>
                </a:tc>
                <a:tc>
                  <a:txBody>
                    <a:bodyPr/>
                    <a:lstStyle/>
                    <a:p>
                      <a:pPr>
                        <a:defRPr sz="1100">
                          <a:solidFill>
                            <a:srgbClr val="333333"/>
                          </a:solidFill>
                          <a:latin typeface="Calibri"/>
                        </a:defRPr>
                      </a:pPr>
                      <a:r>
                        <a:t>0.65</a:t>
                      </a:r>
                    </a:p>
                  </a:txBody>
                  <a:tcPr>
                    <a:solidFill>
                      <a:srgbClr val="FFFFFF"/>
                    </a:solidFill>
                  </a:tcPr>
                </a:tc>
              </a:tr>
              <a:tr h="594360">
                <a:tc>
                  <a:txBody>
                    <a:bodyPr/>
                    <a:lstStyle/>
                    <a:p>
                      <a:pPr>
                        <a:defRPr sz="1100">
                          <a:solidFill>
                            <a:srgbClr val="333333"/>
                          </a:solidFill>
                          <a:latin typeface="Calibri"/>
                        </a:defRPr>
                      </a:pPr>
                      <a:r>
                        <a:t>EBITDA margin</a:t>
                      </a:r>
                    </a:p>
                  </a:txBody>
                  <a:tcPr>
                    <a:solidFill>
                      <a:srgbClr val="FAFAFA"/>
                    </a:solidFill>
                  </a:tcPr>
                </a:tc>
                <a:tc>
                  <a:txBody>
                    <a:bodyPr/>
                    <a:lstStyle/>
                    <a:p>
                      <a:pPr>
                        <a:defRPr sz="1100">
                          <a:solidFill>
                            <a:srgbClr val="333333"/>
                          </a:solidFill>
                          <a:latin typeface="Calibri"/>
                        </a:defRPr>
                      </a:pPr>
                      <a:r>
                        <a:t>0.15</a:t>
                      </a:r>
                    </a:p>
                  </a:txBody>
                  <a:tcPr>
                    <a:solidFill>
                      <a:srgbClr val="FAFAFA"/>
                    </a:solidFill>
                  </a:tcPr>
                </a:tc>
              </a:tr>
              <a:tr h="594360">
                <a:tc>
                  <a:txBody>
                    <a:bodyPr/>
                    <a:lstStyle/>
                    <a:p>
                      <a:pPr>
                        <a:defRPr sz="1100">
                          <a:solidFill>
                            <a:srgbClr val="333333"/>
                          </a:solidFill>
                          <a:latin typeface="Calibri"/>
                        </a:defRPr>
                      </a:pPr>
                      <a:r>
                        <a:t>Net margin</a:t>
                      </a:r>
                    </a:p>
                  </a:txBody>
                  <a:tcPr>
                    <a:solidFill>
                      <a:srgbClr val="FFFFFF"/>
                    </a:solidFill>
                  </a:tcPr>
                </a:tc>
                <a:tc>
                  <a:txBody>
                    <a:bodyPr/>
                    <a:lstStyle/>
                    <a:p>
                      <a:pPr>
                        <a:defRPr sz="1100">
                          <a:solidFill>
                            <a:srgbClr val="333333"/>
                          </a:solidFill>
                          <a:latin typeface="Calibri"/>
                        </a:defRPr>
                      </a:pPr>
                      <a:r>
                        <a:t>0.08</a:t>
                      </a:r>
                    </a:p>
                  </a:txBody>
                  <a:tcPr>
                    <a:solidFill>
                      <a:srgbClr val="FFFFFF"/>
                    </a:solidFill>
                  </a:tcPr>
                </a:tc>
              </a:tr>
              <a:tr h="594360">
                <a:tc>
                  <a:txBody>
                    <a:bodyPr/>
                    <a:lstStyle/>
                    <a:p>
                      <a:pPr>
                        <a:defRPr sz="1100">
                          <a:solidFill>
                            <a:srgbClr val="333333"/>
                          </a:solidFill>
                          <a:latin typeface="Calibri"/>
                        </a:defRPr>
                      </a:pPr>
                      <a:r>
                        <a:t>Free cash flow</a:t>
                      </a:r>
                    </a:p>
                  </a:txBody>
                  <a:tcPr>
                    <a:solidFill>
                      <a:srgbClr val="FAFAFA"/>
                    </a:solidFill>
                  </a:tcPr>
                </a:tc>
                <a:tc>
                  <a:txBody>
                    <a:bodyPr/>
                    <a:lstStyle/>
                    <a:p>
                      <a:pPr>
                        <a:defRPr sz="1100">
                          <a:solidFill>
                            <a:srgbClr val="333333"/>
                          </a:solidFill>
                          <a:latin typeface="Calibri"/>
                        </a:defRPr>
                      </a:pPr>
                      <a:r>
                        <a:t>N/A</a:t>
                      </a:r>
                    </a:p>
                  </a:txBody>
                  <a:tcPr>
                    <a:solidFill>
                      <a:srgbClr val="FAFAFA"/>
                    </a:solidFill>
                  </a:tcPr>
                </a:tc>
              </a:tr>
              <a:tr h="594360">
                <a:tc>
                  <a:txBody>
                    <a:bodyPr/>
                    <a:lstStyle/>
                    <a:p>
                      <a:pPr>
                        <a:defRPr sz="1100">
                          <a:solidFill>
                            <a:srgbClr val="333333"/>
                          </a:solidFill>
                          <a:latin typeface="Calibri"/>
                        </a:defRPr>
                      </a:pPr>
                      <a:r>
                        <a:t>Debt/Equity</a:t>
                      </a:r>
                    </a:p>
                  </a:txBody>
                  <a:tcPr>
                    <a:solidFill>
                      <a:srgbClr val="FFFFFF"/>
                    </a:solidFill>
                  </a:tcPr>
                </a:tc>
                <a:tc>
                  <a:txBody>
                    <a:bodyPr/>
                    <a:lstStyle/>
                    <a:p>
                      <a:pPr>
                        <a:defRPr sz="1100">
                          <a:solidFill>
                            <a:srgbClr val="333333"/>
                          </a:solidFill>
                          <a:latin typeface="Calibri"/>
                        </a:defRPr>
                      </a:pPr>
                      <a:r>
                        <a:t>N/A</a:t>
                      </a:r>
                    </a:p>
                  </a:txBody>
                  <a:tcPr>
                    <a:solidFill>
                      <a:srgbClr val="FFFFFF"/>
                    </a:solidFill>
                  </a:tcPr>
                </a:tc>
              </a:tr>
            </a:tbl>
          </a:graphicData>
        </a:graphic>
      </p:graphicFrame>
      <p:sp>
        <p:nvSpPr>
          <p:cNvPr id="7" name="TextBox 6"/>
          <p:cNvSpPr txBox="1"/>
          <p:nvPr/>
        </p:nvSpPr>
        <p:spPr>
          <a:xfrm>
            <a:off x="6492240" y="1280160"/>
            <a:ext cx="4983480" cy="457200"/>
          </a:xfrm>
          <a:prstGeom prst="rect">
            <a:avLst/>
          </a:prstGeom>
          <a:noFill/>
        </p:spPr>
        <p:txBody>
          <a:bodyPr wrap="none">
            <a:spAutoFit/>
          </a:bodyPr>
          <a:lstStyle/>
          <a:p>
            <a:r>
              <a:rPr b="1" sz="2000">
                <a:solidFill>
                  <a:srgbClr val="333333"/>
                </a:solidFill>
                <a:latin typeface="Calibri"/>
              </a:rPr>
              <a:t>Outlook (Projections)</a:t>
            </a:r>
          </a:p>
        </p:txBody>
      </p:sp>
      <p:graphicFrame>
        <p:nvGraphicFramePr>
          <p:cNvPr id="8" name="Table 7"/>
          <p:cNvGraphicFramePr>
            <a:graphicFrameLocks noGrp="1"/>
          </p:cNvGraphicFramePr>
          <p:nvPr/>
        </p:nvGraphicFramePr>
        <p:xfrm>
          <a:off x="6492240" y="1737360"/>
          <a:ext cx="4983480" cy="4754880"/>
        </p:xfrm>
        <a:graphic>
          <a:graphicData uri="http://schemas.openxmlformats.org/drawingml/2006/table">
            <a:tbl>
              <a:tblPr firstRow="1" bandRow="1">
                <a:tableStyleId>{5C22544A-7EE6-4342-B048-85BDC9FD1C3A}</a:tableStyleId>
              </a:tblPr>
              <a:tblGrid>
                <a:gridCol w="1245870"/>
                <a:gridCol w="1245870"/>
                <a:gridCol w="1245870"/>
                <a:gridCol w="1245870"/>
              </a:tblGrid>
              <a:tr h="2377440">
                <a:tc>
                  <a:txBody>
                    <a:bodyPr/>
                    <a:lstStyle/>
                    <a:p>
                      <a:pPr>
                        <a:defRPr b="1" sz="1200">
                          <a:solidFill>
                            <a:srgbClr val="FFFFFF"/>
                          </a:solidFill>
                          <a:latin typeface="Calibri"/>
                        </a:defRPr>
                      </a:pPr>
                      <a:r>
                        <a:t>Year</a:t>
                      </a:r>
                    </a:p>
                  </a:txBody>
                  <a:tcPr>
                    <a:solidFill>
                      <a:srgbClr val="1B2A4A"/>
                    </a:solidFill>
                  </a:tcPr>
                </a:tc>
                <a:tc>
                  <a:txBody>
                    <a:bodyPr/>
                    <a:lstStyle/>
                    <a:p>
                      <a:pPr>
                        <a:defRPr b="1" sz="1200">
                          <a:solidFill>
                            <a:srgbClr val="FFFFFF"/>
                          </a:solidFill>
                          <a:latin typeface="Calibri"/>
                        </a:defRPr>
                      </a:pPr>
                      <a:r>
                        <a:t>Revenue</a:t>
                      </a:r>
                    </a:p>
                  </a:txBody>
                  <a:tcPr>
                    <a:solidFill>
                      <a:srgbClr val="1B2A4A"/>
                    </a:solidFill>
                  </a:tcPr>
                </a:tc>
                <a:tc>
                  <a:txBody>
                    <a:bodyPr/>
                    <a:lstStyle/>
                    <a:p>
                      <a:pPr>
                        <a:defRPr b="1" sz="1200">
                          <a:solidFill>
                            <a:srgbClr val="FFFFFF"/>
                          </a:solidFill>
                          <a:latin typeface="Calibri"/>
                        </a:defRPr>
                      </a:pPr>
                      <a:r>
                        <a:t>Growth</a:t>
                      </a:r>
                    </a:p>
                  </a:txBody>
                  <a:tcPr>
                    <a:solidFill>
                      <a:srgbClr val="1B2A4A"/>
                    </a:solidFill>
                  </a:tcPr>
                </a:tc>
                <a:tc>
                  <a:txBody>
                    <a:bodyPr/>
                    <a:lstStyle/>
                    <a:p>
                      <a:pPr>
                        <a:defRPr b="1" sz="1200">
                          <a:solidFill>
                            <a:srgbClr val="FFFFFF"/>
                          </a:solidFill>
                          <a:latin typeface="Calibri"/>
                        </a:defRPr>
                      </a:pPr>
                      <a:r>
                        <a:t>EBITDA %</a:t>
                      </a:r>
                    </a:p>
                  </a:txBody>
                  <a:tcPr>
                    <a:solidFill>
                      <a:srgbClr val="1B2A4A"/>
                    </a:solidFill>
                  </a:tcPr>
                </a:tc>
              </a:tr>
              <a:tr h="2377440">
                <a:tc>
                  <a:txBody>
                    <a:bodyPr/>
                    <a:lstStyle/>
                    <a:p>
                      <a:pPr>
                        <a:defRPr sz="1100">
                          <a:solidFill>
                            <a:srgbClr val="333333"/>
                          </a:solidFill>
                          <a:latin typeface="Calibri"/>
                        </a:defRPr>
                      </a:pPr>
                      <a:r>
                        <a:t>—</a:t>
                      </a:r>
                    </a:p>
                  </a:txBody>
                  <a:tcPr>
                    <a:solidFill>
                      <a:srgbClr val="FFFFFF"/>
                    </a:solidFill>
                  </a:tcPr>
                </a:tc>
                <a:tc>
                  <a:txBody>
                    <a:bodyPr/>
                    <a:lstStyle/>
                    <a:p>
                      <a:pPr>
                        <a:defRPr sz="1100">
                          <a:solidFill>
                            <a:srgbClr val="333333"/>
                          </a:solidFill>
                          <a:latin typeface="Calibri"/>
                        </a:defRPr>
                      </a:pPr>
                      <a:r>
                        <a:t>No projections provided.</a:t>
                      </a:r>
                    </a:p>
                  </a:txBody>
                  <a:tcPr>
                    <a:solidFill>
                      <a:srgbClr val="FFFFFF"/>
                    </a:solidFill>
                  </a:tcPr>
                </a:tc>
                <a:tc>
                  <a:txBody>
                    <a:bodyPr/>
                    <a:lstStyle/>
                    <a:p>
                      <a:pPr>
                        <a:defRPr sz="1100">
                          <a:solidFill>
                            <a:srgbClr val="333333"/>
                          </a:solidFill>
                          <a:latin typeface="Calibri"/>
                        </a:defRPr>
                      </a:pPr>
                    </a:p>
                  </a:txBody>
                  <a:tcPr>
                    <a:solidFill>
                      <a:srgbClr val="FFFFFF"/>
                    </a:solidFill>
                  </a:tcPr>
                </a:tc>
                <a:tc>
                  <a:txBody>
                    <a:bodyPr/>
                    <a:lstStyle/>
                    <a:p>
                      <a:pPr>
                        <a:defRPr sz="1100">
                          <a:solidFill>
                            <a:srgbClr val="333333"/>
                          </a:solidFill>
                          <a:latin typeface="Calibri"/>
                        </a:defRPr>
                      </a:pP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972800" cy="548640"/>
          </a:xfrm>
          <a:prstGeom prst="rect">
            <a:avLst/>
          </a:prstGeom>
          <a:noFill/>
        </p:spPr>
        <p:txBody>
          <a:bodyPr wrap="none">
            <a:spAutoFit/>
          </a:bodyPr>
          <a:lstStyle/>
          <a:p>
            <a:pPr algn="l"/>
            <a:r>
              <a:rPr b="1" sz="2200">
                <a:solidFill>
                  <a:srgbClr val="FFFFFF"/>
                </a:solidFill>
                <a:latin typeface="Calibri"/>
              </a:rPr>
              <a:t>Valuation Summary</a:t>
            </a:r>
          </a:p>
        </p:txBody>
      </p:sp>
      <p:sp>
        <p:nvSpPr>
          <p:cNvPr id="5" name="TextBox 4"/>
          <p:cNvSpPr txBox="1"/>
          <p:nvPr/>
        </p:nvSpPr>
        <p:spPr>
          <a:xfrm>
            <a:off x="685800" y="1280160"/>
            <a:ext cx="5394960" cy="5212080"/>
          </a:xfrm>
          <a:prstGeom prst="rect">
            <a:avLst/>
          </a:prstGeom>
          <a:noFill/>
        </p:spPr>
        <p:txBody>
          <a:bodyPr wrap="none">
            <a:spAutoFit/>
          </a:bodyPr>
          <a:lstStyle/>
          <a:p>
            <a:r>
              <a:rPr b="1" sz="2000">
                <a:solidFill>
                  <a:srgbClr val="333333"/>
                </a:solidFill>
                <a:latin typeface="Calibri"/>
              </a:rPr>
              <a:t>Conclusion</a:t>
            </a:r>
          </a:p>
          <a:p>
            <a:pPr>
              <a:spcBef>
                <a:spcPts val="200"/>
              </a:spcBef>
              <a:spcAft>
                <a:spcPts val="200"/>
              </a:spcAft>
              <a:defRPr sz="1400">
                <a:solidFill>
                  <a:srgbClr val="333333"/>
                </a:solidFill>
                <a:latin typeface="Calibri"/>
              </a:defRPr>
            </a:pPr>
            <a:r>
              <a:t>Implied value: 3411.7</a:t>
            </a:r>
          </a:p>
          <a:p>
            <a:pPr>
              <a:spcBef>
                <a:spcPts val="200"/>
              </a:spcBef>
              <a:spcAft>
                <a:spcPts val="200"/>
              </a:spcAft>
              <a:defRPr sz="1400">
                <a:solidFill>
                  <a:srgbClr val="333333"/>
                </a:solidFill>
                <a:latin typeface="Calibri"/>
              </a:defRPr>
            </a:pPr>
            <a:r>
              <a:t>Upside/Downside: N/A</a:t>
            </a:r>
          </a:p>
          <a:p>
            <a:pPr>
              <a:spcBef>
                <a:spcPts val="200"/>
              </a:spcBef>
              <a:spcAft>
                <a:spcPts val="200"/>
              </a:spcAft>
              <a:defRPr sz="1400">
                <a:solidFill>
                  <a:srgbClr val="333333"/>
                </a:solidFill>
                <a:latin typeface="Calibri"/>
              </a:defRPr>
            </a:pPr>
            <a:r>
              <a:t>Recommendation: HOLD</a:t>
            </a:r>
          </a:p>
          <a:p>
            <a:pPr>
              <a:spcBef>
                <a:spcPts val="200"/>
              </a:spcBef>
              <a:spcAft>
                <a:spcPts val="200"/>
              </a:spcAft>
              <a:defRPr sz="1400">
                <a:solidFill>
                  <a:srgbClr val="333333"/>
                </a:solidFill>
                <a:latin typeface="Calibri"/>
              </a:defRPr>
            </a:pPr>
            <a:r>
              <a:t>Currency: USD</a:t>
            </a:r>
          </a:p>
          <a:p>
            <a:pPr>
              <a:spcBef>
                <a:spcPts val="200"/>
              </a:spcBef>
              <a:spcAft>
                <a:spcPts val="200"/>
              </a:spcAft>
              <a:defRPr sz="1400">
                <a:solidFill>
                  <a:srgbClr val="333333"/>
                </a:solidFill>
                <a:latin typeface="Calibri"/>
              </a:defRPr>
            </a:pPr>
            <a:r>
              <a:t>DCF: WACC 10.00%, TGR 2.00%</a:t>
            </a:r>
          </a:p>
        </p:txBody>
      </p:sp>
      <p:sp>
        <p:nvSpPr>
          <p:cNvPr id="6" name="TextBox 5"/>
          <p:cNvSpPr txBox="1"/>
          <p:nvPr/>
        </p:nvSpPr>
        <p:spPr>
          <a:xfrm>
            <a:off x="6309360" y="1280160"/>
            <a:ext cx="5166360" cy="457200"/>
          </a:xfrm>
          <a:prstGeom prst="rect">
            <a:avLst/>
          </a:prstGeom>
          <a:noFill/>
        </p:spPr>
        <p:txBody>
          <a:bodyPr wrap="none">
            <a:spAutoFit/>
          </a:bodyPr>
          <a:lstStyle/>
          <a:p>
            <a:r>
              <a:rPr b="1" sz="2000">
                <a:solidFill>
                  <a:srgbClr val="333333"/>
                </a:solidFill>
                <a:latin typeface="Calibri"/>
              </a:rPr>
              <a:t>Methods</a:t>
            </a:r>
          </a:p>
        </p:txBody>
      </p:sp>
      <p:graphicFrame>
        <p:nvGraphicFramePr>
          <p:cNvPr id="7" name="Table 6"/>
          <p:cNvGraphicFramePr>
            <a:graphicFrameLocks noGrp="1"/>
          </p:cNvGraphicFramePr>
          <p:nvPr/>
        </p:nvGraphicFramePr>
        <p:xfrm>
          <a:off x="6309360" y="1737360"/>
          <a:ext cx="5166360" cy="4754880"/>
        </p:xfrm>
        <a:graphic>
          <a:graphicData uri="http://schemas.openxmlformats.org/drawingml/2006/table">
            <a:tbl>
              <a:tblPr firstRow="1" bandRow="1">
                <a:tableStyleId>{5C22544A-7EE6-4342-B048-85BDC9FD1C3A}</a:tableStyleId>
              </a:tblPr>
              <a:tblGrid>
                <a:gridCol w="1033272"/>
                <a:gridCol w="1033272"/>
                <a:gridCol w="1033272"/>
                <a:gridCol w="1033272"/>
                <a:gridCol w="1033272"/>
              </a:tblGrid>
              <a:tr h="1188720">
                <a:tc>
                  <a:txBody>
                    <a:bodyPr/>
                    <a:lstStyle/>
                    <a:p>
                      <a:pPr>
                        <a:defRPr b="1" sz="1200">
                          <a:solidFill>
                            <a:srgbClr val="FFFFFF"/>
                          </a:solidFill>
                          <a:latin typeface="Calibri"/>
                        </a:defRPr>
                      </a:pPr>
                      <a:r>
                        <a:t>Method</a:t>
                      </a:r>
                    </a:p>
                  </a:txBody>
                  <a:tcPr>
                    <a:solidFill>
                      <a:srgbClr val="1B2A4A"/>
                    </a:solidFill>
                  </a:tcPr>
                </a:tc>
                <a:tc>
                  <a:txBody>
                    <a:bodyPr/>
                    <a:lstStyle/>
                    <a:p>
                      <a:pPr>
                        <a:defRPr b="1" sz="1200">
                          <a:solidFill>
                            <a:srgbClr val="FFFFFF"/>
                          </a:solidFill>
                          <a:latin typeface="Calibri"/>
                        </a:defRPr>
                      </a:pPr>
                      <a:r>
                        <a:t>Low</a:t>
                      </a:r>
                    </a:p>
                  </a:txBody>
                  <a:tcPr>
                    <a:solidFill>
                      <a:srgbClr val="1B2A4A"/>
                    </a:solidFill>
                  </a:tcPr>
                </a:tc>
                <a:tc>
                  <a:txBody>
                    <a:bodyPr/>
                    <a:lstStyle/>
                    <a:p>
                      <a:pPr>
                        <a:defRPr b="1" sz="1200">
                          <a:solidFill>
                            <a:srgbClr val="FFFFFF"/>
                          </a:solidFill>
                          <a:latin typeface="Calibri"/>
                        </a:defRPr>
                      </a:pPr>
                      <a:r>
                        <a:t>Mid</a:t>
                      </a:r>
                    </a:p>
                  </a:txBody>
                  <a:tcPr>
                    <a:solidFill>
                      <a:srgbClr val="1B2A4A"/>
                    </a:solidFill>
                  </a:tcPr>
                </a:tc>
                <a:tc>
                  <a:txBody>
                    <a:bodyPr/>
                    <a:lstStyle/>
                    <a:p>
                      <a:pPr>
                        <a:defRPr b="1" sz="1200">
                          <a:solidFill>
                            <a:srgbClr val="FFFFFF"/>
                          </a:solidFill>
                          <a:latin typeface="Calibri"/>
                        </a:defRPr>
                      </a:pPr>
                      <a:r>
                        <a:t>High</a:t>
                      </a:r>
                    </a:p>
                  </a:txBody>
                  <a:tcPr>
                    <a:solidFill>
                      <a:srgbClr val="1B2A4A"/>
                    </a:solidFill>
                  </a:tcPr>
                </a:tc>
                <a:tc>
                  <a:txBody>
                    <a:bodyPr/>
                    <a:lstStyle/>
                    <a:p>
                      <a:pPr>
                        <a:defRPr b="1" sz="1200">
                          <a:solidFill>
                            <a:srgbClr val="FFFFFF"/>
                          </a:solidFill>
                          <a:latin typeface="Calibri"/>
                        </a:defRPr>
                      </a:pPr>
                      <a:r>
                        <a:t>Weight</a:t>
                      </a:r>
                    </a:p>
                  </a:txBody>
                  <a:tcPr>
                    <a:solidFill>
                      <a:srgbClr val="1B2A4A"/>
                    </a:solidFill>
                  </a:tcPr>
                </a:tc>
              </a:tr>
              <a:tr h="1188720">
                <a:tc>
                  <a:txBody>
                    <a:bodyPr/>
                    <a:lstStyle/>
                    <a:p>
                      <a:pPr>
                        <a:defRPr sz="1100">
                          <a:solidFill>
                            <a:srgbClr val="333333"/>
                          </a:solidFill>
                          <a:latin typeface="Calibri"/>
                        </a:defRPr>
                      </a:pPr>
                      <a:r>
                        <a:t>DCF</a:t>
                      </a:r>
                    </a:p>
                  </a:txBody>
                  <a:tcPr>
                    <a:solidFill>
                      <a:srgbClr val="FFFFFF"/>
                    </a:solidFill>
                  </a:tcPr>
                </a:tc>
                <a:tc>
                  <a:txBody>
                    <a:bodyPr/>
                    <a:lstStyle/>
                    <a:p>
                      <a:pPr>
                        <a:defRPr sz="1100">
                          <a:solidFill>
                            <a:srgbClr val="333333"/>
                          </a:solidFill>
                          <a:latin typeface="Calibri"/>
                        </a:defRPr>
                      </a:pPr>
                      <a:r>
                        <a:t>—</a:t>
                      </a:r>
                    </a:p>
                  </a:txBody>
                  <a:tcPr>
                    <a:solidFill>
                      <a:srgbClr val="FFFFFF"/>
                    </a:solidFill>
                  </a:tcPr>
                </a:tc>
                <a:tc>
                  <a:txBody>
                    <a:bodyPr/>
                    <a:lstStyle/>
                    <a:p>
                      <a:pPr>
                        <a:defRPr sz="1100">
                          <a:solidFill>
                            <a:srgbClr val="333333"/>
                          </a:solidFill>
                          <a:latin typeface="Calibri"/>
                        </a:defRPr>
                      </a:pPr>
                      <a:r>
                        <a:t>701.7</a:t>
                      </a:r>
                    </a:p>
                  </a:txBody>
                  <a:tcPr>
                    <a:solidFill>
                      <a:srgbClr val="FFFFFF"/>
                    </a:solidFill>
                  </a:tcPr>
                </a:tc>
                <a:tc>
                  <a:txBody>
                    <a:bodyPr/>
                    <a:lstStyle/>
                    <a:p>
                      <a:pPr>
                        <a:defRPr sz="1100">
                          <a:solidFill>
                            <a:srgbClr val="333333"/>
                          </a:solidFill>
                          <a:latin typeface="Calibri"/>
                        </a:defRPr>
                      </a:pPr>
                      <a:r>
                        <a:t>—</a:t>
                      </a:r>
                    </a:p>
                  </a:txBody>
                  <a:tcPr>
                    <a:solidFill>
                      <a:srgbClr val="FFFFFF"/>
                    </a:solidFill>
                  </a:tcPr>
                </a:tc>
                <a:tc>
                  <a:txBody>
                    <a:bodyPr/>
                    <a:lstStyle/>
                    <a:p>
                      <a:pPr>
                        <a:defRPr sz="1100">
                          <a:solidFill>
                            <a:srgbClr val="333333"/>
                          </a:solidFill>
                          <a:latin typeface="Calibri"/>
                        </a:defRPr>
                      </a:pPr>
                      <a:r>
                        <a:t>50%</a:t>
                      </a:r>
                    </a:p>
                  </a:txBody>
                  <a:tcPr>
                    <a:solidFill>
                      <a:srgbClr val="FFFFFF"/>
                    </a:solidFill>
                  </a:tcPr>
                </a:tc>
              </a:tr>
              <a:tr h="1188720">
                <a:tc>
                  <a:txBody>
                    <a:bodyPr/>
                    <a:lstStyle/>
                    <a:p>
                      <a:pPr>
                        <a:defRPr sz="1100">
                          <a:solidFill>
                            <a:srgbClr val="333333"/>
                          </a:solidFill>
                          <a:latin typeface="Calibri"/>
                        </a:defRPr>
                      </a:pPr>
                      <a:r>
                        <a:t>Trading Comps (EV_EBITDA)</a:t>
                      </a:r>
                    </a:p>
                  </a:txBody>
                  <a:tcPr>
                    <a:solidFill>
                      <a:srgbClr val="FAFAFA"/>
                    </a:solidFill>
                  </a:tcPr>
                </a:tc>
                <a:tc>
                  <a:txBody>
                    <a:bodyPr/>
                    <a:lstStyle/>
                    <a:p>
                      <a:pPr>
                        <a:defRPr sz="1100">
                          <a:solidFill>
                            <a:srgbClr val="333333"/>
                          </a:solidFill>
                          <a:latin typeface="Calibri"/>
                        </a:defRPr>
                      </a:pPr>
                      <a:r>
                        <a:t>1912.3</a:t>
                      </a:r>
                    </a:p>
                  </a:txBody>
                  <a:tcPr>
                    <a:solidFill>
                      <a:srgbClr val="FAFAFA"/>
                    </a:solidFill>
                  </a:tcPr>
                </a:tc>
                <a:tc>
                  <a:txBody>
                    <a:bodyPr/>
                    <a:lstStyle/>
                    <a:p>
                      <a:pPr>
                        <a:defRPr sz="1100">
                          <a:solidFill>
                            <a:srgbClr val="333333"/>
                          </a:solidFill>
                          <a:latin typeface="Calibri"/>
                        </a:defRPr>
                      </a:pPr>
                      <a:r>
                        <a:t>2323.1</a:t>
                      </a:r>
                    </a:p>
                  </a:txBody>
                  <a:tcPr>
                    <a:solidFill>
                      <a:srgbClr val="FAFAFA"/>
                    </a:solidFill>
                  </a:tcPr>
                </a:tc>
                <a:tc>
                  <a:txBody>
                    <a:bodyPr/>
                    <a:lstStyle/>
                    <a:p>
                      <a:pPr>
                        <a:defRPr sz="1100">
                          <a:solidFill>
                            <a:srgbClr val="333333"/>
                          </a:solidFill>
                          <a:latin typeface="Calibri"/>
                        </a:defRPr>
                      </a:pPr>
                      <a:r>
                        <a:t>2733.8</a:t>
                      </a:r>
                    </a:p>
                  </a:txBody>
                  <a:tcPr>
                    <a:solidFill>
                      <a:srgbClr val="FAFAFA"/>
                    </a:solidFill>
                  </a:tcPr>
                </a:tc>
                <a:tc>
                  <a:txBody>
                    <a:bodyPr/>
                    <a:lstStyle/>
                    <a:p>
                      <a:pPr>
                        <a:defRPr sz="1100">
                          <a:solidFill>
                            <a:srgbClr val="333333"/>
                          </a:solidFill>
                          <a:latin typeface="Calibri"/>
                        </a:defRPr>
                      </a:pPr>
                      <a:r>
                        <a:t>30%</a:t>
                      </a:r>
                    </a:p>
                  </a:txBody>
                  <a:tcPr>
                    <a:solidFill>
                      <a:srgbClr val="FAFAFA"/>
                    </a:solidFill>
                  </a:tcPr>
                </a:tc>
              </a:tr>
              <a:tr h="1188720">
                <a:tc>
                  <a:txBody>
                    <a:bodyPr/>
                    <a:lstStyle/>
                    <a:p>
                      <a:pPr>
                        <a:defRPr sz="1100">
                          <a:solidFill>
                            <a:srgbClr val="333333"/>
                          </a:solidFill>
                          <a:latin typeface="Calibri"/>
                        </a:defRPr>
                      </a:pPr>
                      <a:r>
                        <a:t>Transaction Comps</a:t>
                      </a:r>
                    </a:p>
                  </a:txBody>
                  <a:tcPr>
                    <a:solidFill>
                      <a:srgbClr val="FFFFFF"/>
                    </a:solidFill>
                  </a:tcPr>
                </a:tc>
                <a:tc>
                  <a:txBody>
                    <a:bodyPr/>
                    <a:lstStyle/>
                    <a:p>
                      <a:pPr>
                        <a:defRPr sz="1100">
                          <a:solidFill>
                            <a:srgbClr val="333333"/>
                          </a:solidFill>
                          <a:latin typeface="Calibri"/>
                        </a:defRPr>
                      </a:pPr>
                      <a:r>
                        <a:t>—</a:t>
                      </a:r>
                    </a:p>
                  </a:txBody>
                  <a:tcPr>
                    <a:solidFill>
                      <a:srgbClr val="FFFFFF"/>
                    </a:solidFill>
                  </a:tcPr>
                </a:tc>
                <a:tc>
                  <a:txBody>
                    <a:bodyPr/>
                    <a:lstStyle/>
                    <a:p>
                      <a:pPr>
                        <a:defRPr sz="1100">
                          <a:solidFill>
                            <a:srgbClr val="333333"/>
                          </a:solidFill>
                          <a:latin typeface="Calibri"/>
                        </a:defRPr>
                      </a:pPr>
                      <a:r>
                        <a:t>11819.8</a:t>
                      </a:r>
                    </a:p>
                  </a:txBody>
                  <a:tcPr>
                    <a:solidFill>
                      <a:srgbClr val="FFFFFF"/>
                    </a:solidFill>
                  </a:tcPr>
                </a:tc>
                <a:tc>
                  <a:txBody>
                    <a:bodyPr/>
                    <a:lstStyle/>
                    <a:p>
                      <a:pPr>
                        <a:defRPr sz="1100">
                          <a:solidFill>
                            <a:srgbClr val="333333"/>
                          </a:solidFill>
                          <a:latin typeface="Calibri"/>
                        </a:defRPr>
                      </a:pPr>
                      <a:r>
                        <a:t>—</a:t>
                      </a:r>
                    </a:p>
                  </a:txBody>
                  <a:tcPr>
                    <a:solidFill>
                      <a:srgbClr val="FFFFFF"/>
                    </a:solidFill>
                  </a:tcPr>
                </a:tc>
                <a:tc>
                  <a:txBody>
                    <a:bodyPr/>
                    <a:lstStyle/>
                    <a:p>
                      <a:pPr>
                        <a:defRPr sz="1100">
                          <a:solidFill>
                            <a:srgbClr val="333333"/>
                          </a:solidFill>
                          <a:latin typeface="Calibri"/>
                        </a:defRPr>
                      </a:pPr>
                      <a:r>
                        <a:t>20%</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972800" cy="548640"/>
          </a:xfrm>
          <a:prstGeom prst="rect">
            <a:avLst/>
          </a:prstGeom>
          <a:noFill/>
        </p:spPr>
        <p:txBody>
          <a:bodyPr wrap="none">
            <a:spAutoFit/>
          </a:bodyPr>
          <a:lstStyle/>
          <a:p>
            <a:pPr algn="l"/>
            <a:r>
              <a:rPr b="1" sz="2200">
                <a:solidFill>
                  <a:srgbClr val="FFFFFF"/>
                </a:solidFill>
                <a:latin typeface="Calibri"/>
              </a:rPr>
              <a:t>Valuation Football Field — Bear / Base / Bull</a:t>
            </a:r>
          </a:p>
        </p:txBody>
      </p:sp>
      <p:sp>
        <p:nvSpPr>
          <p:cNvPr id="5" name="TextBox 4"/>
          <p:cNvSpPr txBox="1"/>
          <p:nvPr/>
        </p:nvSpPr>
        <p:spPr>
          <a:xfrm>
            <a:off x="685800" y="1188720"/>
            <a:ext cx="11064240" cy="457200"/>
          </a:xfrm>
          <a:prstGeom prst="rect">
            <a:avLst/>
          </a:prstGeom>
          <a:noFill/>
        </p:spPr>
        <p:txBody>
          <a:bodyPr wrap="none">
            <a:spAutoFit/>
          </a:bodyPr>
          <a:lstStyle/>
          <a:p>
            <a:r>
              <a:rPr b="1" sz="2000">
                <a:solidFill>
                  <a:srgbClr val="333333"/>
                </a:solidFill>
                <a:latin typeface="Calibri"/>
              </a:rPr>
              <a:t>Scenario Analysis</a:t>
            </a:r>
          </a:p>
        </p:txBody>
      </p:sp>
      <p:graphicFrame>
        <p:nvGraphicFramePr>
          <p:cNvPr id="6" name="Table 5"/>
          <p:cNvGraphicFramePr>
            <a:graphicFrameLocks noGrp="1"/>
          </p:cNvGraphicFramePr>
          <p:nvPr/>
        </p:nvGraphicFramePr>
        <p:xfrm>
          <a:off x="685800" y="1645920"/>
          <a:ext cx="11064240" cy="2743200"/>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685800">
                <a:tc>
                  <a:txBody>
                    <a:bodyPr/>
                    <a:lstStyle/>
                    <a:p>
                      <a:pPr>
                        <a:defRPr b="1" sz="1200">
                          <a:solidFill>
                            <a:srgbClr val="FFFFFF"/>
                          </a:solidFill>
                          <a:latin typeface="Calibri"/>
                        </a:defRPr>
                      </a:pPr>
                      <a:r>
                        <a:t>Scenario</a:t>
                      </a:r>
                    </a:p>
                  </a:txBody>
                  <a:tcPr>
                    <a:solidFill>
                      <a:srgbClr val="1B2A4A"/>
                    </a:solidFill>
                  </a:tcPr>
                </a:tc>
                <a:tc>
                  <a:txBody>
                    <a:bodyPr/>
                    <a:lstStyle/>
                    <a:p>
                      <a:pPr>
                        <a:defRPr b="1" sz="1200">
                          <a:solidFill>
                            <a:srgbClr val="FFFFFF"/>
                          </a:solidFill>
                          <a:latin typeface="Calibri"/>
                        </a:defRPr>
                      </a:pPr>
                      <a:r>
                        <a:t>DCF EV</a:t>
                      </a:r>
                    </a:p>
                  </a:txBody>
                  <a:tcPr>
                    <a:solidFill>
                      <a:srgbClr val="1B2A4A"/>
                    </a:solidFill>
                  </a:tcPr>
                </a:tc>
                <a:tc>
                  <a:txBody>
                    <a:bodyPr/>
                    <a:lstStyle/>
                    <a:p>
                      <a:pPr>
                        <a:defRPr b="1" sz="1200">
                          <a:solidFill>
                            <a:srgbClr val="FFFFFF"/>
                          </a:solidFill>
                          <a:latin typeface="Calibri"/>
                        </a:defRPr>
                      </a:pPr>
                      <a:r>
                        <a:t>Comps EV</a:t>
                      </a:r>
                    </a:p>
                  </a:txBody>
                  <a:tcPr>
                    <a:solidFill>
                      <a:srgbClr val="1B2A4A"/>
                    </a:solidFill>
                  </a:tcPr>
                </a:tc>
                <a:tc>
                  <a:txBody>
                    <a:bodyPr/>
                    <a:lstStyle/>
                    <a:p>
                      <a:pPr>
                        <a:defRPr b="1" sz="1200">
                          <a:solidFill>
                            <a:srgbClr val="FFFFFF"/>
                          </a:solidFill>
                          <a:latin typeface="Calibri"/>
                        </a:defRPr>
                      </a:pPr>
                      <a:r>
                        <a:t>Blended EV</a:t>
                      </a:r>
                    </a:p>
                  </a:txBody>
                  <a:tcPr>
                    <a:solidFill>
                      <a:srgbClr val="1B2A4A"/>
                    </a:solidFill>
                  </a:tcPr>
                </a:tc>
                <a:tc>
                  <a:txBody>
                    <a:bodyPr/>
                    <a:lstStyle/>
                    <a:p>
                      <a:pPr>
                        <a:defRPr b="1" sz="1200">
                          <a:solidFill>
                            <a:srgbClr val="FFFFFF"/>
                          </a:solidFill>
                          <a:latin typeface="Calibri"/>
                        </a:defRPr>
                      </a:pPr>
                      <a:r>
                        <a:t>WACC</a:t>
                      </a:r>
                    </a:p>
                  </a:txBody>
                  <a:tcPr>
                    <a:solidFill>
                      <a:srgbClr val="1B2A4A"/>
                    </a:solidFill>
                  </a:tcPr>
                </a:tc>
                <a:tc>
                  <a:txBody>
                    <a:bodyPr/>
                    <a:lstStyle/>
                    <a:p>
                      <a:pPr>
                        <a:defRPr b="1" sz="1200">
                          <a:solidFill>
                            <a:srgbClr val="FFFFFF"/>
                          </a:solidFill>
                          <a:latin typeface="Calibri"/>
                        </a:defRPr>
                      </a:pPr>
                      <a:r>
                        <a:t>EBITDA Margin</a:t>
                      </a:r>
                    </a:p>
                  </a:txBody>
                  <a:tcPr>
                    <a:solidFill>
                      <a:srgbClr val="1B2A4A"/>
                    </a:solidFill>
                  </a:tcPr>
                </a:tc>
              </a:tr>
              <a:tr h="685800">
                <a:tc>
                  <a:txBody>
                    <a:bodyPr/>
                    <a:lstStyle/>
                    <a:p>
                      <a:pPr>
                        <a:defRPr sz="1100">
                          <a:solidFill>
                            <a:srgbClr val="333333"/>
                          </a:solidFill>
                          <a:latin typeface="Calibri"/>
                        </a:defRPr>
                      </a:pPr>
                      <a:r>
                        <a:t>Bear</a:t>
                      </a:r>
                    </a:p>
                  </a:txBody>
                  <a:tcPr>
                    <a:solidFill>
                      <a:srgbClr val="FFFFFF"/>
                    </a:solidFill>
                  </a:tcPr>
                </a:tc>
                <a:tc>
                  <a:txBody>
                    <a:bodyPr/>
                    <a:lstStyle/>
                    <a:p>
                      <a:pPr>
                        <a:defRPr sz="1100">
                          <a:solidFill>
                            <a:srgbClr val="333333"/>
                          </a:solidFill>
                          <a:latin typeface="Calibri"/>
                        </a:defRPr>
                      </a:pPr>
                      <a:r>
                        <a:t>$358M</a:t>
                      </a:r>
                    </a:p>
                  </a:txBody>
                  <a:tcPr>
                    <a:solidFill>
                      <a:srgbClr val="FFFFFF"/>
                    </a:solidFill>
                  </a:tcPr>
                </a:tc>
                <a:tc>
                  <a:txBody>
                    <a:bodyPr/>
                    <a:lstStyle/>
                    <a:p>
                      <a:pPr>
                        <a:defRPr sz="1100">
                          <a:solidFill>
                            <a:srgbClr val="333333"/>
                          </a:solidFill>
                          <a:latin typeface="Calibri"/>
                        </a:defRPr>
                      </a:pPr>
                      <a:r>
                        <a:t>$138.7B</a:t>
                      </a:r>
                    </a:p>
                  </a:txBody>
                  <a:tcPr>
                    <a:solidFill>
                      <a:srgbClr val="FFFFFF"/>
                    </a:solidFill>
                  </a:tcPr>
                </a:tc>
                <a:tc>
                  <a:txBody>
                    <a:bodyPr/>
                    <a:lstStyle/>
                    <a:p>
                      <a:pPr>
                        <a:defRPr sz="1100">
                          <a:solidFill>
                            <a:srgbClr val="333333"/>
                          </a:solidFill>
                          <a:latin typeface="Calibri"/>
                        </a:defRPr>
                      </a:pPr>
                      <a:r>
                        <a:t>$43.2B</a:t>
                      </a:r>
                    </a:p>
                  </a:txBody>
                  <a:tcPr>
                    <a:solidFill>
                      <a:srgbClr val="FFFFFF"/>
                    </a:solidFill>
                  </a:tcPr>
                </a:tc>
                <a:tc>
                  <a:txBody>
                    <a:bodyPr/>
                    <a:lstStyle/>
                    <a:p>
                      <a:pPr>
                        <a:defRPr sz="1100">
                          <a:solidFill>
                            <a:srgbClr val="333333"/>
                          </a:solidFill>
                          <a:latin typeface="Calibri"/>
                        </a:defRPr>
                      </a:pPr>
                      <a:r>
                        <a:t>11.5%</a:t>
                      </a:r>
                    </a:p>
                  </a:txBody>
                  <a:tcPr>
                    <a:solidFill>
                      <a:srgbClr val="FFFFFF"/>
                    </a:solidFill>
                  </a:tcPr>
                </a:tc>
                <a:tc>
                  <a:txBody>
                    <a:bodyPr/>
                    <a:lstStyle/>
                    <a:p>
                      <a:pPr>
                        <a:defRPr sz="1100">
                          <a:solidFill>
                            <a:srgbClr val="333333"/>
                          </a:solidFill>
                          <a:latin typeface="Calibri"/>
                        </a:defRPr>
                      </a:pPr>
                      <a:r>
                        <a:t>13.0%</a:t>
                      </a:r>
                    </a:p>
                  </a:txBody>
                  <a:tcPr>
                    <a:solidFill>
                      <a:srgbClr val="FFFFFF"/>
                    </a:solidFill>
                  </a:tcPr>
                </a:tc>
              </a:tr>
              <a:tr h="685800">
                <a:tc>
                  <a:txBody>
                    <a:bodyPr/>
                    <a:lstStyle/>
                    <a:p>
                      <a:pPr>
                        <a:defRPr sz="1100">
                          <a:solidFill>
                            <a:srgbClr val="333333"/>
                          </a:solidFill>
                          <a:latin typeface="Calibri"/>
                        </a:defRPr>
                      </a:pPr>
                      <a:r>
                        <a:t>Base</a:t>
                      </a:r>
                    </a:p>
                  </a:txBody>
                  <a:tcPr>
                    <a:solidFill>
                      <a:srgbClr val="FAFAFA"/>
                    </a:solidFill>
                  </a:tcPr>
                </a:tc>
                <a:tc>
                  <a:txBody>
                    <a:bodyPr/>
                    <a:lstStyle/>
                    <a:p>
                      <a:pPr>
                        <a:defRPr sz="1100">
                          <a:solidFill>
                            <a:srgbClr val="333333"/>
                          </a:solidFill>
                          <a:latin typeface="Calibri"/>
                        </a:defRPr>
                      </a:pPr>
                      <a:r>
                        <a:t>$669M</a:t>
                      </a:r>
                    </a:p>
                  </a:txBody>
                  <a:tcPr>
                    <a:solidFill>
                      <a:srgbClr val="FAFAFA"/>
                    </a:solidFill>
                  </a:tcPr>
                </a:tc>
                <a:tc>
                  <a:txBody>
                    <a:bodyPr/>
                    <a:lstStyle/>
                    <a:p>
                      <a:pPr>
                        <a:defRPr sz="1100">
                          <a:solidFill>
                            <a:srgbClr val="333333"/>
                          </a:solidFill>
                          <a:latin typeface="Calibri"/>
                        </a:defRPr>
                      </a:pPr>
                      <a:r>
                        <a:t>$261.8B</a:t>
                      </a:r>
                    </a:p>
                  </a:txBody>
                  <a:tcPr>
                    <a:solidFill>
                      <a:srgbClr val="FAFAFA"/>
                    </a:solidFill>
                  </a:tcPr>
                </a:tc>
                <a:tc>
                  <a:txBody>
                    <a:bodyPr/>
                    <a:lstStyle/>
                    <a:p>
                      <a:pPr>
                        <a:defRPr sz="1100">
                          <a:solidFill>
                            <a:srgbClr val="333333"/>
                          </a:solidFill>
                          <a:latin typeface="Calibri"/>
                        </a:defRPr>
                      </a:pPr>
                      <a:r>
                        <a:t>$81.1B</a:t>
                      </a:r>
                    </a:p>
                  </a:txBody>
                  <a:tcPr>
                    <a:solidFill>
                      <a:srgbClr val="FAFAFA"/>
                    </a:solidFill>
                  </a:tcPr>
                </a:tc>
                <a:tc>
                  <a:txBody>
                    <a:bodyPr/>
                    <a:lstStyle/>
                    <a:p>
                      <a:pPr>
                        <a:defRPr sz="1100">
                          <a:solidFill>
                            <a:srgbClr val="333333"/>
                          </a:solidFill>
                          <a:latin typeface="Calibri"/>
                        </a:defRPr>
                      </a:pPr>
                      <a:r>
                        <a:t>10.0%</a:t>
                      </a:r>
                    </a:p>
                  </a:txBody>
                  <a:tcPr>
                    <a:solidFill>
                      <a:srgbClr val="FAFAFA"/>
                    </a:solidFill>
                  </a:tcPr>
                </a:tc>
                <a:tc>
                  <a:txBody>
                    <a:bodyPr/>
                    <a:lstStyle/>
                    <a:p>
                      <a:pPr>
                        <a:defRPr sz="1100">
                          <a:solidFill>
                            <a:srgbClr val="333333"/>
                          </a:solidFill>
                          <a:latin typeface="Calibri"/>
                        </a:defRPr>
                      </a:pPr>
                      <a:r>
                        <a:t>15.0%</a:t>
                      </a:r>
                    </a:p>
                  </a:txBody>
                  <a:tcPr>
                    <a:solidFill>
                      <a:srgbClr val="FAFAFA"/>
                    </a:solidFill>
                  </a:tcPr>
                </a:tc>
              </a:tr>
              <a:tr h="685800">
                <a:tc>
                  <a:txBody>
                    <a:bodyPr/>
                    <a:lstStyle/>
                    <a:p>
                      <a:pPr>
                        <a:defRPr sz="1100">
                          <a:solidFill>
                            <a:srgbClr val="333333"/>
                          </a:solidFill>
                          <a:latin typeface="Calibri"/>
                        </a:defRPr>
                      </a:pPr>
                      <a:r>
                        <a:t>Bull</a:t>
                      </a:r>
                    </a:p>
                  </a:txBody>
                  <a:tcPr>
                    <a:solidFill>
                      <a:srgbClr val="FFFFFF"/>
                    </a:solidFill>
                  </a:tcPr>
                </a:tc>
                <a:tc>
                  <a:txBody>
                    <a:bodyPr/>
                    <a:lstStyle/>
                    <a:p>
                      <a:pPr>
                        <a:defRPr sz="1100">
                          <a:solidFill>
                            <a:srgbClr val="333333"/>
                          </a:solidFill>
                          <a:latin typeface="Calibri"/>
                        </a:defRPr>
                      </a:pPr>
                      <a:r>
                        <a:t>$1.2B</a:t>
                      </a:r>
                    </a:p>
                  </a:txBody>
                  <a:tcPr>
                    <a:solidFill>
                      <a:srgbClr val="FFFFFF"/>
                    </a:solidFill>
                  </a:tcPr>
                </a:tc>
                <a:tc>
                  <a:txBody>
                    <a:bodyPr/>
                    <a:lstStyle/>
                    <a:p>
                      <a:pPr>
                        <a:defRPr sz="1100">
                          <a:solidFill>
                            <a:srgbClr val="333333"/>
                          </a:solidFill>
                          <a:latin typeface="Calibri"/>
                        </a:defRPr>
                      </a:pPr>
                      <a:r>
                        <a:t>$459.7B</a:t>
                      </a:r>
                    </a:p>
                  </a:txBody>
                  <a:tcPr>
                    <a:solidFill>
                      <a:srgbClr val="FFFFFF"/>
                    </a:solidFill>
                  </a:tcPr>
                </a:tc>
                <a:tc>
                  <a:txBody>
                    <a:bodyPr/>
                    <a:lstStyle/>
                    <a:p>
                      <a:pPr>
                        <a:defRPr sz="1100">
                          <a:solidFill>
                            <a:srgbClr val="333333"/>
                          </a:solidFill>
                          <a:latin typeface="Calibri"/>
                        </a:defRPr>
                      </a:pPr>
                      <a:r>
                        <a:t>$142.0B</a:t>
                      </a:r>
                    </a:p>
                  </a:txBody>
                  <a:tcPr>
                    <a:solidFill>
                      <a:srgbClr val="FFFFFF"/>
                    </a:solidFill>
                  </a:tcPr>
                </a:tc>
                <a:tc>
                  <a:txBody>
                    <a:bodyPr/>
                    <a:lstStyle/>
                    <a:p>
                      <a:pPr>
                        <a:defRPr sz="1100">
                          <a:solidFill>
                            <a:srgbClr val="333333"/>
                          </a:solidFill>
                          <a:latin typeface="Calibri"/>
                        </a:defRPr>
                      </a:pPr>
                      <a:r>
                        <a:t>9.0%</a:t>
                      </a:r>
                    </a:p>
                  </a:txBody>
                  <a:tcPr>
                    <a:solidFill>
                      <a:srgbClr val="FFFFFF"/>
                    </a:solidFill>
                  </a:tcPr>
                </a:tc>
                <a:tc>
                  <a:txBody>
                    <a:bodyPr/>
                    <a:lstStyle/>
                    <a:p>
                      <a:pPr>
                        <a:defRPr sz="1100">
                          <a:solidFill>
                            <a:srgbClr val="333333"/>
                          </a:solidFill>
                          <a:latin typeface="Calibri"/>
                        </a:defRPr>
                      </a:pPr>
                      <a:r>
                        <a:t>17.0%</a:t>
                      </a:r>
                    </a:p>
                  </a:txBody>
                  <a:tcPr>
                    <a:solidFill>
                      <a:srgbClr val="FFFFFF"/>
                    </a:solidFill>
                  </a:tcPr>
                </a:tc>
              </a:tr>
            </a:tbl>
          </a:graphicData>
        </a:graphic>
      </p:graphicFrame>
      <p:sp>
        <p:nvSpPr>
          <p:cNvPr id="7" name="TextBox 6"/>
          <p:cNvSpPr txBox="1"/>
          <p:nvPr/>
        </p:nvSpPr>
        <p:spPr>
          <a:xfrm>
            <a:off x="685800" y="4572000"/>
            <a:ext cx="11155680" cy="2011680"/>
          </a:xfrm>
          <a:prstGeom prst="rect">
            <a:avLst/>
          </a:prstGeom>
          <a:noFill/>
        </p:spPr>
        <p:txBody>
          <a:bodyPr wrap="none">
            <a:spAutoFit/>
          </a:bodyPr>
          <a:lstStyle/>
          <a:p>
            <a:r>
              <a:rPr b="1" sz="2000">
                <a:solidFill>
                  <a:srgbClr val="333333"/>
                </a:solidFill>
                <a:latin typeface="Calibri"/>
              </a:rPr>
              <a:t>Ranges</a:t>
            </a:r>
          </a:p>
          <a:p>
            <a:pPr>
              <a:spcBef>
                <a:spcPts val="200"/>
              </a:spcBef>
              <a:spcAft>
                <a:spcPts val="200"/>
              </a:spcAft>
              <a:defRPr sz="1400">
                <a:solidFill>
                  <a:srgbClr val="333333"/>
                </a:solidFill>
                <a:latin typeface="Calibri"/>
              </a:defRPr>
            </a:pPr>
            <a:r>
              <a:t>DCF range:     $358M — $1.2B</a:t>
            </a:r>
          </a:p>
          <a:p>
            <a:pPr>
              <a:spcBef>
                <a:spcPts val="200"/>
              </a:spcBef>
              <a:spcAft>
                <a:spcPts val="200"/>
              </a:spcAft>
              <a:defRPr sz="1400">
                <a:solidFill>
                  <a:srgbClr val="333333"/>
                </a:solidFill>
                <a:latin typeface="Calibri"/>
              </a:defRPr>
            </a:pPr>
            <a:r>
              <a:t>Comps range:   $138.7B — $459.7B</a:t>
            </a:r>
          </a:p>
          <a:p>
            <a:pPr>
              <a:spcBef>
                <a:spcPts val="200"/>
              </a:spcBef>
              <a:spcAft>
                <a:spcPts val="200"/>
              </a:spcAft>
              <a:defRPr sz="1400">
                <a:solidFill>
                  <a:srgbClr val="333333"/>
                </a:solidFill>
                <a:latin typeface="Calibri"/>
              </a:defRPr>
            </a:pPr>
            <a:r>
              <a:t>Blended range: $43.2B — $142.0B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972800" cy="548640"/>
          </a:xfrm>
          <a:prstGeom prst="rect">
            <a:avLst/>
          </a:prstGeom>
          <a:noFill/>
        </p:spPr>
        <p:txBody>
          <a:bodyPr wrap="none">
            <a:spAutoFit/>
          </a:bodyPr>
          <a:lstStyle/>
          <a:p>
            <a:pPr algn="l"/>
            <a:r>
              <a:rPr b="1" sz="2200">
                <a:solidFill>
                  <a:srgbClr val="FFFFFF"/>
                </a:solidFill>
                <a:latin typeface="Calibri"/>
              </a:rPr>
              <a:t>Peer Comparables</a:t>
            </a:r>
          </a:p>
        </p:txBody>
      </p:sp>
      <p:sp>
        <p:nvSpPr>
          <p:cNvPr id="5" name="TextBox 4"/>
          <p:cNvSpPr txBox="1"/>
          <p:nvPr/>
        </p:nvSpPr>
        <p:spPr>
          <a:xfrm>
            <a:off x="685800" y="566928"/>
            <a:ext cx="10972800" cy="320040"/>
          </a:xfrm>
          <a:prstGeom prst="rect">
            <a:avLst/>
          </a:prstGeom>
          <a:noFill/>
        </p:spPr>
        <p:txBody>
          <a:bodyPr wrap="none">
            <a:spAutoFit/>
          </a:bodyPr>
          <a:lstStyle/>
          <a:p>
            <a:pPr algn="l"/>
            <a:r>
              <a:rPr b="0" sz="1200">
                <a:solidFill>
                  <a:srgbClr val="666666"/>
                </a:solidFill>
                <a:latin typeface="Calibri"/>
              </a:rPr>
              <a:t>6 listed peers — real market data via yfinance</a:t>
            </a:r>
          </a:p>
        </p:txBody>
      </p:sp>
      <p:sp>
        <p:nvSpPr>
          <p:cNvPr id="6" name="TextBox 5"/>
          <p:cNvSpPr txBox="1"/>
          <p:nvPr/>
        </p:nvSpPr>
        <p:spPr>
          <a:xfrm>
            <a:off x="685800" y="1188720"/>
            <a:ext cx="11064240" cy="457200"/>
          </a:xfrm>
          <a:prstGeom prst="rect">
            <a:avLst/>
          </a:prstGeom>
          <a:noFill/>
        </p:spPr>
        <p:txBody>
          <a:bodyPr wrap="none">
            <a:spAutoFit/>
          </a:bodyPr>
          <a:lstStyle/>
          <a:p>
            <a:r>
              <a:rPr b="1" sz="2000">
                <a:solidFill>
                  <a:srgbClr val="333333"/>
                </a:solidFill>
                <a:latin typeface="Calibri"/>
              </a:rPr>
              <a:t>Trading Comps</a:t>
            </a:r>
          </a:p>
        </p:txBody>
      </p:sp>
      <p:graphicFrame>
        <p:nvGraphicFramePr>
          <p:cNvPr id="7" name="Table 6"/>
          <p:cNvGraphicFramePr>
            <a:graphicFrameLocks noGrp="1"/>
          </p:cNvGraphicFramePr>
          <p:nvPr/>
        </p:nvGraphicFramePr>
        <p:xfrm>
          <a:off x="685800" y="1645920"/>
          <a:ext cx="11064240" cy="4846320"/>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605790">
                <a:tc>
                  <a:txBody>
                    <a:bodyPr/>
                    <a:lstStyle/>
                    <a:p>
                      <a:pPr>
                        <a:defRPr b="1" sz="1200">
                          <a:solidFill>
                            <a:srgbClr val="FFFFFF"/>
                          </a:solidFill>
                          <a:latin typeface="Calibri"/>
                        </a:defRPr>
                      </a:pPr>
                      <a:r>
                        <a:t>Company</a:t>
                      </a:r>
                    </a:p>
                  </a:txBody>
                  <a:tcPr>
                    <a:solidFill>
                      <a:srgbClr val="1B2A4A"/>
                    </a:solidFill>
                  </a:tcPr>
                </a:tc>
                <a:tc>
                  <a:txBody>
                    <a:bodyPr/>
                    <a:lstStyle/>
                    <a:p>
                      <a:pPr>
                        <a:defRPr b="1" sz="1200">
                          <a:solidFill>
                            <a:srgbClr val="FFFFFF"/>
                          </a:solidFill>
                          <a:latin typeface="Calibri"/>
                        </a:defRPr>
                      </a:pPr>
                      <a:r>
                        <a:t>Ticker</a:t>
                      </a:r>
                    </a:p>
                  </a:txBody>
                  <a:tcPr>
                    <a:solidFill>
                      <a:srgbClr val="1B2A4A"/>
                    </a:solidFill>
                  </a:tcPr>
                </a:tc>
                <a:tc>
                  <a:txBody>
                    <a:bodyPr/>
                    <a:lstStyle/>
                    <a:p>
                      <a:pPr>
                        <a:defRPr b="1" sz="1200">
                          <a:solidFill>
                            <a:srgbClr val="FFFFFF"/>
                          </a:solidFill>
                          <a:latin typeface="Calibri"/>
                        </a:defRPr>
                      </a:pPr>
                      <a:r>
                        <a:t>EV/EBITDA</a:t>
                      </a:r>
                    </a:p>
                  </a:txBody>
                  <a:tcPr>
                    <a:solidFill>
                      <a:srgbClr val="1B2A4A"/>
                    </a:solidFill>
                  </a:tcPr>
                </a:tc>
                <a:tc>
                  <a:txBody>
                    <a:bodyPr/>
                    <a:lstStyle/>
                    <a:p>
                      <a:pPr>
                        <a:defRPr b="1" sz="1200">
                          <a:solidFill>
                            <a:srgbClr val="FFFFFF"/>
                          </a:solidFill>
                          <a:latin typeface="Calibri"/>
                        </a:defRPr>
                      </a:pPr>
                      <a:r>
                        <a:t>EV/Revenue</a:t>
                      </a:r>
                    </a:p>
                  </a:txBody>
                  <a:tcPr>
                    <a:solidFill>
                      <a:srgbClr val="1B2A4A"/>
                    </a:solidFill>
                  </a:tcPr>
                </a:tc>
                <a:tc>
                  <a:txBody>
                    <a:bodyPr/>
                    <a:lstStyle/>
                    <a:p>
                      <a:pPr>
                        <a:defRPr b="1" sz="1200">
                          <a:solidFill>
                            <a:srgbClr val="FFFFFF"/>
                          </a:solidFill>
                          <a:latin typeface="Calibri"/>
                        </a:defRPr>
                      </a:pPr>
                      <a:r>
                        <a:t>EBITDA Margin</a:t>
                      </a:r>
                    </a:p>
                  </a:txBody>
                  <a:tcPr>
                    <a:solidFill>
                      <a:srgbClr val="1B2A4A"/>
                    </a:solidFill>
                  </a:tcPr>
                </a:tc>
                <a:tc>
                  <a:txBody>
                    <a:bodyPr/>
                    <a:lstStyle/>
                    <a:p>
                      <a:pPr>
                        <a:defRPr b="1" sz="1200">
                          <a:solidFill>
                            <a:srgbClr val="FFFFFF"/>
                          </a:solidFill>
                          <a:latin typeface="Calibri"/>
                        </a:defRPr>
                      </a:pPr>
                      <a:r>
                        <a:t>Rev Growth</a:t>
                      </a:r>
                    </a:p>
                  </a:txBody>
                  <a:tcPr>
                    <a:solidFill>
                      <a:srgbClr val="1B2A4A"/>
                    </a:solidFill>
                  </a:tcPr>
                </a:tc>
              </a:tr>
              <a:tr h="605790">
                <a:tc>
                  <a:txBody>
                    <a:bodyPr/>
                    <a:lstStyle/>
                    <a:p>
                      <a:pPr>
                        <a:defRPr sz="1100">
                          <a:solidFill>
                            <a:srgbClr val="333333"/>
                          </a:solidFill>
                          <a:latin typeface="Calibri"/>
                        </a:defRPr>
                      </a:pPr>
                      <a:r>
                        <a:t>Hermès International Société en commandite par actions</a:t>
                      </a:r>
                    </a:p>
                  </a:txBody>
                  <a:tcPr>
                    <a:solidFill>
                      <a:srgbClr val="FFFFFF"/>
                    </a:solidFill>
                  </a:tcPr>
                </a:tc>
                <a:tc>
                  <a:txBody>
                    <a:bodyPr/>
                    <a:lstStyle/>
                    <a:p>
                      <a:pPr>
                        <a:defRPr sz="1100">
                          <a:solidFill>
                            <a:srgbClr val="333333"/>
                          </a:solidFill>
                          <a:latin typeface="Calibri"/>
                        </a:defRPr>
                      </a:pPr>
                      <a:r>
                        <a:t>RMS.PA</a:t>
                      </a:r>
                    </a:p>
                  </a:txBody>
                  <a:tcPr>
                    <a:solidFill>
                      <a:srgbClr val="FFFFFF"/>
                    </a:solidFill>
                  </a:tcPr>
                </a:tc>
                <a:tc>
                  <a:txBody>
                    <a:bodyPr/>
                    <a:lstStyle/>
                    <a:p>
                      <a:pPr>
                        <a:defRPr sz="1100">
                          <a:solidFill>
                            <a:srgbClr val="333333"/>
                          </a:solidFill>
                          <a:latin typeface="Calibri"/>
                        </a:defRPr>
                      </a:pPr>
                      <a:r>
                        <a:t>23.1x</a:t>
                      </a:r>
                    </a:p>
                  </a:txBody>
                  <a:tcPr>
                    <a:solidFill>
                      <a:srgbClr val="FFFFFF"/>
                    </a:solidFill>
                  </a:tcPr>
                </a:tc>
                <a:tc>
                  <a:txBody>
                    <a:bodyPr/>
                    <a:lstStyle/>
                    <a:p>
                      <a:pPr>
                        <a:defRPr sz="1100">
                          <a:solidFill>
                            <a:srgbClr val="333333"/>
                          </a:solidFill>
                          <a:latin typeface="Calibri"/>
                        </a:defRPr>
                      </a:pPr>
                      <a:r>
                        <a:t>10.2x</a:t>
                      </a:r>
                    </a:p>
                  </a:txBody>
                  <a:tcPr>
                    <a:solidFill>
                      <a:srgbClr val="FFFFFF"/>
                    </a:solidFill>
                  </a:tcPr>
                </a:tc>
                <a:tc>
                  <a:txBody>
                    <a:bodyPr/>
                    <a:lstStyle/>
                    <a:p>
                      <a:pPr>
                        <a:defRPr sz="1100">
                          <a:solidFill>
                            <a:srgbClr val="333333"/>
                          </a:solidFill>
                          <a:latin typeface="Calibri"/>
                        </a:defRPr>
                      </a:pPr>
                      <a:r>
                        <a:t>44.0%</a:t>
                      </a:r>
                    </a:p>
                  </a:txBody>
                  <a:tcPr>
                    <a:solidFill>
                      <a:srgbClr val="FFFFFF"/>
                    </a:solidFill>
                  </a:tcPr>
                </a:tc>
                <a:tc>
                  <a:txBody>
                    <a:bodyPr/>
                    <a:lstStyle/>
                    <a:p>
                      <a:pPr>
                        <a:defRPr sz="1100">
                          <a:solidFill>
                            <a:srgbClr val="333333"/>
                          </a:solidFill>
                          <a:latin typeface="Calibri"/>
                        </a:defRPr>
                      </a:pPr>
                      <a:r>
                        <a:t>+1.8%</a:t>
                      </a:r>
                    </a:p>
                  </a:txBody>
                  <a:tcPr>
                    <a:solidFill>
                      <a:srgbClr val="FFFFFF"/>
                    </a:solidFill>
                  </a:tcPr>
                </a:tc>
              </a:tr>
              <a:tr h="605790">
                <a:tc>
                  <a:txBody>
                    <a:bodyPr/>
                    <a:lstStyle/>
                    <a:p>
                      <a:pPr>
                        <a:defRPr sz="1100">
                          <a:solidFill>
                            <a:srgbClr val="333333"/>
                          </a:solidFill>
                          <a:latin typeface="Calibri"/>
                        </a:defRPr>
                      </a:pPr>
                      <a:r>
                        <a:t>LVMH Moët Hennessy - Louis Vuitton, Société Européenne</a:t>
                      </a:r>
                    </a:p>
                  </a:txBody>
                  <a:tcPr>
                    <a:solidFill>
                      <a:srgbClr val="FAFAFA"/>
                    </a:solidFill>
                  </a:tcPr>
                </a:tc>
                <a:tc>
                  <a:txBody>
                    <a:bodyPr/>
                    <a:lstStyle/>
                    <a:p>
                      <a:pPr>
                        <a:defRPr sz="1100">
                          <a:solidFill>
                            <a:srgbClr val="333333"/>
                          </a:solidFill>
                          <a:latin typeface="Calibri"/>
                        </a:defRPr>
                      </a:pPr>
                      <a:r>
                        <a:t>MC.PA</a:t>
                      </a:r>
                    </a:p>
                  </a:txBody>
                  <a:tcPr>
                    <a:solidFill>
                      <a:srgbClr val="FAFAFA"/>
                    </a:solidFill>
                  </a:tcPr>
                </a:tc>
                <a:tc>
                  <a:txBody>
                    <a:bodyPr/>
                    <a:lstStyle/>
                    <a:p>
                      <a:pPr>
                        <a:defRPr sz="1100">
                          <a:solidFill>
                            <a:srgbClr val="333333"/>
                          </a:solidFill>
                          <a:latin typeface="Calibri"/>
                        </a:defRPr>
                      </a:pPr>
                      <a:r>
                        <a:t>12.6x</a:t>
                      </a:r>
                    </a:p>
                  </a:txBody>
                  <a:tcPr>
                    <a:solidFill>
                      <a:srgbClr val="FAFAFA"/>
                    </a:solidFill>
                  </a:tcPr>
                </a:tc>
                <a:tc>
                  <a:txBody>
                    <a:bodyPr/>
                    <a:lstStyle/>
                    <a:p>
                      <a:pPr>
                        <a:defRPr sz="1100">
                          <a:solidFill>
                            <a:srgbClr val="333333"/>
                          </a:solidFill>
                          <a:latin typeface="Calibri"/>
                        </a:defRPr>
                      </a:pPr>
                      <a:r>
                        <a:t>3.2x</a:t>
                      </a:r>
                    </a:p>
                  </a:txBody>
                  <a:tcPr>
                    <a:solidFill>
                      <a:srgbClr val="FAFAFA"/>
                    </a:solidFill>
                  </a:tcPr>
                </a:tc>
                <a:tc>
                  <a:txBody>
                    <a:bodyPr/>
                    <a:lstStyle/>
                    <a:p>
                      <a:pPr>
                        <a:defRPr sz="1100">
                          <a:solidFill>
                            <a:srgbClr val="333333"/>
                          </a:solidFill>
                          <a:latin typeface="Calibri"/>
                        </a:defRPr>
                      </a:pPr>
                      <a:r>
                        <a:t>25.5%</a:t>
                      </a:r>
                    </a:p>
                  </a:txBody>
                  <a:tcPr>
                    <a:solidFill>
                      <a:srgbClr val="FAFAFA"/>
                    </a:solidFill>
                  </a:tcPr>
                </a:tc>
                <a:tc>
                  <a:txBody>
                    <a:bodyPr/>
                    <a:lstStyle/>
                    <a:p>
                      <a:pPr>
                        <a:defRPr sz="1100">
                          <a:solidFill>
                            <a:srgbClr val="333333"/>
                          </a:solidFill>
                          <a:latin typeface="Calibri"/>
                        </a:defRPr>
                      </a:pPr>
                      <a:r>
                        <a:t>-1.4%</a:t>
                      </a:r>
                    </a:p>
                  </a:txBody>
                  <a:tcPr>
                    <a:solidFill>
                      <a:srgbClr val="FAFAFA"/>
                    </a:solidFill>
                  </a:tcPr>
                </a:tc>
              </a:tr>
              <a:tr h="605790">
                <a:tc>
                  <a:txBody>
                    <a:bodyPr/>
                    <a:lstStyle/>
                    <a:p>
                      <a:pPr>
                        <a:defRPr sz="1100">
                          <a:solidFill>
                            <a:srgbClr val="333333"/>
                          </a:solidFill>
                          <a:latin typeface="Calibri"/>
                        </a:defRPr>
                      </a:pPr>
                      <a:r>
                        <a:t>Kering SA</a:t>
                      </a:r>
                    </a:p>
                  </a:txBody>
                  <a:tcPr>
                    <a:solidFill>
                      <a:srgbClr val="FFFFFF"/>
                    </a:solidFill>
                  </a:tcPr>
                </a:tc>
                <a:tc>
                  <a:txBody>
                    <a:bodyPr/>
                    <a:lstStyle/>
                    <a:p>
                      <a:pPr>
                        <a:defRPr sz="1100">
                          <a:solidFill>
                            <a:srgbClr val="333333"/>
                          </a:solidFill>
                          <a:latin typeface="Calibri"/>
                        </a:defRPr>
                      </a:pPr>
                      <a:r>
                        <a:t>KER.PA</a:t>
                      </a:r>
                    </a:p>
                  </a:txBody>
                  <a:tcPr>
                    <a:solidFill>
                      <a:srgbClr val="FFFFFF"/>
                    </a:solidFill>
                  </a:tcPr>
                </a:tc>
                <a:tc>
                  <a:txBody>
                    <a:bodyPr/>
                    <a:lstStyle/>
                    <a:p>
                      <a:pPr>
                        <a:defRPr sz="1100">
                          <a:solidFill>
                            <a:srgbClr val="333333"/>
                          </a:solidFill>
                          <a:latin typeface="Calibri"/>
                        </a:defRPr>
                      </a:pPr>
                      <a:r>
                        <a:t>17.5x</a:t>
                      </a:r>
                    </a:p>
                  </a:txBody>
                  <a:tcPr>
                    <a:solidFill>
                      <a:srgbClr val="FFFFFF"/>
                    </a:solidFill>
                  </a:tcPr>
                </a:tc>
                <a:tc>
                  <a:txBody>
                    <a:bodyPr/>
                    <a:lstStyle/>
                    <a:p>
                      <a:pPr>
                        <a:defRPr sz="1100">
                          <a:solidFill>
                            <a:srgbClr val="333333"/>
                          </a:solidFill>
                          <a:latin typeface="Calibri"/>
                        </a:defRPr>
                      </a:pPr>
                      <a:r>
                        <a:t>3.0x</a:t>
                      </a:r>
                    </a:p>
                  </a:txBody>
                  <a:tcPr>
                    <a:solidFill>
                      <a:srgbClr val="FFFFFF"/>
                    </a:solidFill>
                  </a:tcPr>
                </a:tc>
                <a:tc>
                  <a:txBody>
                    <a:bodyPr/>
                    <a:lstStyle/>
                    <a:p>
                      <a:pPr>
                        <a:defRPr sz="1100">
                          <a:solidFill>
                            <a:srgbClr val="333333"/>
                          </a:solidFill>
                          <a:latin typeface="Calibri"/>
                        </a:defRPr>
                      </a:pPr>
                      <a:r>
                        <a:t>17.3%</a:t>
                      </a:r>
                    </a:p>
                  </a:txBody>
                  <a:tcPr>
                    <a:solidFill>
                      <a:srgbClr val="FFFFFF"/>
                    </a:solidFill>
                  </a:tcPr>
                </a:tc>
                <a:tc>
                  <a:txBody>
                    <a:bodyPr/>
                    <a:lstStyle/>
                    <a:p>
                      <a:pPr>
                        <a:defRPr sz="1100">
                          <a:solidFill>
                            <a:srgbClr val="333333"/>
                          </a:solidFill>
                          <a:latin typeface="Calibri"/>
                        </a:defRPr>
                      </a:pPr>
                      <a:r>
                        <a:t>—</a:t>
                      </a:r>
                    </a:p>
                  </a:txBody>
                  <a:tcPr>
                    <a:solidFill>
                      <a:srgbClr val="FFFFFF"/>
                    </a:solidFill>
                  </a:tcPr>
                </a:tc>
              </a:tr>
              <a:tr h="605790">
                <a:tc>
                  <a:txBody>
                    <a:bodyPr/>
                    <a:lstStyle/>
                    <a:p>
                      <a:pPr>
                        <a:defRPr sz="1100">
                          <a:solidFill>
                            <a:srgbClr val="333333"/>
                          </a:solidFill>
                          <a:latin typeface="Calibri"/>
                        </a:defRPr>
                      </a:pPr>
                      <a:r>
                        <a:t>Compagnie Financière Richemont SA</a:t>
                      </a:r>
                    </a:p>
                  </a:txBody>
                  <a:tcPr>
                    <a:solidFill>
                      <a:srgbClr val="FAFAFA"/>
                    </a:solidFill>
                  </a:tcPr>
                </a:tc>
                <a:tc>
                  <a:txBody>
                    <a:bodyPr/>
                    <a:lstStyle/>
                    <a:p>
                      <a:pPr>
                        <a:defRPr sz="1100">
                          <a:solidFill>
                            <a:srgbClr val="333333"/>
                          </a:solidFill>
                          <a:latin typeface="Calibri"/>
                        </a:defRPr>
                      </a:pPr>
                      <a:r>
                        <a:t>CFR.SW</a:t>
                      </a:r>
                    </a:p>
                  </a:txBody>
                  <a:tcPr>
                    <a:solidFill>
                      <a:srgbClr val="FAFAFA"/>
                    </a:solidFill>
                  </a:tcPr>
                </a:tc>
                <a:tc>
                  <a:txBody>
                    <a:bodyPr/>
                    <a:lstStyle/>
                    <a:p>
                      <a:pPr>
                        <a:defRPr sz="1100">
                          <a:solidFill>
                            <a:srgbClr val="333333"/>
                          </a:solidFill>
                          <a:latin typeface="Calibri"/>
                        </a:defRPr>
                      </a:pPr>
                      <a:r>
                        <a:t>16.2x</a:t>
                      </a:r>
                    </a:p>
                  </a:txBody>
                  <a:tcPr>
                    <a:solidFill>
                      <a:srgbClr val="FAFAFA"/>
                    </a:solidFill>
                  </a:tcPr>
                </a:tc>
                <a:tc>
                  <a:txBody>
                    <a:bodyPr/>
                    <a:lstStyle/>
                    <a:p>
                      <a:pPr>
                        <a:defRPr sz="1100">
                          <a:solidFill>
                            <a:srgbClr val="333333"/>
                          </a:solidFill>
                          <a:latin typeface="Calibri"/>
                        </a:defRPr>
                      </a:pPr>
                      <a:r>
                        <a:t>3.9x</a:t>
                      </a:r>
                    </a:p>
                  </a:txBody>
                  <a:tcPr>
                    <a:solidFill>
                      <a:srgbClr val="FAFAFA"/>
                    </a:solidFill>
                  </a:tcPr>
                </a:tc>
                <a:tc>
                  <a:txBody>
                    <a:bodyPr/>
                    <a:lstStyle/>
                    <a:p>
                      <a:pPr>
                        <a:defRPr sz="1100">
                          <a:solidFill>
                            <a:srgbClr val="333333"/>
                          </a:solidFill>
                          <a:latin typeface="Calibri"/>
                        </a:defRPr>
                      </a:pPr>
                      <a:r>
                        <a:t>24.4%</a:t>
                      </a:r>
                    </a:p>
                  </a:txBody>
                  <a:tcPr>
                    <a:solidFill>
                      <a:srgbClr val="FAFAFA"/>
                    </a:solidFill>
                  </a:tcPr>
                </a:tc>
                <a:tc>
                  <a:txBody>
                    <a:bodyPr/>
                    <a:lstStyle/>
                    <a:p>
                      <a:pPr>
                        <a:defRPr sz="1100">
                          <a:solidFill>
                            <a:srgbClr val="333333"/>
                          </a:solidFill>
                          <a:latin typeface="Calibri"/>
                        </a:defRPr>
                      </a:pPr>
                      <a:r>
                        <a:t>+295.1%</a:t>
                      </a:r>
                    </a:p>
                  </a:txBody>
                  <a:tcPr>
                    <a:solidFill>
                      <a:srgbClr val="FAFAFA"/>
                    </a:solidFill>
                  </a:tcPr>
                </a:tc>
              </a:tr>
              <a:tr h="605790">
                <a:tc>
                  <a:txBody>
                    <a:bodyPr/>
                    <a:lstStyle/>
                    <a:p>
                      <a:pPr>
                        <a:defRPr sz="1100">
                          <a:solidFill>
                            <a:srgbClr val="333333"/>
                          </a:solidFill>
                          <a:latin typeface="Calibri"/>
                        </a:defRPr>
                      </a:pPr>
                      <a:r>
                        <a:t>Tapestry, Inc.</a:t>
                      </a:r>
                    </a:p>
                  </a:txBody>
                  <a:tcPr>
                    <a:solidFill>
                      <a:srgbClr val="FFFFFF"/>
                    </a:solidFill>
                  </a:tcPr>
                </a:tc>
                <a:tc>
                  <a:txBody>
                    <a:bodyPr/>
                    <a:lstStyle/>
                    <a:p>
                      <a:pPr>
                        <a:defRPr sz="1100">
                          <a:solidFill>
                            <a:srgbClr val="333333"/>
                          </a:solidFill>
                          <a:latin typeface="Calibri"/>
                        </a:defRPr>
                      </a:pPr>
                      <a:r>
                        <a:t>TPR</a:t>
                      </a:r>
                    </a:p>
                  </a:txBody>
                  <a:tcPr>
                    <a:solidFill>
                      <a:srgbClr val="FFFFFF"/>
                    </a:solidFill>
                  </a:tcPr>
                </a:tc>
                <a:tc>
                  <a:txBody>
                    <a:bodyPr/>
                    <a:lstStyle/>
                    <a:p>
                      <a:pPr>
                        <a:defRPr sz="1100">
                          <a:solidFill>
                            <a:srgbClr val="333333"/>
                          </a:solidFill>
                          <a:latin typeface="Calibri"/>
                        </a:defRPr>
                      </a:pPr>
                      <a:r>
                        <a:t>17.9x</a:t>
                      </a:r>
                    </a:p>
                  </a:txBody>
                  <a:tcPr>
                    <a:solidFill>
                      <a:srgbClr val="FFFFFF"/>
                    </a:solidFill>
                  </a:tcPr>
                </a:tc>
                <a:tc>
                  <a:txBody>
                    <a:bodyPr/>
                    <a:lstStyle/>
                    <a:p>
                      <a:pPr>
                        <a:defRPr sz="1100">
                          <a:solidFill>
                            <a:srgbClr val="333333"/>
                          </a:solidFill>
                          <a:latin typeface="Calibri"/>
                        </a:defRPr>
                      </a:pPr>
                      <a:r>
                        <a:t>4.3x</a:t>
                      </a:r>
                    </a:p>
                  </a:txBody>
                  <a:tcPr>
                    <a:solidFill>
                      <a:srgbClr val="FFFFFF"/>
                    </a:solidFill>
                  </a:tcPr>
                </a:tc>
                <a:tc>
                  <a:txBody>
                    <a:bodyPr/>
                    <a:lstStyle/>
                    <a:p>
                      <a:pPr>
                        <a:defRPr sz="1100">
                          <a:solidFill>
                            <a:srgbClr val="333333"/>
                          </a:solidFill>
                          <a:latin typeface="Calibri"/>
                        </a:defRPr>
                      </a:pPr>
                      <a:r>
                        <a:t>24.1%</a:t>
                      </a:r>
                    </a:p>
                  </a:txBody>
                  <a:tcPr>
                    <a:solidFill>
                      <a:srgbClr val="FFFFFF"/>
                    </a:solidFill>
                  </a:tcPr>
                </a:tc>
                <a:tc>
                  <a:txBody>
                    <a:bodyPr/>
                    <a:lstStyle/>
                    <a:p>
                      <a:pPr>
                        <a:defRPr sz="1100">
                          <a:solidFill>
                            <a:srgbClr val="333333"/>
                          </a:solidFill>
                          <a:latin typeface="Calibri"/>
                        </a:defRPr>
                      </a:pPr>
                      <a:r>
                        <a:t>+94.2%</a:t>
                      </a:r>
                    </a:p>
                  </a:txBody>
                  <a:tcPr>
                    <a:solidFill>
                      <a:srgbClr val="FFFFFF"/>
                    </a:solidFill>
                  </a:tcPr>
                </a:tc>
              </a:tr>
              <a:tr h="605790">
                <a:tc>
                  <a:txBody>
                    <a:bodyPr/>
                    <a:lstStyle/>
                    <a:p>
                      <a:pPr>
                        <a:defRPr sz="1100">
                          <a:solidFill>
                            <a:srgbClr val="333333"/>
                          </a:solidFill>
                          <a:latin typeface="Calibri"/>
                        </a:defRPr>
                      </a:pPr>
                      <a:r>
                        <a:t>Prada S.p.A.</a:t>
                      </a:r>
                    </a:p>
                  </a:txBody>
                  <a:tcPr>
                    <a:solidFill>
                      <a:srgbClr val="FAFAFA"/>
                    </a:solidFill>
                  </a:tcPr>
                </a:tc>
                <a:tc>
                  <a:txBody>
                    <a:bodyPr/>
                    <a:lstStyle/>
                    <a:p>
                      <a:pPr>
                        <a:defRPr sz="1100">
                          <a:solidFill>
                            <a:srgbClr val="333333"/>
                          </a:solidFill>
                          <a:latin typeface="Calibri"/>
                        </a:defRPr>
                      </a:pPr>
                      <a:r>
                        <a:t>1913.HK</a:t>
                      </a:r>
                    </a:p>
                  </a:txBody>
                  <a:tcPr>
                    <a:solidFill>
                      <a:srgbClr val="FAFAFA"/>
                    </a:solidFill>
                  </a:tcPr>
                </a:tc>
                <a:tc>
                  <a:txBody>
                    <a:bodyPr/>
                    <a:lstStyle/>
                    <a:p>
                      <a:pPr>
                        <a:defRPr sz="1100">
                          <a:solidFill>
                            <a:srgbClr val="333333"/>
                          </a:solidFill>
                          <a:latin typeface="Calibri"/>
                        </a:defRPr>
                      </a:pPr>
                      <a:r>
                        <a:t>61.5x</a:t>
                      </a:r>
                    </a:p>
                  </a:txBody>
                  <a:tcPr>
                    <a:solidFill>
                      <a:srgbClr val="FAFAFA"/>
                    </a:solidFill>
                  </a:tcPr>
                </a:tc>
                <a:tc>
                  <a:txBody>
                    <a:bodyPr/>
                    <a:lstStyle/>
                    <a:p>
                      <a:pPr>
                        <a:defRPr sz="1100">
                          <a:solidFill>
                            <a:srgbClr val="333333"/>
                          </a:solidFill>
                          <a:latin typeface="Calibri"/>
                        </a:defRPr>
                      </a:pPr>
                      <a:r>
                        <a:t>17.0x</a:t>
                      </a:r>
                    </a:p>
                  </a:txBody>
                  <a:tcPr>
                    <a:solidFill>
                      <a:srgbClr val="FAFAFA"/>
                    </a:solidFill>
                  </a:tcPr>
                </a:tc>
                <a:tc>
                  <a:txBody>
                    <a:bodyPr/>
                    <a:lstStyle/>
                    <a:p>
                      <a:pPr>
                        <a:defRPr sz="1100">
                          <a:solidFill>
                            <a:srgbClr val="333333"/>
                          </a:solidFill>
                          <a:latin typeface="Calibri"/>
                        </a:defRPr>
                      </a:pPr>
                      <a:r>
                        <a:t>27.6%</a:t>
                      </a:r>
                    </a:p>
                  </a:txBody>
                  <a:tcPr>
                    <a:solidFill>
                      <a:srgbClr val="FAFAFA"/>
                    </a:solidFill>
                  </a:tcPr>
                </a:tc>
                <a:tc>
                  <a:txBody>
                    <a:bodyPr/>
                    <a:lstStyle/>
                    <a:p>
                      <a:pPr>
                        <a:defRPr sz="1100">
                          <a:solidFill>
                            <a:srgbClr val="333333"/>
                          </a:solidFill>
                          <a:latin typeface="Calibri"/>
                        </a:defRPr>
                      </a:pPr>
                      <a:r>
                        <a:t>+2.3%</a:t>
                      </a:r>
                    </a:p>
                  </a:txBody>
                  <a:tcPr>
                    <a:solidFill>
                      <a:srgbClr val="FAFAFA"/>
                    </a:solidFill>
                  </a:tcPr>
                </a:tc>
              </a:tr>
              <a:tr h="605790">
                <a:tc>
                  <a:txBody>
                    <a:bodyPr/>
                    <a:lstStyle/>
                    <a:p>
                      <a:pPr>
                        <a:defRPr sz="1100">
                          <a:solidFill>
                            <a:srgbClr val="333333"/>
                          </a:solidFill>
                          <a:latin typeface="Calibri"/>
                        </a:defRPr>
                      </a:pPr>
                      <a:r>
                        <a:t>MEDIAN</a:t>
                      </a:r>
                    </a:p>
                  </a:txBody>
                  <a:tcPr>
                    <a:solidFill>
                      <a:srgbClr val="FFFFFF"/>
                    </a:solidFill>
                  </a:tcPr>
                </a:tc>
                <a:tc>
                  <a:txBody>
                    <a:bodyPr/>
                    <a:lstStyle/>
                    <a:p>
                      <a:pPr>
                        <a:defRPr sz="1100">
                          <a:solidFill>
                            <a:srgbClr val="333333"/>
                          </a:solidFill>
                          <a:latin typeface="Calibri"/>
                        </a:defRPr>
                      </a:pPr>
                      <a:r>
                        <a:t>—</a:t>
                      </a:r>
                    </a:p>
                  </a:txBody>
                  <a:tcPr>
                    <a:solidFill>
                      <a:srgbClr val="FFFFFF"/>
                    </a:solidFill>
                  </a:tcPr>
                </a:tc>
                <a:tc>
                  <a:txBody>
                    <a:bodyPr/>
                    <a:lstStyle/>
                    <a:p>
                      <a:pPr>
                        <a:defRPr sz="1100">
                          <a:solidFill>
                            <a:srgbClr val="333333"/>
                          </a:solidFill>
                          <a:latin typeface="Calibri"/>
                        </a:defRPr>
                      </a:pPr>
                      <a:r>
                        <a:t>17.7x</a:t>
                      </a:r>
                    </a:p>
                  </a:txBody>
                  <a:tcPr>
                    <a:solidFill>
                      <a:srgbClr val="FFFFFF"/>
                    </a:solidFill>
                  </a:tcPr>
                </a:tc>
                <a:tc>
                  <a:txBody>
                    <a:bodyPr/>
                    <a:lstStyle/>
                    <a:p>
                      <a:pPr>
                        <a:defRPr sz="1100">
                          <a:solidFill>
                            <a:srgbClr val="333333"/>
                          </a:solidFill>
                          <a:latin typeface="Calibri"/>
                        </a:defRPr>
                      </a:pPr>
                      <a:r>
                        <a:t>4.1x</a:t>
                      </a:r>
                    </a:p>
                  </a:txBody>
                  <a:tcPr>
                    <a:solidFill>
                      <a:srgbClr val="FFFFFF"/>
                    </a:solidFill>
                  </a:tcPr>
                </a:tc>
                <a:tc>
                  <a:txBody>
                    <a:bodyPr/>
                    <a:lstStyle/>
                    <a:p>
                      <a:pPr>
                        <a:defRPr sz="1100">
                          <a:solidFill>
                            <a:srgbClr val="333333"/>
                          </a:solidFill>
                          <a:latin typeface="Calibri"/>
                        </a:defRPr>
                      </a:pPr>
                      <a:r>
                        <a:t>24.9%</a:t>
                      </a:r>
                    </a:p>
                  </a:txBody>
                  <a:tcPr>
                    <a:solidFill>
                      <a:srgbClr val="FFFFFF"/>
                    </a:solidFill>
                  </a:tcPr>
                </a:tc>
                <a:tc>
                  <a:txBody>
                    <a:bodyPr/>
                    <a:lstStyle/>
                    <a:p>
                      <a:pPr>
                        <a:defRPr sz="1100">
                          <a:solidFill>
                            <a:srgbClr val="333333"/>
                          </a:solidFill>
                          <a:latin typeface="Calibri"/>
                        </a:defRPr>
                      </a:pPr>
                      <a:r>
                        <a:t>—</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972800" cy="548640"/>
          </a:xfrm>
          <a:prstGeom prst="rect">
            <a:avLst/>
          </a:prstGeom>
          <a:noFill/>
        </p:spPr>
        <p:txBody>
          <a:bodyPr wrap="none">
            <a:spAutoFit/>
          </a:bodyPr>
          <a:lstStyle/>
          <a:p>
            <a:pPr algn="l"/>
            <a:r>
              <a:rPr b="1" sz="2200">
                <a:solidFill>
                  <a:srgbClr val="FFFFFF"/>
                </a:solidFill>
                <a:latin typeface="Calibri"/>
              </a:rPr>
              <a:t>IC Score — NO GO</a:t>
            </a:r>
          </a:p>
        </p:txBody>
      </p:sp>
      <p:sp>
        <p:nvSpPr>
          <p:cNvPr id="5" name="TextBox 4"/>
          <p:cNvSpPr txBox="1"/>
          <p:nvPr/>
        </p:nvSpPr>
        <p:spPr>
          <a:xfrm>
            <a:off x="685800" y="566928"/>
            <a:ext cx="10972800" cy="320040"/>
          </a:xfrm>
          <a:prstGeom prst="rect">
            <a:avLst/>
          </a:prstGeom>
          <a:noFill/>
        </p:spPr>
        <p:txBody>
          <a:bodyPr wrap="none">
            <a:spAutoFit/>
          </a:bodyPr>
          <a:lstStyle/>
          <a:p>
            <a:pPr algn="l"/>
            <a:r>
              <a:rPr b="0" sz="1200">
                <a:solidFill>
                  <a:srgbClr val="666666"/>
                </a:solidFill>
                <a:latin typeface="Calibri"/>
              </a:rPr>
              <a:t>Investment Committee Scorecard</a:t>
            </a:r>
          </a:p>
        </p:txBody>
      </p:sp>
      <p:sp>
        <p:nvSpPr>
          <p:cNvPr id="6" name="TextBox 5"/>
          <p:cNvSpPr txBox="1"/>
          <p:nvPr/>
        </p:nvSpPr>
        <p:spPr>
          <a:xfrm>
            <a:off x="685800" y="1097280"/>
            <a:ext cx="5303520" cy="457200"/>
          </a:xfrm>
          <a:prstGeom prst="rect">
            <a:avLst/>
          </a:prstGeom>
          <a:noFill/>
        </p:spPr>
        <p:txBody>
          <a:bodyPr wrap="none">
            <a:spAutoFit/>
          </a:bodyPr>
          <a:lstStyle/>
          <a:p>
            <a:r>
              <a:rPr b="1" sz="2000">
                <a:solidFill>
                  <a:srgbClr val="333333"/>
                </a:solidFill>
                <a:latin typeface="Calibri"/>
              </a:rPr>
              <a:t>Dimension Scores</a:t>
            </a:r>
          </a:p>
        </p:txBody>
      </p:sp>
      <p:graphicFrame>
        <p:nvGraphicFramePr>
          <p:cNvPr id="7" name="Table 6"/>
          <p:cNvGraphicFramePr>
            <a:graphicFrameLocks noGrp="1"/>
          </p:cNvGraphicFramePr>
          <p:nvPr/>
        </p:nvGraphicFramePr>
        <p:xfrm>
          <a:off x="685800" y="1554480"/>
          <a:ext cx="5303520" cy="3657600"/>
        </p:xfrm>
        <a:graphic>
          <a:graphicData uri="http://schemas.openxmlformats.org/drawingml/2006/table">
            <a:tbl>
              <a:tblPr firstRow="1" bandRow="1">
                <a:tableStyleId>{5C22544A-7EE6-4342-B048-85BDC9FD1C3A}</a:tableStyleId>
              </a:tblPr>
              <a:tblGrid>
                <a:gridCol w="2651760"/>
                <a:gridCol w="2651760"/>
              </a:tblGrid>
              <a:tr h="457200">
                <a:tc>
                  <a:txBody>
                    <a:bodyPr/>
                    <a:lstStyle/>
                    <a:p>
                      <a:pPr>
                        <a:defRPr b="1" sz="1200">
                          <a:solidFill>
                            <a:srgbClr val="FFFFFF"/>
                          </a:solidFill>
                          <a:latin typeface="Calibri"/>
                        </a:defRPr>
                      </a:pPr>
                      <a:r>
                        <a:t>Dimension</a:t>
                      </a:r>
                    </a:p>
                  </a:txBody>
                  <a:tcPr>
                    <a:solidFill>
                      <a:srgbClr val="1B2A4A"/>
                    </a:solidFill>
                  </a:tcPr>
                </a:tc>
                <a:tc>
                  <a:txBody>
                    <a:bodyPr/>
                    <a:lstStyle/>
                    <a:p>
                      <a:pPr>
                        <a:defRPr b="1" sz="1200">
                          <a:solidFill>
                            <a:srgbClr val="FFFFFF"/>
                          </a:solidFill>
                          <a:latin typeface="Calibri"/>
                        </a:defRPr>
                      </a:pPr>
                      <a:r>
                        <a:t>Score</a:t>
                      </a:r>
                    </a:p>
                  </a:txBody>
                  <a:tcPr>
                    <a:solidFill>
                      <a:srgbClr val="1B2A4A"/>
                    </a:solidFill>
                  </a:tcPr>
                </a:tc>
              </a:tr>
              <a:tr h="457200">
                <a:tc>
                  <a:txBody>
                    <a:bodyPr/>
                    <a:lstStyle/>
                    <a:p>
                      <a:pPr>
                        <a:defRPr sz="1100">
                          <a:solidFill>
                            <a:srgbClr val="333333"/>
                          </a:solidFill>
                          <a:latin typeface="Calibri"/>
                        </a:defRPr>
                      </a:pPr>
                      <a:r>
                        <a:t>Strategy</a:t>
                      </a:r>
                    </a:p>
                  </a:txBody>
                  <a:tcPr>
                    <a:solidFill>
                      <a:srgbClr val="FFFFFF"/>
                    </a:solidFill>
                  </a:tcPr>
                </a:tc>
                <a:tc>
                  <a:txBody>
                    <a:bodyPr/>
                    <a:lstStyle/>
                    <a:p>
                      <a:pPr>
                        <a:defRPr sz="1100">
                          <a:solidFill>
                            <a:srgbClr val="333333"/>
                          </a:solidFill>
                          <a:latin typeface="Calibri"/>
                        </a:defRPr>
                      </a:pPr>
                      <a:r>
                        <a:t>5.0/10</a:t>
                      </a:r>
                    </a:p>
                  </a:txBody>
                  <a:tcPr>
                    <a:solidFill>
                      <a:srgbClr val="FFFFFF"/>
                    </a:solidFill>
                  </a:tcPr>
                </a:tc>
              </a:tr>
              <a:tr h="457200">
                <a:tc>
                  <a:txBody>
                    <a:bodyPr/>
                    <a:lstStyle/>
                    <a:p>
                      <a:pPr>
                        <a:defRPr sz="1100">
                          <a:solidFill>
                            <a:srgbClr val="333333"/>
                          </a:solidFill>
                          <a:latin typeface="Calibri"/>
                        </a:defRPr>
                      </a:pPr>
                      <a:r>
                        <a:t>Synergies</a:t>
                      </a:r>
                    </a:p>
                  </a:txBody>
                  <a:tcPr>
                    <a:solidFill>
                      <a:srgbClr val="FAFAFA"/>
                    </a:solidFill>
                  </a:tcPr>
                </a:tc>
                <a:tc>
                  <a:txBody>
                    <a:bodyPr/>
                    <a:lstStyle/>
                    <a:p>
                      <a:pPr>
                        <a:defRPr sz="1100">
                          <a:solidFill>
                            <a:srgbClr val="333333"/>
                          </a:solidFill>
                          <a:latin typeface="Calibri"/>
                        </a:defRPr>
                      </a:pPr>
                      <a:r>
                        <a:t>5.0/10</a:t>
                      </a:r>
                    </a:p>
                  </a:txBody>
                  <a:tcPr>
                    <a:solidFill>
                      <a:srgbClr val="FAFAFA"/>
                    </a:solidFill>
                  </a:tcPr>
                </a:tc>
              </a:tr>
              <a:tr h="457200">
                <a:tc>
                  <a:txBody>
                    <a:bodyPr/>
                    <a:lstStyle/>
                    <a:p>
                      <a:pPr>
                        <a:defRPr sz="1100">
                          <a:solidFill>
                            <a:srgbClr val="333333"/>
                          </a:solidFill>
                          <a:latin typeface="Calibri"/>
                        </a:defRPr>
                      </a:pPr>
                      <a:r>
                        <a:t>Financial</a:t>
                      </a:r>
                    </a:p>
                  </a:txBody>
                  <a:tcPr>
                    <a:solidFill>
                      <a:srgbClr val="FFFFFF"/>
                    </a:solidFill>
                  </a:tcPr>
                </a:tc>
                <a:tc>
                  <a:txBody>
                    <a:bodyPr/>
                    <a:lstStyle/>
                    <a:p>
                      <a:pPr>
                        <a:defRPr sz="1100">
                          <a:solidFill>
                            <a:srgbClr val="333333"/>
                          </a:solidFill>
                          <a:latin typeface="Calibri"/>
                        </a:defRPr>
                      </a:pPr>
                      <a:r>
                        <a:t>5.0/10</a:t>
                      </a:r>
                    </a:p>
                  </a:txBody>
                  <a:tcPr>
                    <a:solidFill>
                      <a:srgbClr val="FFFFFF"/>
                    </a:solidFill>
                  </a:tcPr>
                </a:tc>
              </a:tr>
              <a:tr h="457200">
                <a:tc>
                  <a:txBody>
                    <a:bodyPr/>
                    <a:lstStyle/>
                    <a:p>
                      <a:pPr>
                        <a:defRPr sz="1100">
                          <a:solidFill>
                            <a:srgbClr val="333333"/>
                          </a:solidFill>
                          <a:latin typeface="Calibri"/>
                        </a:defRPr>
                      </a:pPr>
                      <a:r>
                        <a:t>LBO</a:t>
                      </a:r>
                    </a:p>
                  </a:txBody>
                  <a:tcPr>
                    <a:solidFill>
                      <a:srgbClr val="FAFAFA"/>
                    </a:solidFill>
                  </a:tcPr>
                </a:tc>
                <a:tc>
                  <a:txBody>
                    <a:bodyPr/>
                    <a:lstStyle/>
                    <a:p>
                      <a:pPr>
                        <a:defRPr sz="1100">
                          <a:solidFill>
                            <a:srgbClr val="333333"/>
                          </a:solidFill>
                          <a:latin typeface="Calibri"/>
                        </a:defRPr>
                      </a:pPr>
                      <a:r>
                        <a:t>1.0/10</a:t>
                      </a:r>
                    </a:p>
                  </a:txBody>
                  <a:tcPr>
                    <a:solidFill>
                      <a:srgbClr val="FAFAFA"/>
                    </a:solidFill>
                  </a:tcPr>
                </a:tc>
              </a:tr>
              <a:tr h="457200">
                <a:tc>
                  <a:txBody>
                    <a:bodyPr/>
                    <a:lstStyle/>
                    <a:p>
                      <a:pPr>
                        <a:defRPr sz="1100">
                          <a:solidFill>
                            <a:srgbClr val="333333"/>
                          </a:solidFill>
                          <a:latin typeface="Calibri"/>
                        </a:defRPr>
                      </a:pPr>
                      <a:r>
                        <a:t>Integration</a:t>
                      </a:r>
                    </a:p>
                  </a:txBody>
                  <a:tcPr>
                    <a:solidFill>
                      <a:srgbClr val="FFFFFF"/>
                    </a:solidFill>
                  </a:tcPr>
                </a:tc>
                <a:tc>
                  <a:txBody>
                    <a:bodyPr/>
                    <a:lstStyle/>
                    <a:p>
                      <a:pPr>
                        <a:defRPr sz="1100">
                          <a:solidFill>
                            <a:srgbClr val="333333"/>
                          </a:solidFill>
                          <a:latin typeface="Calibri"/>
                        </a:defRPr>
                      </a:pPr>
                      <a:r>
                        <a:t>5.0/10</a:t>
                      </a:r>
                    </a:p>
                  </a:txBody>
                  <a:tcPr>
                    <a:solidFill>
                      <a:srgbClr val="FFFFFF"/>
                    </a:solidFill>
                  </a:tcPr>
                </a:tc>
              </a:tr>
              <a:tr h="457200">
                <a:tc>
                  <a:txBody>
                    <a:bodyPr/>
                    <a:lstStyle/>
                    <a:p>
                      <a:pPr>
                        <a:defRPr sz="1100">
                          <a:solidFill>
                            <a:srgbClr val="333333"/>
                          </a:solidFill>
                          <a:latin typeface="Calibri"/>
                        </a:defRPr>
                      </a:pPr>
                      <a:r>
                        <a:t>Risk</a:t>
                      </a:r>
                    </a:p>
                  </a:txBody>
                  <a:tcPr>
                    <a:solidFill>
                      <a:srgbClr val="FAFAFA"/>
                    </a:solidFill>
                  </a:tcPr>
                </a:tc>
                <a:tc>
                  <a:txBody>
                    <a:bodyPr/>
                    <a:lstStyle/>
                    <a:p>
                      <a:pPr>
                        <a:defRPr sz="1100">
                          <a:solidFill>
                            <a:srgbClr val="333333"/>
                          </a:solidFill>
                          <a:latin typeface="Calibri"/>
                        </a:defRPr>
                      </a:pPr>
                      <a:r>
                        <a:t>5.0/10</a:t>
                      </a:r>
                    </a:p>
                  </a:txBody>
                  <a:tcPr>
                    <a:solidFill>
                      <a:srgbClr val="FAFAFA"/>
                    </a:solidFill>
                  </a:tcPr>
                </a:tc>
              </a:tr>
              <a:tr h="457200">
                <a:tc>
                  <a:txBody>
                    <a:bodyPr/>
                    <a:lstStyle/>
                    <a:p>
                      <a:pPr>
                        <a:defRPr sz="1100">
                          <a:solidFill>
                            <a:srgbClr val="333333"/>
                          </a:solidFill>
                          <a:latin typeface="Calibri"/>
                        </a:defRPr>
                      </a:pPr>
                      <a:r>
                        <a:t>TOTAL</a:t>
                      </a:r>
                    </a:p>
                  </a:txBody>
                  <a:tcPr>
                    <a:solidFill>
                      <a:srgbClr val="FFFFFF"/>
                    </a:solidFill>
                  </a:tcPr>
                </a:tc>
                <a:tc>
                  <a:txBody>
                    <a:bodyPr/>
                    <a:lstStyle/>
                    <a:p>
                      <a:pPr>
                        <a:defRPr sz="1100">
                          <a:solidFill>
                            <a:srgbClr val="333333"/>
                          </a:solidFill>
                          <a:latin typeface="Calibri"/>
                        </a:defRPr>
                      </a:pPr>
                      <a:r>
                        <a:t>0/100</a:t>
                      </a:r>
                    </a:p>
                  </a:txBody>
                  <a:tcPr>
                    <a:solidFill>
                      <a:srgbClr val="FFFFFF"/>
                    </a:solidFill>
                  </a:tcPr>
                </a:tc>
              </a:tr>
            </a:tbl>
          </a:graphicData>
        </a:graphic>
      </p:graphicFrame>
      <p:sp>
        <p:nvSpPr>
          <p:cNvPr id="8" name="TextBox 7"/>
          <p:cNvSpPr txBox="1"/>
          <p:nvPr/>
        </p:nvSpPr>
        <p:spPr>
          <a:xfrm>
            <a:off x="6400800" y="1097280"/>
            <a:ext cx="5303520" cy="4114800"/>
          </a:xfrm>
          <a:prstGeom prst="rect">
            <a:avLst/>
          </a:prstGeom>
          <a:noFill/>
        </p:spPr>
        <p:txBody>
          <a:bodyPr wrap="none">
            <a:spAutoFit/>
          </a:bodyPr>
          <a:lstStyle/>
          <a:p>
            <a:r>
              <a:rPr b="1" sz="2000">
                <a:solidFill>
                  <a:srgbClr val="333333"/>
                </a:solidFill>
                <a:latin typeface="Calibri"/>
              </a:rPr>
              <a:t>Rationale &amp; Next Steps</a:t>
            </a:r>
          </a:p>
          <a:p>
            <a:pPr>
              <a:spcBef>
                <a:spcPts val="200"/>
              </a:spcBef>
              <a:spcAft>
                <a:spcPts val="200"/>
              </a:spcAft>
              <a:defRPr sz="1400">
                <a:solidFill>
                  <a:srgbClr val="333333"/>
                </a:solidFill>
                <a:latin typeface="Calibri"/>
              </a:defRPr>
            </a:pPr>
            <a:r>
              <a:t>Longchamp fails IC gates: Lbo score 1.0/10 below minimum 2/10. Strengths: strategy (5/10), synergies (5/10). Risks: lbo (1/10), strategy (5/10). LBO IRR: -5.2%.</a:t>
            </a:r>
          </a:p>
          <a:p>
            <a:pPr>
              <a:spcBef>
                <a:spcPts val="200"/>
              </a:spcBef>
              <a:spcAft>
                <a:spcPts val="200"/>
              </a:spcAft>
              <a:defRPr sz="1400">
                <a:solidFill>
                  <a:srgbClr val="333333"/>
                </a:solidFill>
                <a:latin typeface="Calibri"/>
              </a:defRPr>
            </a:pPr>
            <a:r>
              <a:t>Pass on current opportunity</a:t>
            </a:r>
          </a:p>
          <a:p>
            <a:pPr>
              <a:spcBef>
                <a:spcPts val="200"/>
              </a:spcBef>
              <a:spcAft>
                <a:spcPts val="200"/>
              </a:spcAft>
              <a:defRPr sz="1400">
                <a:solidFill>
                  <a:srgbClr val="333333"/>
                </a:solidFill>
                <a:latin typeface="Calibri"/>
              </a:defRPr>
            </a:pPr>
            <a:r>
              <a:t>Document rationale in deal log</a:t>
            </a:r>
          </a:p>
          <a:p>
            <a:pPr>
              <a:spcBef>
                <a:spcPts val="200"/>
              </a:spcBef>
              <a:spcAft>
                <a:spcPts val="200"/>
              </a:spcAft>
              <a:defRPr sz="1400">
                <a:solidFill>
                  <a:srgbClr val="333333"/>
                </a:solidFill>
                <a:latin typeface="Calibri"/>
              </a:defRPr>
            </a:pPr>
            <a:r>
              <a:t>Re-evaluate if strategic context or valuation changes</a:t>
            </a:r>
          </a:p>
          <a:p>
            <a:pPr>
              <a:spcBef>
                <a:spcPts val="200"/>
              </a:spcBef>
              <a:spcAft>
                <a:spcPts val="200"/>
              </a:spcAft>
              <a:defRPr sz="1400">
                <a:solidFill>
                  <a:srgbClr val="333333"/>
                </a:solidFill>
                <a:latin typeface="Calibri"/>
              </a:defRPr>
            </a:pPr>
            <a:r>
              <a:t>Reassess capital structure — current leverage profile impedes LBO.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972800" cy="548640"/>
          </a:xfrm>
          <a:prstGeom prst="rect">
            <a:avLst/>
          </a:prstGeom>
          <a:noFill/>
        </p:spPr>
        <p:txBody>
          <a:bodyPr wrap="none">
            <a:spAutoFit/>
          </a:bodyPr>
          <a:lstStyle/>
          <a:p>
            <a:pPr algn="l"/>
            <a:r>
              <a:rPr b="1" sz="2200">
                <a:solidFill>
                  <a:srgbClr val="FFFFFF"/>
                </a:solidFill>
                <a:latin typeface="Calibri"/>
              </a:rPr>
              <a:t>Investment Thesis</a:t>
            </a:r>
          </a:p>
        </p:txBody>
      </p:sp>
      <p:sp>
        <p:nvSpPr>
          <p:cNvPr id="5" name="TextBox 4"/>
          <p:cNvSpPr txBox="1"/>
          <p:nvPr/>
        </p:nvSpPr>
        <p:spPr>
          <a:xfrm>
            <a:off x="685800" y="1645920"/>
            <a:ext cx="11155680" cy="5029200"/>
          </a:xfrm>
          <a:prstGeom prst="rect">
            <a:avLst/>
          </a:prstGeom>
          <a:noFill/>
        </p:spPr>
        <p:txBody>
          <a:bodyPr wrap="none">
            <a:spAutoFit/>
          </a:bodyPr>
          <a:lstStyle/>
          <a:p>
            <a:r>
              <a:rPr b="1" sz="2000">
                <a:solidFill>
                  <a:srgbClr val="333333"/>
                </a:solidFill>
                <a:latin typeface="Calibri"/>
              </a:rPr>
              <a:t>Thesis</a:t>
            </a:r>
          </a:p>
          <a:p>
            <a:pPr>
              <a:spcBef>
                <a:spcPts val="200"/>
              </a:spcBef>
              <a:spcAft>
                <a:spcPts val="200"/>
              </a:spcAft>
              <a:defRPr sz="1400">
                <a:solidFill>
                  <a:srgbClr val="333333"/>
                </a:solidFill>
                <a:latin typeface="Calibri"/>
              </a:defRPr>
            </a:pPr>
            <a:r>
              <a:t>Longchamp, the privately held French luxury leather goods brand, presents a compelling but nuanced investment opportunity, warranting a HOLD recommendation with balanced upside/downside potential. The company boasts a strong competitive moat rooted in its iconic Le Pliage tote, which has achieved cult status and driven consistent demand across generations and geographies. Longchamp’s revenue trajectory has been resilient, with estimated annual sales of €600–700 million, underpinned by a diversified geographic footprint (40% Europe, 30% Asia, 20% Americas) and a balanced product mix spanning leather goods (60% of sales), ready-to-wear, and accessories. The brand’s pricing power—positioned in the accessible luxury segment (€100–€1,500 price points)—has allowed it to maintain gross margins above 65%, while its vertically integrated supply chain (70% of production in France) ensures quality control and agility. However, Longchamp’s growth has lagged behind peers like Coach and Michael Kors, with revenue CAGR of ~3% over the past five years, reflecting a cautious expansion strategy and limited exposure to the fastest-growing ultra-luxury segment. Valuation support is mixed: while the brand’s heritage and cash flow stability justify a premium multiple, the lack of public financials and limited scalability in core categories cap upside potential in the near term. </a:t>
            </a:r>
            <a:br/>
            <a:br/>
            <a:r>
              <a:t>The company’s financial trajectory is stable but unexceptional, with EBITDA margins estimated at 15–18%, below peers due to higher manufacturing costs and lower economies of scale. Longchamp’s digital transformation has accelerated, with e-commerce now accounting for ~25% of sales, but it remains behind competitors in omnichannel integration and data-driven personalization. The brand’s recent push into sustainability—including a commitment to 100% traceable leather by 2025—aligns with consumer trends but may pressure margins in the short term. Longchamp’s exposure to China (20% of sales) is a double-edged sword: while the region’s luxury recovery could drive growth, geopolitical risks and shifting consumer preferences toward local brands pose downside risks. </a:t>
            </a:r>
            <a:br/>
            <a:br/>
            <a:r>
              <a:t>Longchamp’s valuation is difficult to benchmark given its private status, but industry sources suggest an implied enterprise value of €1.5–2 billion, or ~2.5–3x revenue. This is at a discount to public peers like Tapestry (4–5x revenue) and Capri Holdings (3–4x), reflecting Longchamp’s slower growth and limited diversification. The company’s conservative leverage (debt/EBITDA ~1x) and strong free cash flow generation provide financial flexibility, but the lack of a clear succession plan (family-owned) and limited M&amp;A activity raise questions about long-term strategic direction. </a:t>
            </a:r>
            <a:br/>
            <a:br/>
            <a:r>
              <a:t>In summary, Longchamp’s brand strength, margin resilience, and cash flow stability support a HOLD recommendation, but its growth trajectory, valuation discount, and execution risks limit upside potential without a catalyst for transformation or a shift in strategic priorities.</a:t>
            </a:r>
          </a:p>
          <a:p>
            <a:pPr>
              <a:spcBef>
                <a:spcPts val="200"/>
              </a:spcBef>
              <a:spcAft>
                <a:spcPts val="200"/>
              </a:spcAft>
              <a:defRPr sz="1400">
                <a:solidFill>
                  <a:srgbClr val="333333"/>
                </a:solidFill>
                <a:latin typeface="Calibri"/>
              </a:defRPr>
            </a:pPr>
            <a:r>
              <a:t>Bull: The bull case for Longchamp hinges on three concrete drivers: (1) **Accelerated digital and direct-to-consumer (DTC) growth**, with e-commerce penetration rising to 35–40% of sales within three years, driven by enhanced CRM, AI-driven personalization, and expanded local-language platforms in Asia. This could add 200–300bps to EBITDA margins as wholesale markdowns decline. (2) **China and Asia-Pacific recovery**, with the region’s luxury market rebounding to 10%+ growth in 2025, coupled with Longchamp’s targeted expansion in Tier 2/3 cities and collaborations with local influencers. This could lift Asia’s revenue contribution to 40% of the total, adding €50–70 million in annual sales. (3) **Product innovation and category expansion**, particularly in ready-to-wear and footwear, where Longchamp has under-indexed historically. A successful launch of a premium leather sneaker line or a capsule collection with a high-profile designer could rejuvenate brand perception and drive 5–7% revenue growth annually. In this scenario, Longchamp’s revenue could reach €800–900 million by 2027, with EBITDA margins expanding to 20%, justifying an enterprise value of €2.5–3 billion.</a:t>
            </a:r>
          </a:p>
          <a:p>
            <a:pPr>
              <a:spcBef>
                <a:spcPts val="200"/>
              </a:spcBef>
              <a:spcAft>
                <a:spcPts val="200"/>
              </a:spcAft>
              <a:defRPr sz="1400">
                <a:solidFill>
                  <a:srgbClr val="333333"/>
                </a:solidFill>
                <a:latin typeface="Calibri"/>
              </a:defRPr>
            </a:pPr>
            <a:r>
              <a:t>Base: The base case assumes Longchamp delivers steady but unspectacular growth, with revenue rising at a 3–5% CAGR through 2027, reaching €700–750 million. Key assumptions include: (1) **Moderate China recovery**, with Asia-Pacific sales growing at 6–8% annually, offset by stagnant European demand and modest 2–3% growth in the Americas. (2) **Stable margins**, with EBITDA holding at 16–18% as higher DTC sales (25–30% of revenue) offset rising input costs and investments in sustainability. (3) **Limited category expansion**, with leather goods remaining 60% of sales, and ready-to-wear/accessories contributing incremental growth. (4) **No major M&amp;A or strategic shifts**, as the family-owned structure prioritizes organic growth and financial conservatism. In this scenario, Longchamp’s enterprise value remains range-bound at €1.5–2 billion, with upside limited to multiple expansion if the company signals a clearer path to public listing or a transformative partnership.</a:t>
            </a:r>
          </a:p>
          <a:p>
            <a:pPr>
              <a:spcBef>
                <a:spcPts val="200"/>
              </a:spcBef>
              <a:spcAft>
                <a:spcPts val="200"/>
              </a:spcAft>
              <a:defRPr sz="1400">
                <a:solidFill>
                  <a:srgbClr val="333333"/>
                </a:solidFill>
                <a:latin typeface="Calibri"/>
              </a:defRPr>
            </a:pPr>
            <a:r>
              <a:t>Bear: The bear case for Longchamp centers on three downside risks: (1) **China and Asia-Pacific underperformance**, with sales declining 5–10% annually due to geopolitical tensions, consumer nationalism, or a broader luxury slowdown. This could erase €30–50 million in revenue, pressuring margins as fixed costs remain high. (2) **Brand dilution and competitive pressure**, as Longchamp struggles to differentiate in the crowded accessible luxury segment, losing share to Coach, Michael Kors, and emerging local brands. A misaligned product launch (e.g., overly trend-driven designs) could alienate its core customer base and accelerate inventory markdowns. (3) **Supply chain and cost inflation**, with rising leather prices and labor costs in France squeezing gross margins below 60%, while higher marketing spend is required to maintain relevance. In this scenario, revenue could stagnate or decline to €550–600 million by 2027, with EBITDA margins compressing to 12–14%. Valuation could fall to €1–1.3 billion, as investors question the brand’s long-term relevance and the family’s ability to drive growth without external capital or expertise.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972800" cy="548640"/>
          </a:xfrm>
          <a:prstGeom prst="rect">
            <a:avLst/>
          </a:prstGeom>
          <a:noFill/>
        </p:spPr>
        <p:txBody>
          <a:bodyPr wrap="none">
            <a:spAutoFit/>
          </a:bodyPr>
          <a:lstStyle/>
          <a:p>
            <a:pPr algn="l"/>
            <a:r>
              <a:rPr b="1" sz="2200">
                <a:solidFill>
                  <a:srgbClr val="FFFFFF"/>
                </a:solidFill>
                <a:latin typeface="Calibri"/>
              </a:rPr>
              <a:t>Catalysts &amp; Risks</a:t>
            </a:r>
          </a:p>
        </p:txBody>
      </p:sp>
      <p:sp>
        <p:nvSpPr>
          <p:cNvPr id="5" name="TextBox 4"/>
          <p:cNvSpPr txBox="1"/>
          <p:nvPr/>
        </p:nvSpPr>
        <p:spPr>
          <a:xfrm>
            <a:off x="685800" y="1645920"/>
            <a:ext cx="5486400" cy="4754880"/>
          </a:xfrm>
          <a:prstGeom prst="rect">
            <a:avLst/>
          </a:prstGeom>
          <a:noFill/>
        </p:spPr>
        <p:txBody>
          <a:bodyPr wrap="none">
            <a:spAutoFit/>
          </a:bodyPr>
          <a:lstStyle/>
          <a:p>
            <a:r>
              <a:rPr b="1" sz="2000">
                <a:solidFill>
                  <a:srgbClr val="333333"/>
                </a:solidFill>
                <a:latin typeface="Calibri"/>
              </a:rPr>
              <a:t>Catalysts</a:t>
            </a:r>
          </a:p>
          <a:p>
            <a:pPr>
              <a:spcBef>
                <a:spcPts val="200"/>
              </a:spcBef>
              <a:spcAft>
                <a:spcPts val="200"/>
              </a:spcAft>
              <a:defRPr sz="1400">
                <a:solidFill>
                  <a:srgbClr val="333333"/>
                </a:solidFill>
                <a:latin typeface="Calibri"/>
              </a:defRPr>
            </a:pPr>
            <a:r>
              <a:t>Upcoming Q4 2024 earnings and strategic update, which could clarify China recovery trends, DTC growth, and margin trajectory, providing visibility on 2025 guidance.</a:t>
            </a:r>
          </a:p>
          <a:p>
            <a:pPr>
              <a:spcBef>
                <a:spcPts val="200"/>
              </a:spcBef>
              <a:spcAft>
                <a:spcPts val="200"/>
              </a:spcAft>
              <a:defRPr sz="1400">
                <a:solidFill>
                  <a:srgbClr val="333333"/>
                </a:solidFill>
                <a:latin typeface="Calibri"/>
              </a:defRPr>
            </a:pPr>
            <a:r>
              <a:t>Potential launch of a premium leather sneaker line or high-profile collaboration (e.g., with a luxury designer or artist), which could rejuvenate brand perception and drive traffic across channels.</a:t>
            </a:r>
          </a:p>
          <a:p>
            <a:pPr>
              <a:spcBef>
                <a:spcPts val="200"/>
              </a:spcBef>
              <a:spcAft>
                <a:spcPts val="200"/>
              </a:spcAft>
              <a:defRPr sz="1400">
                <a:solidFill>
                  <a:srgbClr val="333333"/>
                </a:solidFill>
                <a:latin typeface="Calibri"/>
              </a:defRPr>
            </a:pPr>
            <a:r>
              <a:t>Announcement of a minority stake sale or strategic partnership (e.g., with a private equity firm or luxury conglomerate), which could signal a path to public listing or accelerated expansion.</a:t>
            </a:r>
          </a:p>
        </p:txBody>
      </p:sp>
      <p:sp>
        <p:nvSpPr>
          <p:cNvPr id="6" name="TextBox 5"/>
          <p:cNvSpPr txBox="1"/>
          <p:nvPr/>
        </p:nvSpPr>
        <p:spPr>
          <a:xfrm>
            <a:off x="6400800" y="1645920"/>
            <a:ext cx="5486400" cy="4754880"/>
          </a:xfrm>
          <a:prstGeom prst="rect">
            <a:avLst/>
          </a:prstGeom>
          <a:noFill/>
        </p:spPr>
        <p:txBody>
          <a:bodyPr wrap="none">
            <a:spAutoFit/>
          </a:bodyPr>
          <a:lstStyle/>
          <a:p>
            <a:r>
              <a:rPr b="1" sz="2000">
                <a:solidFill>
                  <a:srgbClr val="333333"/>
                </a:solidFill>
                <a:latin typeface="Calibri"/>
              </a:rPr>
              <a:t>Key Risks</a:t>
            </a:r>
          </a:p>
          <a:p>
            <a:pPr>
              <a:spcBef>
                <a:spcPts val="200"/>
              </a:spcBef>
              <a:spcAft>
                <a:spcPts val="200"/>
              </a:spcAft>
              <a:defRPr sz="1400">
                <a:solidFill>
                  <a:srgbClr val="333333"/>
                </a:solidFill>
                <a:latin typeface="Calibri"/>
              </a:defRPr>
            </a:pPr>
            <a:r>
              <a:t>No risks provided.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