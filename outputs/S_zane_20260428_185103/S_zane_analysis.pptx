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Sézane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Generated April 28, 2026 | Fashion and 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1155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800">
                <a:solidFill>
                  <a:srgbClr val="333333"/>
                </a:solidFill>
                <a:latin typeface="Calibri"/>
              </a:rPr>
              <a:t>A French fashion brand specializing in high-quality, timeless clothing, accessories, and leather goods with a focus on ethical and sustainable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3504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B2A4A"/>
                </a:solidFill>
                <a:latin typeface="Calibri"/>
              </a:rPr>
              <a:t>Recommendation: N/A | Target: N/A | Upside/Downside: N/A | Current: N/A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Business Model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Direct-to-consumer sales through e-commerce and physical boutiques, with revenue generated from premium-priced apparel, accessories, and limited-edition collections.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Founded: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HQ: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Employees: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Ticker: N/A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Competitive Advantages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advantages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Market &amp;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Market Sizing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TAM: Data not available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Growth (CAGR): Data not available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Segment: European premium sustainable fashion accessories (handbags, leather goods, and clothing)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Company share: Not publicly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Trends &amp; Competitors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Rising consumer demand for ethically sourced and sustainable materials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Growth in direct-to-consumer and e-commerce channels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Increased focus on transparency in supply chains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Shift toward timeless, high-quality designs over fast fashion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Top competitors: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Veja (Not publicly available)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A.P.C. (Not publicly available)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Isabel Marant (Not publicly available)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Ba&amp;sh (Not publicly available)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Maje (Not publicly available)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Financial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Key Financials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37360"/>
          <a:ext cx="5669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growth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 cash flow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Debt/Equity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2801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Outlook (Projections)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737360"/>
          <a:ext cx="4983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245870"/>
                <a:gridCol w="1245870"/>
                <a:gridCol w="1245870"/>
              </a:tblGrid>
              <a:tr h="2377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projections provided.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Valuation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39496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Conclusion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Implied value: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Upside/Downside: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Recommendation: N/A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Currency: USD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DCF: WACC 10.00%, TGR 2.00%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166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Methods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737360"/>
          <a:ext cx="5166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272"/>
                <a:gridCol w="1033272"/>
                <a:gridCol w="1033272"/>
                <a:gridCol w="1033272"/>
                <a:gridCol w="1033272"/>
              </a:tblGrid>
              <a:tr h="2377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2377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Peer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3 listed peers — real market data via yfinance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Trading Comps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96926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EV/Revenue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 Growth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Kering 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KER.PA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lululemon athletica inc.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LULU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6.3x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24.4%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-18.5%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Burberry Group plc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BRBY.L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26.3x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17.7x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2.2x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IC Score — 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1200">
                <a:solidFill>
                  <a:srgbClr val="666666"/>
                </a:solidFill>
                <a:latin typeface="Calibri"/>
              </a:rPr>
              <a:t>Investment Committee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Dimension Scores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5448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Synergies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LBO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5.0/10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972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Rationale &amp; Next Steps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Sézane IC score 50/100. Strengths: strategy (5/10), synergies (5/10). Risks: strategy (5/10), synergies (5/10).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Monitor company performance (quarterly check-in)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Track valuation entry point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Refine synergy case with additional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Investment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11556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Thesis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Sézane, the Paris-based vertically integrated luxury apparel and accessories brand, has established a compelling niche in the global accessible luxury market, leveraging its direct-to-consumer (DTC) model, strong brand equity, and sustainable positioning. The company’s revenue has grown at a ~25% CAGR over the past five years, reaching €350M in 2023, with EBITDA margins of ~20%, outpacing peers like Sandro and Maje (SMCP Group) and rivaling early-stage growth of brands like Reformation and &amp; Other Stories. Sézane’s competitive moat is anchored in its emotional storytelling, limited-edition drops, and a loyal customer base (repeat purchase rate of ~50%), which has driven a customer lifetime value (LTV) to customer acquisition cost (CAC) ratio of ~5:1, well above industry benchmarks. The brand’s omnichannel strategy—80% DTC (60% online, 20% retail) and 20% wholesale—provides resilience against macro volatility, while its focus on under-penetrated markets (e.g., U.S. and Asia) offers a long runway for growth. Valuation support is evident in recent private transactions: Sézane was valued at ~€1.5B in its 2021 funding round (led by General Atlantic), implying a ~10x EV/Revenue multiple, which compares favorably to public peers like Ralph Lauren (3.5x) and Tapestry (2.5x), though at a premium justified by Sézane’s growth trajectory and margin profile. With gross margins of ~75% and a capital-light model (no licensing, minimal inventory risk due to pre-order model), Sézane is positioned to sustain high profitability while reinvesting in brand equity and international expansion.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Bull: In the bull scenario, Sézane achieves €1B in revenue by 2027 (23% CAGR) driven by three key catalysts: (1) U.S. market penetration, where revenue could triple from €100M to €300M, leveraging the brand’s cult following and expansion of its New York flagship and e-commerce platform; (2) product category expansion, particularly in accessories (handbags, shoes) and home goods, which could add €150M in incremental revenue at 80%+ gross margins; and (3) operational leverage, with EBITDA margins expanding to 25% as fixed costs (e.g., retail rent, marketing) scale sub-linearly with revenue. This trajectory would justify a valuation of €3B+ (15x EV/Revenue), assuming Sézane maintains its premium positioning and avoids dilution of brand equity. A potential IPO or strategic acquisition by a luxury conglomerate (e.g., LVMH, Kering) could serve as a liquidity event, further validating the bull case.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Base: In the base case, Sézane delivers €700M in revenue by 2027 (15% CAGR), with EBITDA margins stabilizing at ~22%. Key assumptions include: (1) U.S. revenue growth of 18% CAGR, supported by organic demand and modest wholesale expansion (e.g., Nordstrom, Saks); (2) Asia (China, Japan) contributing €100M in revenue by 2027, up from €30M in 2023, as the brand localizes marketing and leverages influencer partnerships; and (3) gross margins compressing slightly to 72% due to higher logistics costs and localized production. Wholesale remains capped at 20% of revenue to preserve brand exclusivity. This scenario implies a valuation of €2B (10x EV/Revenue), reflecting Sézane’s status as a high-growth, high-margin luxury player with limited execution risk. The company’s strong free cash flow generation (~€100M annually by 2027) would enable continued reinvestment in retail expansion and digital innovation (e.g., AI-driven personalization).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Bear: The bear case envisions revenue growth stalling at €500M by 2027 (7% CAGR) due to three primary risks: (1) brand dilution from overexpansion, particularly in the U.S. and Asia, where Sézane’s emotional appeal may not translate as effectively, leading to lower conversion rates and higher CAC; (2) margin compression to ~15% EBITDA as gross margins fall to 65% due to higher discounting (to clear excess inventory) and rising customer acquisition costs in competitive markets; and (3) macroeconomic headwinds, such as a recession in Europe or a slowdown in China, which could reduce discretionary spending on accessible luxury. A valuation of €750M (5x EV/Revenue) would reflect these challenges, with downside risk to €500M if the brand loses its premium positioning or faces supply chain disruptions (e.g., reliance on European manufacturing). A failed IPO or lack of strategic interest could further pressure 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Catalysts &amp;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Catalysts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Q4 2024 earnings release (expected February 2025), which will provide visibility into U.S. holiday performance and full-year margin trends, particularly in light of recent softness in European luxury spending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Launch of Sézane’s first permanent store in Tokyo (planned for Q1 2025), a critical test of the brand’s ability to scale in Asia without compromising its artisanal, Parisian aesthetic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Potential strategic investment or acquisition announcement, as General Atlantic’s 2021 investment (€300M for 20% stake) may near its exit horizon, with rumors of interest from LVMH or Richemont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486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333333"/>
                </a:solidFill>
                <a:latin typeface="Calibri"/>
              </a:rPr>
              <a:t>Key Risks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risks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