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Score</c:v>
                </c:pt>
              </c:strCache>
            </c:strRef>
          </c:tx>
          <c:spPr>
            <a:solidFill>
              <a:srgbClr val="1F497D"/>
            </a:solidFill>
          </c:spPr>
          <c:cat>
            <c:strRef>
              <c:f>Sheet1!$A$2:$A$7</c:f>
              <c:strCache>
                <c:ptCount val="6"/>
                <c:pt idx="0">
                  <c:v>Strategy</c:v>
                </c:pt>
                <c:pt idx="1">
                  <c:v>Synergies</c:v>
                </c:pt>
                <c:pt idx="2">
                  <c:v>Financial</c:v>
                </c:pt>
                <c:pt idx="3">
                  <c:v>LBO</c:v>
                </c:pt>
                <c:pt idx="4">
                  <c:v>Integration</c:v>
                </c:pt>
                <c:pt idx="5">
                  <c:v>Risk</c:v>
                </c:pt>
              </c:strCache>
            </c:strRef>
          </c:cat>
          <c:val>
            <c:numRef>
              <c:f>Sheet1!$B$2:$B$7</c:f>
              <c:numCache>
                <c:formatCode>General</c:formatCode>
                <c:ptCount val="6"/>
                <c:pt idx="0">
                  <c:v>5.0</c:v>
                </c:pt>
                <c:pt idx="1">
                  <c:v>5.0</c:v>
                </c:pt>
                <c:pt idx="2">
                  <c:v>5.0</c:v>
                </c:pt>
                <c:pt idx="3">
                  <c:v>5.0</c:v>
                </c:pt>
                <c:pt idx="4">
                  <c:v>5.0</c:v>
                </c:pt>
                <c:pt idx="5">
                  <c:v>5.0</c:v>
                </c:pt>
              </c:numCache>
            </c:numRef>
          </c:val>
          <c:smooth val="0"/>
        </c:ser>
        <c:ser>
          <c:idx val="1"/>
          <c:order val="1"/>
          <c:tx>
            <c:strRef>
              <c:f>Sheet1!$C$1</c:f>
              <c:strCache>
                <c:ptCount val="1"/>
                <c:pt idx="0">
                  <c:v>Midpoint</c:v>
                </c:pt>
              </c:strCache>
            </c:strRef>
          </c:tx>
          <c:spPr>
            <a:ln>
              <a:solidFill>
                <a:srgbClr val="B4B4B4"/>
              </a:solidFill>
            </a:ln>
          </c:spPr>
          <c:cat>
            <c:strRef>
              <c:f>Sheet1!$A$2:$A$7</c:f>
              <c:strCache>
                <c:ptCount val="6"/>
                <c:pt idx="0">
                  <c:v>Strategy</c:v>
                </c:pt>
                <c:pt idx="1">
                  <c:v>Synergies</c:v>
                </c:pt>
                <c:pt idx="2">
                  <c:v>Financial</c:v>
                </c:pt>
                <c:pt idx="3">
                  <c:v>LBO</c:v>
                </c:pt>
                <c:pt idx="4">
                  <c:v>Integration</c:v>
                </c:pt>
                <c:pt idx="5">
                  <c:v>Risk</c:v>
                </c:pt>
              </c:strCache>
            </c:strRef>
          </c:cat>
          <c:val>
            <c:numRef>
              <c:f>Sheet1!$C$2:$C$7</c:f>
              <c:numCache>
                <c:formatCode>General</c:formatCode>
                <c:ptCount val="6"/>
                <c:pt idx="0">
                  <c:v>5.0</c:v>
                </c:pt>
                <c:pt idx="1">
                  <c:v>5.0</c:v>
                </c:pt>
                <c:pt idx="2">
                  <c:v>5.0</c:v>
                </c:pt>
                <c:pt idx="3">
                  <c:v>5.0</c:v>
                </c:pt>
                <c:pt idx="4">
                  <c:v>5.0</c:v>
                </c:pt>
                <c:pt idx="5">
                  <c:v>5.0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Executive Summary  |  Healthcare Technology (HealthTech)  |  Private</a:t>
            </a:r>
          </a:p>
        </p:txBody>
      </p:sp>
      <p:sp>
        <p:nvSpPr>
          <p:cNvPr id="6" name="TextBox 5"/>
          <p:cNvSpPr txBox="1"/>
          <p:nvPr/>
        </p:nvSpPr>
        <p:spPr>
          <a:xfrm>
            <a:off x="4114800" y="1371600"/>
            <a:ext cx="3657600" cy="822960"/>
          </a:xfrm>
          <a:prstGeom prst="rect">
            <a:avLst/>
          </a:prstGeom>
          <a:noFill/>
        </p:spPr>
        <p:txBody>
          <a:bodyPr wrap="none">
            <a:spAutoFit/>
          </a:bodyPr>
          <a:lstStyle/>
          <a:p>
            <a:pPr algn="ctr"/>
            <a:r>
              <a:rPr b="1" sz="3600">
                <a:solidFill>
                  <a:srgbClr val="FFC000"/>
                </a:solidFill>
                <a:latin typeface="Calibri"/>
              </a:rPr>
              <a:t>HOLD</a:t>
            </a:r>
          </a:p>
        </p:txBody>
      </p:sp>
      <p:sp>
        <p:nvSpPr>
          <p:cNvPr id="7" name="TextBox 6"/>
          <p:cNvSpPr txBox="1"/>
          <p:nvPr/>
        </p:nvSpPr>
        <p:spPr>
          <a:xfrm>
            <a:off x="457200" y="2377440"/>
            <a:ext cx="11247120" cy="1280160"/>
          </a:xfrm>
          <a:prstGeom prst="rect">
            <a:avLst/>
          </a:prstGeom>
          <a:noFill/>
        </p:spPr>
        <p:txBody>
          <a:bodyPr wrap="none">
            <a:spAutoFit/>
          </a:bodyPr>
          <a:lstStyle/>
          <a:p>
            <a:pPr algn="ctr"/>
            <a:r>
              <a:rPr b="1" sz="1500">
                <a:solidFill>
                  <a:srgbClr val="1B2A4A"/>
                </a:solidFill>
                <a:latin typeface="Calibri"/>
              </a:rPr>
              <a:t>Implied EV: N/A     |     Revenue: $Not available [no verified source]M     |     EBITDA Margin: 18.0% [sector avg]     |     Upside/Downside: N/A [no market price]</a:t>
            </a:r>
          </a:p>
        </p:txBody>
      </p:sp>
      <p:sp>
        <p:nvSpPr>
          <p:cNvPr id="8" name="TextBox 7"/>
          <p:cNvSpPr txBox="1"/>
          <p:nvPr/>
        </p:nvSpPr>
        <p:spPr>
          <a:xfrm>
            <a:off x="4754880" y="3657600"/>
            <a:ext cx="2560320" cy="640080"/>
          </a:xfrm>
          <a:prstGeom prst="rect">
            <a:avLst/>
          </a:prstGeom>
          <a:noFill/>
        </p:spPr>
        <p:txBody>
          <a:bodyPr wrap="none">
            <a:spAutoFit/>
          </a:bodyPr>
          <a:lstStyle/>
          <a:p>
            <a:pPr algn="ctr"/>
            <a:r>
              <a:rPr b="1" sz="1600">
                <a:solidFill>
                  <a:srgbClr val="1B2A4A"/>
                </a:solidFill>
                <a:latin typeface="Calibri"/>
              </a:rPr>
              <a:t>IC Score: 50/100</a:t>
            </a:r>
          </a:p>
        </p:txBody>
      </p:sp>
      <p:sp>
        <p:nvSpPr>
          <p:cNvPr id="9" name="TextBox 8"/>
          <p:cNvSpPr txBox="1"/>
          <p:nvPr/>
        </p:nvSpPr>
        <p:spPr>
          <a:xfrm>
            <a:off x="457200" y="4480560"/>
            <a:ext cx="11247120" cy="2103120"/>
          </a:xfrm>
          <a:prstGeom prst="rect">
            <a:avLst/>
          </a:prstGeom>
          <a:noFill/>
        </p:spPr>
        <p:txBody>
          <a:bodyPr wrap="none">
            <a:spAutoFit/>
          </a:bodyPr>
          <a:lstStyle/>
          <a:p>
            <a:r>
              <a:rPr b="1" sz="2000">
                <a:solidFill>
                  <a:srgbClr val="333333"/>
                </a:solidFill>
                <a:latin typeface="Calibri"/>
              </a:rPr>
              <a:t>Key Scenarios</a:t>
            </a:r>
          </a:p>
          <a:p>
            <a:pPr>
              <a:spcBef>
                <a:spcPts val="200"/>
              </a:spcBef>
              <a:spcAft>
                <a:spcPts val="200"/>
              </a:spcAft>
              <a:defRPr sz="1400">
                <a:solidFill>
                  <a:srgbClr val="333333"/>
                </a:solidFill>
                <a:latin typeface="Calibri"/>
              </a:defRPr>
            </a:pPr>
            <a:r>
              <a:t>Base case: The base case assumes Doctolib maintains its market leadership in France while gradually expanding its footprint in Germany and It</a:t>
            </a:r>
          </a:p>
          <a:p>
            <a:pPr>
              <a:spcBef>
                <a:spcPts val="200"/>
              </a:spcBef>
              <a:spcAft>
                <a:spcPts val="200"/>
              </a:spcAft>
              <a:defRPr sz="1400">
                <a:solidFill>
                  <a:srgbClr val="333333"/>
                </a:solidFill>
                <a:latin typeface="Calibri"/>
              </a:defRPr>
            </a:pPr>
            <a:r>
              <a:t>Bull: In the bull scenario, Doctolib solidifies its position as the de facto digital backbone for European healthcare, achieving near-ub</a:t>
            </a:r>
          </a:p>
          <a:p>
            <a:pPr>
              <a:spcBef>
                <a:spcPts val="200"/>
              </a:spcBef>
              <a:spcAft>
                <a:spcPts val="200"/>
              </a:spcAft>
              <a:defRPr sz="1400">
                <a:solidFill>
                  <a:srgbClr val="333333"/>
                </a:solidFill>
                <a:latin typeface="Calibri"/>
              </a:defRPr>
            </a:pPr>
            <a:r>
              <a:t>Bear: The bear scenario materializes if Doctolib fails to defend its market position against intensifying competition and regulatory hea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May 01, 2026 | Healthcare Technology (HealthTech)</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European digital health platform that connects patients with healthcare professionals, offering appointment scheduling, telemedicine, and practice management software.</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N/A | Upside/Downside: N/A [no market price] | Current: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Generates revenue through subscription fees from healthcare providers for its software-as-a-service (SaaS) platform, transaction fees for telemedicine services, and premium features for clinics and hospitals.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DOCTOL</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Competitive positioning data unavailable.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Market size data not available [no verified source]</a:t>
            </a:r>
          </a:p>
          <a:p>
            <a:pPr>
              <a:spcBef>
                <a:spcPts val="200"/>
              </a:spcBef>
              <a:spcAft>
                <a:spcPts val="200"/>
              </a:spcAft>
              <a:defRPr sz="1400">
                <a:solidFill>
                  <a:srgbClr val="333333"/>
                </a:solidFill>
                <a:latin typeface="Calibri"/>
              </a:defRPr>
            </a:pPr>
            <a:r>
              <a:t>Growth (CAGR): +7.0% [sector benchmark]</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market trend data available from current sources.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Not available [no verified source]</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+7.0% [estimated]</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43.0% [estimated]</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18.0% [sector avg]</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EV: N/A</a:t>
            </a:r>
          </a:p>
          <a:p>
            <a:pPr>
              <a:spcBef>
                <a:spcPts val="200"/>
              </a:spcBef>
              <a:spcAft>
                <a:spcPts val="200"/>
              </a:spcAft>
              <a:defRPr sz="1400">
                <a:solidFill>
                  <a:srgbClr val="333333"/>
                </a:solidFill>
                <a:latin typeface="Calibri"/>
              </a:defRPr>
            </a:pPr>
            <a:r>
              <a:t>Upside/Downside: N/A [no market price]</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Current price: N/A</a:t>
            </a:r>
          </a:p>
          <a:p>
            <a:pPr>
              <a:spcBef>
                <a:spcPts val="200"/>
              </a:spcBef>
              <a:spcAft>
                <a:spcPts val="200"/>
              </a:spcAft>
              <a:defRPr sz="1400">
                <a:solidFill>
                  <a:srgbClr val="333333"/>
                </a:solidFill>
                <a:latin typeface="Calibri"/>
              </a:defRPr>
            </a:pPr>
            <a:r>
              <a:t>DCF: WACC 10.00%,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237744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457200" y="1097280"/>
            <a:ext cx="539496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457200" y="1554480"/>
          <a:ext cx="5394960" cy="3017520"/>
        </p:xfrm>
        <a:graphic>
          <a:graphicData uri="http://schemas.openxmlformats.org/drawingml/2006/table">
            <a:tbl>
              <a:tblPr firstRow="1" bandRow="1">
                <a:tableStyleId>{5C22544A-7EE6-4342-B048-85BDC9FD1C3A}</a:tableStyleId>
              </a:tblPr>
              <a:tblGrid>
                <a:gridCol w="2697480"/>
                <a:gridCol w="2697480"/>
              </a:tblGrid>
              <a:tr h="37719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37719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50/100</a:t>
                      </a:r>
                    </a:p>
                  </a:txBody>
                  <a:tcPr>
                    <a:solidFill>
                      <a:srgbClr val="FFFFFF"/>
                    </a:solidFill>
                  </a:tcPr>
                </a:tc>
              </a:tr>
            </a:tbl>
          </a:graphicData>
        </a:graphic>
      </p:graphicFrame>
      <p:sp>
        <p:nvSpPr>
          <p:cNvPr id="8" name="TextBox 7"/>
          <p:cNvSpPr txBox="1"/>
          <p:nvPr/>
        </p:nvSpPr>
        <p:spPr>
          <a:xfrm>
            <a:off x="457200" y="4754880"/>
            <a:ext cx="5394960" cy="1828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Doctolib IC score 50/100. Strengths: strategy (5/10), synergies (5/10). Risks: strategy (5/10), synergies (5/10).</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graphicFrame>
        <p:nvGraphicFramePr>
          <p:cNvPr id="9" name="Chart 8"/>
          <p:cNvGraphicFramePr>
            <a:graphicFrameLocks noGrp="1"/>
          </p:cNvGraphicFramePr>
          <p:nvPr/>
        </p:nvGraphicFramePr>
        <p:xfrm>
          <a:off x="6217920" y="1097280"/>
          <a:ext cx="5760720"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Doctolib has established itself as the dominant digital health platform in Europe, leveraging a dual-sided marketplace model that connects patients with healthcare providers. The company’s core offering—online appointment scheduling—has become deeply embedded in the healthcare ecosystems of France, Germany, and Italy, with over 300,000 healthcare professionals and 80 million patients using the platform as of 2024. This scale provides a formidable network effect, as both patients and providers benefit from increased adoption, creating a virtuous cycle that reinforces Doctolib’s market leadership. Beyond scheduling, the company has expanded into telemedicine, electronic health records (EHR), and practice management software, positioning itself as an end-to-end digital infrastructure layer for healthcare delivery. The European healthcare market, characterized by fragmented provider networks and low digital penetration, presents a significant growth opportunity, particularly as governments push for digitalization to improve efficiency and patient access. Doctolib’s competitive moat is further strengthened by its regulatory compliance, data security standards, and deep integration with public health systems, which act as barriers to entry for competitors. While financial data is not publicly available, the company’s trajectory suggests a path toward monetization through subscription fees, transaction-based revenue, and value-added services, with potential for margin expansion as it scales. Valuation support would likely hinge on its ability to capture a larger share of the healthcare IT market, which is projected to grow at a mid-teens CAGR in Europe through 2030, driven by aging populations, rising chronic disease prevalence, and cost pressures on healthcare systems.</a:t>
            </a:r>
          </a:p>
          <a:p>
            <a:pPr>
              <a:spcBef>
                <a:spcPts val="200"/>
              </a:spcBef>
              <a:spcAft>
                <a:spcPts val="200"/>
              </a:spcAft>
              <a:defRPr sz="1400">
                <a:solidFill>
                  <a:srgbClr val="333333"/>
                </a:solidFill>
                <a:latin typeface="Calibri"/>
              </a:defRPr>
            </a:pPr>
            <a:r>
              <a:t>Bull: In the bull scenario, Doctolib solidifies its position as the de facto digital backbone for European healthcare, achieving near-ubiquity among providers and patients. Three key drivers underpin this outcome: (1) Accelerated adoption of telemedicine and EHR integration, particularly in Germany and Italy, where digital health penetration lags France; (2) Expansion into adjacent verticals such as chronic disease management, mental health, and preventive care, which command higher monetization potential; and (3) Strategic partnerships with public health systems and insurers, enabling Doctolib to embed its platform into reimbursement workflows. The outcome would see Doctolib transition from a scheduling tool to a mission-critical infrastructure player, with diversified revenue streams and strong pricing power. This could position the company for a public listing or strategic acquisition by a global healthcare IT player, with valuation multiples reflecting its market leadership and growth potential in a structurally underpenetrated sector.</a:t>
            </a:r>
          </a:p>
          <a:p>
            <a:pPr>
              <a:spcBef>
                <a:spcPts val="200"/>
              </a:spcBef>
              <a:spcAft>
                <a:spcPts val="200"/>
              </a:spcAft>
              <a:defRPr sz="1400">
                <a:solidFill>
                  <a:srgbClr val="333333"/>
                </a:solidFill>
                <a:latin typeface="Calibri"/>
              </a:defRPr>
            </a:pPr>
            <a:r>
              <a:t>Base: The base case assumes Doctolib maintains its market leadership in France while gradually expanding its footprint in Germany and Italy, albeit at a slower pace due to regulatory and adoption hurdles. The company continues to monetize its core scheduling and telemedicine offerings through subscription and transaction-based models, with steady but unspectacular growth in average revenue per user (ARPU) as it upsells premium features. Expansion into EHR and practice management remains a secondary priority, with limited near-term revenue contribution. The company avoids aggressive M&amp;A, instead focusing on organic growth and incremental product innovation. While Doctolib remains the clear leader in its core markets, competition from niche players and regional incumbents prevents it from achieving full dominance. The outcome is a stable, cash-flow-positive business with modest growth, potentially positioning it for a mid-tier exit or a conservative IPO valuing it as a mature, albeit not hyper-growth, digital health platform.</a:t>
            </a:r>
          </a:p>
          <a:p>
            <a:pPr>
              <a:spcBef>
                <a:spcPts val="200"/>
              </a:spcBef>
              <a:spcAft>
                <a:spcPts val="200"/>
              </a:spcAft>
              <a:defRPr sz="1400">
                <a:solidFill>
                  <a:srgbClr val="333333"/>
                </a:solidFill>
                <a:latin typeface="Calibri"/>
              </a:defRPr>
            </a:pPr>
            <a:r>
              <a:t>Bear: The bear scenario materializes if Doctolib fails to defend its market position against intensifying competition and regulatory headwinds. Key downside risks include: (1) Fragmentation of the European digital health market, with regional players or global tech giants (e.g., Microsoft, Amazon) capturing share by leveraging superior AI, interoperability, or pricing power; (2) Regulatory crackdowns on data privacy or telemedicine practices, particularly in Germany, which could limit Doctolib’s ability to monetize patient data or expand its service offerings; and (3) Provider pushback against subscription fees or transaction costs, leading to churn or pricing pressure. Additionally, if Doctolib’s expansion into EHR and practice management stalls, it could remain overly reliant on its core scheduling business, limiting its growth potential. In this scenario, the company’s valuation would suffer from stagnant adoption, margin compression, and a loss of its competitive moat, potentially forcing a distressed sale or a down-round financing.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Regulatory approval for expanded telemedicine services in Germany, which could unlock a significant new revenue stream and accelerate adoption among providers</a:t>
            </a:r>
          </a:p>
          <a:p>
            <a:pPr>
              <a:spcBef>
                <a:spcPts val="200"/>
              </a:spcBef>
              <a:spcAft>
                <a:spcPts val="200"/>
              </a:spcAft>
              <a:defRPr sz="1400">
                <a:solidFill>
                  <a:srgbClr val="333333"/>
                </a:solidFill>
                <a:latin typeface="Calibri"/>
              </a:defRPr>
            </a:pPr>
            <a:r>
              <a:t>Launch of a chronic disease management platform, targeting high-value conditions such as diabetes and hypertension, with potential partnerships with insurers or pharma companies</a:t>
            </a:r>
          </a:p>
          <a:p>
            <a:pPr>
              <a:spcBef>
                <a:spcPts val="200"/>
              </a:spcBef>
              <a:spcAft>
                <a:spcPts val="200"/>
              </a:spcAft>
              <a:defRPr sz="1400">
                <a:solidFill>
                  <a:srgbClr val="333333"/>
                </a:solidFill>
                <a:latin typeface="Calibri"/>
              </a:defRPr>
            </a:pPr>
            <a:r>
              <a:t>Potential IPO or strategic acquisition announcement, which would provide the first public benchmark for the company’s valuation and growth prospects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