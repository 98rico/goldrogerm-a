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NVIDIA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Generated April 28, 2026 |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1155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800">
                <a:solidFill>
                  <a:srgbClr val="333333"/>
                </a:solidFill>
                <a:latin typeface="Calibri"/>
              </a:rPr>
              <a:t>N/A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B2A4A"/>
                </a:solidFill>
                <a:latin typeface="Calibri"/>
              </a:rPr>
              <a:t>Recommendation: BUY | Target: 14301526.6 | Upside/Downside: +172.7% | Current: 216.61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Business Model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Founded: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HQ: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Employees: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Ticker: NVDA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Competitive Advantages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advantages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Market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Market Sizing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TAM: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Growth (CAGR):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Segment: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Company share: N/A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Trends &amp; Competitors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trends provided.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Top competitors: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Financial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Key Financials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215938.00704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0.61698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0.55603004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 cash flow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58128.9984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Debt/Equity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0.0021676423159760917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2801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Outlook (Projections)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37360"/>
          <a:ext cx="4983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2377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projections provided.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Valuation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3949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Conclusion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Implied value: 14301526.6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Upside/Downside: +172.7%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Recommendation: BUY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Currency: USD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DCF: WACC 17.34%, TGR 2.50%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166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Methods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5166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"/>
                <a:gridCol w="1033272"/>
                <a:gridCol w="1033272"/>
                <a:gridCol w="1033272"/>
                <a:gridCol w="1033272"/>
              </a:tblGrid>
              <a:tr h="1188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3211221.4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Trading Comps (EV_EBITDA)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8809585.4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24671070.9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40532556.4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Transaction Comps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26472973.2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Valuation Football Field — Bear / Base / Bull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Scenario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DCF EV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Comps EV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Blended EV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WACC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$2861.2B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$20389.9B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$12070.0B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$3988.5B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$32052.3B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$18488.6B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$5419.7B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$47962.0B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$27068.3B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572000"/>
            <a:ext cx="11155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Ranges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DCF range:     $2861.2B — $5419.7B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Comps range:   $20389.9B — $47962.0B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Blended range: $12070.0B — $27068.3B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Peer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6 listed peers — real market data via yfinance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Trading Comps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60579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 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Advanced Micro Devices,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Intel Corporation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32.0x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8.4x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+7.2%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Broadcom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QUALCOMM Incorporated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QCOM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11.9x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3.6x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Taiwan Semiconductor Manufacturing Company 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ASML Holding N.V.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ASML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43.0x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16.2x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+19.2%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IC Score —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Investment Committee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Dimension Scores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5448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Synergies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LBO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972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Rationale &amp; Next Steps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NVIDIA IC score 58/100. Strengths: financial (9/10), strategy (5/10). Risks: strategy (5/10), synergies (5/10). Equity upside: +172.7%.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Monitor company performance (quarterly check-in)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Track valuation entry point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Refine synergy case with additional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Thesis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NVIDIA (NVDA) remains the undisputed leader in accelerated computing, underpinned by its dominant position in AI GPUs, a rapidly expanding software ecosystem, and structural tailwinds from generative AI and data center modernization. With data center revenue surging 427% YoY in Q1 FY25 to $22.6B (86% of total revenue), NVIDIA’s moat is reinforced by its CUDA software platform, which boasts over 4 million developers and 3,000+ accelerated applications, creating high switching costs for customers. The company’s gross margins expanded to 78.4% in Q1, reflecting pricing power and supply chain efficiencies, while free cash flow reached $26.6B (TTM), supporting aggressive R&amp;D and capital returns. Valuation, while elevated at ~35x FY26E P/E, is justified by a 30%+ CAGR in earnings through FY27, driven by AI adoption across cloud, enterprise, and sovereign markets. Competitors like AMD and Intel lack NVIDIA’s full-stack integration, and hyperscalers’ in-house chip efforts (e.g., Google’s TPU, AWS’s Trainium) have yet to meaningfully erode its market share, which exceeds 80% in AI training. Risks include potential U.S. export restrictions to China, though NVIDIA’s alternative products (e.g., H20) and diversified end-markets mitigate this exposure.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Bull: In the bull scenario, NVIDIA’s revenue accelerates beyond consensus as generative AI adoption outpaces expectations, with data center growth sustaining 50%+ YoY through FY27. Key drivers include: (1) AI inference demand exploding as enterprises deploy LLMs for automation, lifting NVIDIA’s inference GPU sales (e.g., L40S, B100) to $30B+ annually by FY26; (2) the Blackwell platform (B100/B200) achieving 90%+ attach rates in cloud and enterprise, with ASPs rising 20% YoY due to performance uplifts; and (3) software and services (e.g., NVIDIA AI Enterprise, Omniverse) scaling to $10B+ in revenue, adding high-margin recurring revenue. This scenario implies FY27 revenue of $150B+ (vs. consensus $120B) and EPS of $35+, driving the stock to $1,500+ (50%+ upside from current levels).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Base: In the base case, NVIDIA delivers a 25-30% revenue CAGR through FY27, with data center growth moderating to 30% YoY as hyperscalers optimize capex and competitors gain limited traction. Key assumptions include: (1) AI training demand remains robust, with NVIDIA maintaining 80%+ market share, while inference grows to 40% of data center revenue by FY26; (2) gross margins stabilize at 75-77% as Blackwell ramps and supply chain costs normalize; and (3) gaming and automotive segments recover modestly, contributing $10B+ in combined revenue. This scenario implies FY27 revenue of $120B and EPS of $28, supporting a $1,200 target (20% upside). Valuation remains supported by NVIDIA’s role as the ‘picks-and-shovels’ play for AI, with FCF yields expanding to 3%+ as capex peaks in FY25.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Bear: The bear case envisions a sharp deceleration in AI spending, with NVIDIA’s data center growth slowing to 10% YoY by FY26 due to: (1) hyperscalers (e.g., Microsoft, Google) aggressively shifting to in-house chips (e.g., TPU, Trainium), capturing 30%+ of AI workloads; (2) U.S. export restrictions to China escalating, cutting off 20% of data center revenue; and (3) macroeconomic weakness delaying enterprise AI deployments, compressing inference GPU demand. Gross margins contract to 70% as pricing power erodes, and gaming/automotive segments stagnate. This scenario implies FY27 revenue of $80B and EPS of $18, driving the stock to $600 (40% downside). Triggers include a Q3 FY25 earnings miss with weak guidance, regulatory actions on China exports, or a broader tech downturn.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Catalysts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Catalysts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Q2 FY25 earnings (August 2024): Blackwell (B100/B200) ramp and China export dynamics will be key focus areas, with consensus expecting $28B+ in revenue (+110% YoY) and 77%+ gross margins.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NVIDIA GTC Japan (September 2024): Potential announcements on sovereign AI deals (e.g., Japan, India) and new partnerships in automotive/robotics, which could expand TAM beyond cloud.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U.S. election outcome (November 2024): Policy shifts on China trade (e.g., tariffs, export controls) could impact NVIDIA’s $10B+ annual revenue from Chinese hyperscalers and enterprises.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Key Risks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risks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