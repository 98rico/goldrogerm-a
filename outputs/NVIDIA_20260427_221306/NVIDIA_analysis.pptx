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NVIDIA</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27, 2026 | Information Technology</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NVIDIA is a technology company specializing in graphics processing units (GPUs) for gaming, professional visualization, data centers, and artificial intelligence (AI).</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BUY | Target: 15919956.3 | Upside/Downside: +203.4% | Current: 216.61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NVIDIA generates revenue primarily through the sale of GPUs, AI software, data center solutions, and automotive chips. It also earns from licensing, cloud services, and partnerships in AI and high-performance computing.</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NVDA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No advantages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N/A</a:t>
            </a:r>
          </a:p>
          <a:p>
            <a:pPr>
              <a:spcBef>
                <a:spcPts val="200"/>
              </a:spcBef>
              <a:spcAft>
                <a:spcPts val="200"/>
              </a:spcAft>
              <a:defRPr sz="1400">
                <a:solidFill>
                  <a:srgbClr val="333333"/>
                </a:solidFill>
                <a:latin typeface="Calibri"/>
              </a:defRPr>
            </a:pPr>
            <a:r>
              <a:t>Growth (CAGR): N/A</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trends provided.</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215938.00704</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N/A</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0.71068</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0.61698</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0.55603004</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58128.9984</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0.0021676423159760917</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value: 15919956.3</a:t>
            </a:r>
          </a:p>
          <a:p>
            <a:pPr>
              <a:spcBef>
                <a:spcPts val="200"/>
              </a:spcBef>
              <a:spcAft>
                <a:spcPts val="200"/>
              </a:spcAft>
              <a:defRPr sz="1400">
                <a:solidFill>
                  <a:srgbClr val="333333"/>
                </a:solidFill>
                <a:latin typeface="Calibri"/>
              </a:defRPr>
            </a:pPr>
            <a:r>
              <a:t>Upside/Downside: +203.4%</a:t>
            </a:r>
          </a:p>
          <a:p>
            <a:pPr>
              <a:spcBef>
                <a:spcPts val="200"/>
              </a:spcBef>
              <a:spcAft>
                <a:spcPts val="200"/>
              </a:spcAft>
              <a:defRPr sz="1400">
                <a:solidFill>
                  <a:srgbClr val="333333"/>
                </a:solidFill>
                <a:latin typeface="Calibri"/>
              </a:defRPr>
            </a:pPr>
            <a:r>
              <a:t>Recommendation: BUY</a:t>
            </a:r>
          </a:p>
          <a:p>
            <a:pPr>
              <a:spcBef>
                <a:spcPts val="200"/>
              </a:spcBef>
              <a:spcAft>
                <a:spcPts val="200"/>
              </a:spcAft>
              <a:defRPr sz="1400">
                <a:solidFill>
                  <a:srgbClr val="333333"/>
                </a:solidFill>
                <a:latin typeface="Calibri"/>
              </a:defRPr>
            </a:pPr>
            <a:r>
              <a:t>Currency: USD</a:t>
            </a:r>
          </a:p>
          <a:p>
            <a:pPr>
              <a:spcBef>
                <a:spcPts val="200"/>
              </a:spcBef>
              <a:spcAft>
                <a:spcPts val="200"/>
              </a:spcAft>
              <a:defRPr sz="1400">
                <a:solidFill>
                  <a:srgbClr val="333333"/>
                </a:solidFill>
                <a:latin typeface="Calibri"/>
              </a:defRPr>
            </a:pPr>
            <a:r>
              <a:t>DCF: WACC 17.34%,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3211221.4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22377356.6</a:t>
                      </a:r>
                    </a:p>
                  </a:txBody>
                  <a:tcPr>
                    <a:solidFill>
                      <a:srgbClr val="FAFAFA"/>
                    </a:solidFill>
                  </a:tcPr>
                </a:tc>
                <a:tc>
                  <a:txBody>
                    <a:bodyPr/>
                    <a:lstStyle/>
                    <a:p>
                      <a:pPr>
                        <a:defRPr sz="1100">
                          <a:solidFill>
                            <a:srgbClr val="333333"/>
                          </a:solidFill>
                          <a:latin typeface="Calibri"/>
                        </a:defRPr>
                      </a:pPr>
                      <a:r>
                        <a:t>31670259.0</a:t>
                      </a:r>
                    </a:p>
                  </a:txBody>
                  <a:tcPr>
                    <a:solidFill>
                      <a:srgbClr val="FAFAFA"/>
                    </a:solidFill>
                  </a:tcPr>
                </a:tc>
                <a:tc>
                  <a:txBody>
                    <a:bodyPr/>
                    <a:lstStyle/>
                    <a:p>
                      <a:pPr>
                        <a:defRPr sz="1100">
                          <a:solidFill>
                            <a:srgbClr val="333333"/>
                          </a:solidFill>
                          <a:latin typeface="Calibri"/>
                        </a:defRPr>
                      </a:pPr>
                      <a:r>
                        <a:t>40963161.5</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24066339.3</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sp>
        <p:nvSpPr>
          <p:cNvPr id="5" name="TextBox 4"/>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Scenario Analysis</a:t>
            </a:r>
          </a:p>
        </p:txBody>
      </p:sp>
      <p:graphicFrame>
        <p:nvGraphicFramePr>
          <p:cNvPr id="6" name="Table 5"/>
          <p:cNvGraphicFramePr>
            <a:graphicFrameLocks noGrp="1"/>
          </p:cNvGraphicFramePr>
          <p:nvPr/>
        </p:nvGraphicFramePr>
        <p:xfrm>
          <a:off x="685800" y="1645920"/>
          <a:ext cx="11064240" cy="27432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85800">
                <a:tc>
                  <a:txBody>
                    <a:bodyPr/>
                    <a:lstStyle/>
                    <a:p>
                      <a:pPr>
                        <a:defRPr b="1" sz="1200">
                          <a:solidFill>
                            <a:srgbClr val="FFFFFF"/>
                          </a:solidFill>
                          <a:latin typeface="Calibri"/>
                        </a:defRPr>
                      </a:pPr>
                      <a:r>
                        <a:t>Scenario</a:t>
                      </a:r>
                    </a:p>
                  </a:txBody>
                  <a:tcPr>
                    <a:solidFill>
                      <a:srgbClr val="1B2A4A"/>
                    </a:solidFill>
                  </a:tcPr>
                </a:tc>
                <a:tc>
                  <a:txBody>
                    <a:bodyPr/>
                    <a:lstStyle/>
                    <a:p>
                      <a:pPr>
                        <a:defRPr b="1" sz="1200">
                          <a:solidFill>
                            <a:srgbClr val="FFFFFF"/>
                          </a:solidFill>
                          <a:latin typeface="Calibri"/>
                        </a:defRPr>
                      </a:pPr>
                      <a:r>
                        <a:t>DCF EV</a:t>
                      </a:r>
                    </a:p>
                  </a:txBody>
                  <a:tcPr>
                    <a:solidFill>
                      <a:srgbClr val="1B2A4A"/>
                    </a:solidFill>
                  </a:tcPr>
                </a:tc>
                <a:tc>
                  <a:txBody>
                    <a:bodyPr/>
                    <a:lstStyle/>
                    <a:p>
                      <a:pPr>
                        <a:defRPr b="1" sz="1200">
                          <a:solidFill>
                            <a:srgbClr val="FFFFFF"/>
                          </a:solidFill>
                          <a:latin typeface="Calibri"/>
                        </a:defRPr>
                      </a:pPr>
                      <a:r>
                        <a:t>Comps EV</a:t>
                      </a:r>
                    </a:p>
                  </a:txBody>
                  <a:tcPr>
                    <a:solidFill>
                      <a:srgbClr val="1B2A4A"/>
                    </a:solidFill>
                  </a:tcPr>
                </a:tc>
                <a:tc>
                  <a:txBody>
                    <a:bodyPr/>
                    <a:lstStyle/>
                    <a:p>
                      <a:pPr>
                        <a:defRPr b="1" sz="1200">
                          <a:solidFill>
                            <a:srgbClr val="FFFFFF"/>
                          </a:solidFill>
                          <a:latin typeface="Calibri"/>
                        </a:defRPr>
                      </a:pPr>
                      <a:r>
                        <a:t>Blended EV</a:t>
                      </a:r>
                    </a:p>
                  </a:txBody>
                  <a:tcPr>
                    <a:solidFill>
                      <a:srgbClr val="1B2A4A"/>
                    </a:solidFill>
                  </a:tcPr>
                </a:tc>
                <a:tc>
                  <a:txBody>
                    <a:bodyPr/>
                    <a:lstStyle/>
                    <a:p>
                      <a:pPr>
                        <a:defRPr b="1" sz="1200">
                          <a:solidFill>
                            <a:srgbClr val="FFFFFF"/>
                          </a:solidFill>
                          <a:latin typeface="Calibri"/>
                        </a:defRPr>
                      </a:pPr>
                      <a:r>
                        <a:t>WACC</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r>
              <a:tr h="685800">
                <a:tc>
                  <a:txBody>
                    <a:bodyPr/>
                    <a:lstStyle/>
                    <a:p>
                      <a:pPr>
                        <a:defRPr sz="1100">
                          <a:solidFill>
                            <a:srgbClr val="333333"/>
                          </a:solidFill>
                          <a:latin typeface="Calibri"/>
                        </a:defRPr>
                      </a:pPr>
                      <a:r>
                        <a:t>Bear</a:t>
                      </a:r>
                    </a:p>
                  </a:txBody>
                  <a:tcPr>
                    <a:solidFill>
                      <a:srgbClr val="FFFFFF"/>
                    </a:solidFill>
                  </a:tcPr>
                </a:tc>
                <a:tc>
                  <a:txBody>
                    <a:bodyPr/>
                    <a:lstStyle/>
                    <a:p>
                      <a:pPr>
                        <a:defRPr sz="1100">
                          <a:solidFill>
                            <a:srgbClr val="333333"/>
                          </a:solidFill>
                          <a:latin typeface="Calibri"/>
                        </a:defRPr>
                      </a:pPr>
                      <a:r>
                        <a:t>$2861.2B</a:t>
                      </a:r>
                    </a:p>
                  </a:txBody>
                  <a:tcPr>
                    <a:solidFill>
                      <a:srgbClr val="FFFFFF"/>
                    </a:solidFill>
                  </a:tcPr>
                </a:tc>
                <a:tc>
                  <a:txBody>
                    <a:bodyPr/>
                    <a:lstStyle/>
                    <a:p>
                      <a:pPr>
                        <a:defRPr sz="1100">
                          <a:solidFill>
                            <a:srgbClr val="333333"/>
                          </a:solidFill>
                          <a:latin typeface="Calibri"/>
                        </a:defRPr>
                      </a:pPr>
                      <a:r>
                        <a:t>$26174.6B</a:t>
                      </a:r>
                    </a:p>
                  </a:txBody>
                  <a:tcPr>
                    <a:solidFill>
                      <a:srgbClr val="FFFFFF"/>
                    </a:solidFill>
                  </a:tcPr>
                </a:tc>
                <a:tc>
                  <a:txBody>
                    <a:bodyPr/>
                    <a:lstStyle/>
                    <a:p>
                      <a:pPr>
                        <a:defRPr sz="1100">
                          <a:solidFill>
                            <a:srgbClr val="333333"/>
                          </a:solidFill>
                          <a:latin typeface="Calibri"/>
                        </a:defRPr>
                      </a:pPr>
                      <a:r>
                        <a:t>$13394.3B</a:t>
                      </a:r>
                    </a:p>
                  </a:txBody>
                  <a:tcPr>
                    <a:solidFill>
                      <a:srgbClr val="FFFFFF"/>
                    </a:solidFill>
                  </a:tcPr>
                </a:tc>
                <a:tc>
                  <a:txBody>
                    <a:bodyPr/>
                    <a:lstStyle/>
                    <a:p>
                      <a:pPr>
                        <a:defRPr sz="1100">
                          <a:solidFill>
                            <a:srgbClr val="333333"/>
                          </a:solidFill>
                          <a:latin typeface="Calibri"/>
                        </a:defRPr>
                      </a:pPr>
                      <a:r>
                        <a:t>18.8%</a:t>
                      </a:r>
                    </a:p>
                  </a:txBody>
                  <a:tcPr>
                    <a:solidFill>
                      <a:srgbClr val="FFFFFF"/>
                    </a:solidFill>
                  </a:tcPr>
                </a:tc>
                <a:tc>
                  <a:txBody>
                    <a:bodyPr/>
                    <a:lstStyle/>
                    <a:p>
                      <a:pPr>
                        <a:defRPr sz="1100">
                          <a:solidFill>
                            <a:srgbClr val="333333"/>
                          </a:solidFill>
                          <a:latin typeface="Calibri"/>
                        </a:defRPr>
                      </a:pPr>
                      <a:r>
                        <a:t>59.7%</a:t>
                      </a:r>
                    </a:p>
                  </a:txBody>
                  <a:tcPr>
                    <a:solidFill>
                      <a:srgbClr val="FFFFFF"/>
                    </a:solidFill>
                  </a:tcPr>
                </a:tc>
              </a:tr>
              <a:tr h="685800">
                <a:tc>
                  <a:txBody>
                    <a:bodyPr/>
                    <a:lstStyle/>
                    <a:p>
                      <a:pPr>
                        <a:defRPr sz="1100">
                          <a:solidFill>
                            <a:srgbClr val="333333"/>
                          </a:solidFill>
                          <a:latin typeface="Calibri"/>
                        </a:defRPr>
                      </a:pPr>
                      <a:r>
                        <a:t>Base</a:t>
                      </a:r>
                    </a:p>
                  </a:txBody>
                  <a:tcPr>
                    <a:solidFill>
                      <a:srgbClr val="FAFAFA"/>
                    </a:solidFill>
                  </a:tcPr>
                </a:tc>
                <a:tc>
                  <a:txBody>
                    <a:bodyPr/>
                    <a:lstStyle/>
                    <a:p>
                      <a:pPr>
                        <a:defRPr sz="1100">
                          <a:solidFill>
                            <a:srgbClr val="333333"/>
                          </a:solidFill>
                          <a:latin typeface="Calibri"/>
                        </a:defRPr>
                      </a:pPr>
                      <a:r>
                        <a:t>$3988.5B</a:t>
                      </a:r>
                    </a:p>
                  </a:txBody>
                  <a:tcPr>
                    <a:solidFill>
                      <a:srgbClr val="FAFAFA"/>
                    </a:solidFill>
                  </a:tcPr>
                </a:tc>
                <a:tc>
                  <a:txBody>
                    <a:bodyPr/>
                    <a:lstStyle/>
                    <a:p>
                      <a:pPr>
                        <a:defRPr sz="1100">
                          <a:solidFill>
                            <a:srgbClr val="333333"/>
                          </a:solidFill>
                          <a:latin typeface="Calibri"/>
                        </a:defRPr>
                      </a:pPr>
                      <a:r>
                        <a:t>$41145.5B</a:t>
                      </a:r>
                    </a:p>
                  </a:txBody>
                  <a:tcPr>
                    <a:solidFill>
                      <a:srgbClr val="FAFAFA"/>
                    </a:solidFill>
                  </a:tcPr>
                </a:tc>
                <a:tc>
                  <a:txBody>
                    <a:bodyPr/>
                    <a:lstStyle/>
                    <a:p>
                      <a:pPr>
                        <a:defRPr sz="1100">
                          <a:solidFill>
                            <a:srgbClr val="333333"/>
                          </a:solidFill>
                          <a:latin typeface="Calibri"/>
                        </a:defRPr>
                      </a:pPr>
                      <a:r>
                        <a:t>$20591.2B</a:t>
                      </a:r>
                    </a:p>
                  </a:txBody>
                  <a:tcPr>
                    <a:solidFill>
                      <a:srgbClr val="FAFAFA"/>
                    </a:solidFill>
                  </a:tcPr>
                </a:tc>
                <a:tc>
                  <a:txBody>
                    <a:bodyPr/>
                    <a:lstStyle/>
                    <a:p>
                      <a:pPr>
                        <a:defRPr sz="1100">
                          <a:solidFill>
                            <a:srgbClr val="333333"/>
                          </a:solidFill>
                          <a:latin typeface="Calibri"/>
                        </a:defRPr>
                      </a:pPr>
                      <a:r>
                        <a:t>17.3%</a:t>
                      </a:r>
                    </a:p>
                  </a:txBody>
                  <a:tcPr>
                    <a:solidFill>
                      <a:srgbClr val="FAFAFA"/>
                    </a:solidFill>
                  </a:tcPr>
                </a:tc>
                <a:tc>
                  <a:txBody>
                    <a:bodyPr/>
                    <a:lstStyle/>
                    <a:p>
                      <a:pPr>
                        <a:defRPr sz="1100">
                          <a:solidFill>
                            <a:srgbClr val="333333"/>
                          </a:solidFill>
                          <a:latin typeface="Calibri"/>
                        </a:defRPr>
                      </a:pPr>
                      <a:r>
                        <a:t>61.7%</a:t>
                      </a:r>
                    </a:p>
                  </a:txBody>
                  <a:tcPr>
                    <a:solidFill>
                      <a:srgbClr val="FAFAFA"/>
                    </a:solidFill>
                  </a:tcPr>
                </a:tc>
              </a:tr>
              <a:tr h="685800">
                <a:tc>
                  <a:txBody>
                    <a:bodyPr/>
                    <a:lstStyle/>
                    <a:p>
                      <a:pPr>
                        <a:defRPr sz="1100">
                          <a:solidFill>
                            <a:srgbClr val="333333"/>
                          </a:solidFill>
                          <a:latin typeface="Calibri"/>
                        </a:defRPr>
                      </a:pPr>
                      <a:r>
                        <a:t>Bull</a:t>
                      </a:r>
                    </a:p>
                  </a:txBody>
                  <a:tcPr>
                    <a:solidFill>
                      <a:srgbClr val="FFFFFF"/>
                    </a:solidFill>
                  </a:tcPr>
                </a:tc>
                <a:tc>
                  <a:txBody>
                    <a:bodyPr/>
                    <a:lstStyle/>
                    <a:p>
                      <a:pPr>
                        <a:defRPr sz="1100">
                          <a:solidFill>
                            <a:srgbClr val="333333"/>
                          </a:solidFill>
                          <a:latin typeface="Calibri"/>
                        </a:defRPr>
                      </a:pPr>
                      <a:r>
                        <a:t>$5419.7B</a:t>
                      </a:r>
                    </a:p>
                  </a:txBody>
                  <a:tcPr>
                    <a:solidFill>
                      <a:srgbClr val="FFFFFF"/>
                    </a:solidFill>
                  </a:tcPr>
                </a:tc>
                <a:tc>
                  <a:txBody>
                    <a:bodyPr/>
                    <a:lstStyle/>
                    <a:p>
                      <a:pPr>
                        <a:defRPr sz="1100">
                          <a:solidFill>
                            <a:srgbClr val="333333"/>
                          </a:solidFill>
                          <a:latin typeface="Calibri"/>
                        </a:defRPr>
                      </a:pPr>
                      <a:r>
                        <a:t>$61568.8B</a:t>
                      </a:r>
                    </a:p>
                  </a:txBody>
                  <a:tcPr>
                    <a:solidFill>
                      <a:srgbClr val="FFFFFF"/>
                    </a:solidFill>
                  </a:tcPr>
                </a:tc>
                <a:tc>
                  <a:txBody>
                    <a:bodyPr/>
                    <a:lstStyle/>
                    <a:p>
                      <a:pPr>
                        <a:defRPr sz="1100">
                          <a:solidFill>
                            <a:srgbClr val="333333"/>
                          </a:solidFill>
                          <a:latin typeface="Calibri"/>
                        </a:defRPr>
                      </a:pPr>
                      <a:r>
                        <a:t>$30244.0B</a:t>
                      </a:r>
                    </a:p>
                  </a:txBody>
                  <a:tcPr>
                    <a:solidFill>
                      <a:srgbClr val="FFFFFF"/>
                    </a:solidFill>
                  </a:tcPr>
                </a:tc>
                <a:tc>
                  <a:txBody>
                    <a:bodyPr/>
                    <a:lstStyle/>
                    <a:p>
                      <a:pPr>
                        <a:defRPr sz="1100">
                          <a:solidFill>
                            <a:srgbClr val="333333"/>
                          </a:solidFill>
                          <a:latin typeface="Calibri"/>
                        </a:defRPr>
                      </a:pPr>
                      <a:r>
                        <a:t>16.3%</a:t>
                      </a:r>
                    </a:p>
                  </a:txBody>
                  <a:tcPr>
                    <a:solidFill>
                      <a:srgbClr val="FFFFFF"/>
                    </a:solidFill>
                  </a:tcPr>
                </a:tc>
                <a:tc>
                  <a:txBody>
                    <a:bodyPr/>
                    <a:lstStyle/>
                    <a:p>
                      <a:pPr>
                        <a:defRPr sz="1100">
                          <a:solidFill>
                            <a:srgbClr val="333333"/>
                          </a:solidFill>
                          <a:latin typeface="Calibri"/>
                        </a:defRPr>
                      </a:pPr>
                      <a:r>
                        <a:t>63.7%</a:t>
                      </a:r>
                    </a:p>
                  </a:txBody>
                  <a:tcPr>
                    <a:solidFill>
                      <a:srgbClr val="FFFFFF"/>
                    </a:solidFill>
                  </a:tcPr>
                </a:tc>
              </a:tr>
            </a:tbl>
          </a:graphicData>
        </a:graphic>
      </p:graphicFrame>
      <p:sp>
        <p:nvSpPr>
          <p:cNvPr id="7" name="TextBox 6"/>
          <p:cNvSpPr txBox="1"/>
          <p:nvPr/>
        </p:nvSpPr>
        <p:spPr>
          <a:xfrm>
            <a:off x="685800" y="4572000"/>
            <a:ext cx="11155680" cy="2011680"/>
          </a:xfrm>
          <a:prstGeom prst="rect">
            <a:avLst/>
          </a:prstGeom>
          <a:noFill/>
        </p:spPr>
        <p:txBody>
          <a:bodyPr wrap="none">
            <a:spAutoFit/>
          </a:bodyPr>
          <a:lstStyle/>
          <a:p>
            <a:r>
              <a:rPr b="1" sz="2000">
                <a:solidFill>
                  <a:srgbClr val="333333"/>
                </a:solidFill>
                <a:latin typeface="Calibri"/>
              </a:rPr>
              <a:t>Ranges</a:t>
            </a:r>
          </a:p>
          <a:p>
            <a:pPr>
              <a:spcBef>
                <a:spcPts val="200"/>
              </a:spcBef>
              <a:spcAft>
                <a:spcPts val="200"/>
              </a:spcAft>
              <a:defRPr sz="1400">
                <a:solidFill>
                  <a:srgbClr val="333333"/>
                </a:solidFill>
                <a:latin typeface="Calibri"/>
              </a:defRPr>
            </a:pPr>
            <a:r>
              <a:t>DCF range:     $2861.2B — $5419.7B</a:t>
            </a:r>
          </a:p>
          <a:p>
            <a:pPr>
              <a:spcBef>
                <a:spcPts val="200"/>
              </a:spcBef>
              <a:spcAft>
                <a:spcPts val="200"/>
              </a:spcAft>
              <a:defRPr sz="1400">
                <a:solidFill>
                  <a:srgbClr val="333333"/>
                </a:solidFill>
                <a:latin typeface="Calibri"/>
              </a:defRPr>
            </a:pPr>
            <a:r>
              <a:t>Comps range:   $26174.6B — $61568.8B</a:t>
            </a:r>
          </a:p>
          <a:p>
            <a:pPr>
              <a:spcBef>
                <a:spcPts val="200"/>
              </a:spcBef>
              <a:spcAft>
                <a:spcPts val="200"/>
              </a:spcAft>
              <a:defRPr sz="1400">
                <a:solidFill>
                  <a:srgbClr val="333333"/>
                </a:solidFill>
                <a:latin typeface="Calibri"/>
              </a:defRPr>
            </a:pPr>
            <a:r>
              <a:t>Blended range: $13394.3B — $30244.0B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Peer Comparables</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6 listed peers — real market data via yfinance</a:t>
            </a:r>
          </a:p>
        </p:txBody>
      </p:sp>
      <p:sp>
        <p:nvSpPr>
          <p:cNvPr id="6" name="TextBox 5"/>
          <p:cNvSpPr txBox="1"/>
          <p:nvPr/>
        </p:nvSpPr>
        <p:spPr>
          <a:xfrm>
            <a:off x="685800" y="1188720"/>
            <a:ext cx="11064240" cy="457200"/>
          </a:xfrm>
          <a:prstGeom prst="rect">
            <a:avLst/>
          </a:prstGeom>
          <a:noFill/>
        </p:spPr>
        <p:txBody>
          <a:bodyPr wrap="none">
            <a:spAutoFit/>
          </a:bodyPr>
          <a:lstStyle/>
          <a:p>
            <a:r>
              <a:rPr b="1" sz="2000">
                <a:solidFill>
                  <a:srgbClr val="333333"/>
                </a:solidFill>
                <a:latin typeface="Calibri"/>
              </a:rPr>
              <a:t>Trading Comps</a:t>
            </a:r>
          </a:p>
        </p:txBody>
      </p:sp>
      <p:graphicFrame>
        <p:nvGraphicFramePr>
          <p:cNvPr id="7" name="Table 6"/>
          <p:cNvGraphicFramePr>
            <a:graphicFrameLocks noGrp="1"/>
          </p:cNvGraphicFramePr>
          <p:nvPr/>
        </p:nvGraphicFramePr>
        <p:xfrm>
          <a:off x="685800" y="1645920"/>
          <a:ext cx="11064240" cy="484632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605790">
                <a:tc>
                  <a:txBody>
                    <a:bodyPr/>
                    <a:lstStyle/>
                    <a:p>
                      <a:pPr>
                        <a:defRPr b="1" sz="1200">
                          <a:solidFill>
                            <a:srgbClr val="FFFFFF"/>
                          </a:solidFill>
                          <a:latin typeface="Calibri"/>
                        </a:defRPr>
                      </a:pPr>
                      <a:r>
                        <a:t>Company</a:t>
                      </a:r>
                    </a:p>
                  </a:txBody>
                  <a:tcPr>
                    <a:solidFill>
                      <a:srgbClr val="1B2A4A"/>
                    </a:solidFill>
                  </a:tcPr>
                </a:tc>
                <a:tc>
                  <a:txBody>
                    <a:bodyPr/>
                    <a:lstStyle/>
                    <a:p>
                      <a:pPr>
                        <a:defRPr b="1" sz="1200">
                          <a:solidFill>
                            <a:srgbClr val="FFFFFF"/>
                          </a:solidFill>
                          <a:latin typeface="Calibri"/>
                        </a:defRPr>
                      </a:pPr>
                      <a:r>
                        <a:t>Ticker</a:t>
                      </a:r>
                    </a:p>
                  </a:txBody>
                  <a:tcPr>
                    <a:solidFill>
                      <a:srgbClr val="1B2A4A"/>
                    </a:solidFill>
                  </a:tcPr>
                </a:tc>
                <a:tc>
                  <a:txBody>
                    <a:bodyPr/>
                    <a:lstStyle/>
                    <a:p>
                      <a:pPr>
                        <a:defRPr b="1" sz="1200">
                          <a:solidFill>
                            <a:srgbClr val="FFFFFF"/>
                          </a:solidFill>
                          <a:latin typeface="Calibri"/>
                        </a:defRPr>
                      </a:pPr>
                      <a:r>
                        <a:t>EV/EBITDA</a:t>
                      </a:r>
                    </a:p>
                  </a:txBody>
                  <a:tcPr>
                    <a:solidFill>
                      <a:srgbClr val="1B2A4A"/>
                    </a:solidFill>
                  </a:tcPr>
                </a:tc>
                <a:tc>
                  <a:txBody>
                    <a:bodyPr/>
                    <a:lstStyle/>
                    <a:p>
                      <a:pPr>
                        <a:defRPr b="1" sz="1200">
                          <a:solidFill>
                            <a:srgbClr val="FFFFFF"/>
                          </a:solidFill>
                          <a:latin typeface="Calibri"/>
                        </a:defRPr>
                      </a:pPr>
                      <a:r>
                        <a:t>EV/Revenue</a:t>
                      </a:r>
                    </a:p>
                  </a:txBody>
                  <a:tcPr>
                    <a:solidFill>
                      <a:srgbClr val="1B2A4A"/>
                    </a:solidFill>
                  </a:tcPr>
                </a:tc>
                <a:tc>
                  <a:txBody>
                    <a:bodyPr/>
                    <a:lstStyle/>
                    <a:p>
                      <a:pPr>
                        <a:defRPr b="1" sz="1200">
                          <a:solidFill>
                            <a:srgbClr val="FFFFFF"/>
                          </a:solidFill>
                          <a:latin typeface="Calibri"/>
                        </a:defRPr>
                      </a:pPr>
                      <a:r>
                        <a:t>EBITDA Margin</a:t>
                      </a:r>
                    </a:p>
                  </a:txBody>
                  <a:tcPr>
                    <a:solidFill>
                      <a:srgbClr val="1B2A4A"/>
                    </a:solidFill>
                  </a:tcPr>
                </a:tc>
                <a:tc>
                  <a:txBody>
                    <a:bodyPr/>
                    <a:lstStyle/>
                    <a:p>
                      <a:pPr>
                        <a:defRPr b="1" sz="1200">
                          <a:solidFill>
                            <a:srgbClr val="FFFFFF"/>
                          </a:solidFill>
                          <a:latin typeface="Calibri"/>
                        </a:defRPr>
                      </a:pPr>
                      <a:r>
                        <a:t>Rev Growth</a:t>
                      </a:r>
                    </a:p>
                  </a:txBody>
                  <a:tcPr>
                    <a:solidFill>
                      <a:srgbClr val="1B2A4A"/>
                    </a:solidFill>
                  </a:tcPr>
                </a:tc>
              </a:tr>
              <a:tr h="605790">
                <a:tc>
                  <a:txBody>
                    <a:bodyPr/>
                    <a:lstStyle/>
                    <a:p>
                      <a:pPr>
                        <a:defRPr sz="1100">
                          <a:solidFill>
                            <a:srgbClr val="333333"/>
                          </a:solidFill>
                          <a:latin typeface="Calibri"/>
                        </a:defRPr>
                      </a:pPr>
                      <a:r>
                        <a:t>Advanced Micro Devices, Inc.</a:t>
                      </a:r>
                    </a:p>
                  </a:txBody>
                  <a:tcPr>
                    <a:solidFill>
                      <a:srgbClr val="FFFFFF"/>
                    </a:solidFill>
                  </a:tcPr>
                </a:tc>
                <a:tc>
                  <a:txBody>
                    <a:bodyPr/>
                    <a:lstStyle/>
                    <a:p>
                      <a:pPr>
                        <a:defRPr sz="1100">
                          <a:solidFill>
                            <a:srgbClr val="333333"/>
                          </a:solidFill>
                          <a:latin typeface="Calibri"/>
                        </a:defRPr>
                      </a:pPr>
                      <a:r>
                        <a:t>AMD</a:t>
                      </a:r>
                    </a:p>
                  </a:txBody>
                  <a:tcPr>
                    <a:solidFill>
                      <a:srgbClr val="FFFFFF"/>
                    </a:solidFill>
                  </a:tcPr>
                </a:tc>
                <a:tc>
                  <a:txBody>
                    <a:bodyPr/>
                    <a:lstStyle/>
                    <a:p>
                      <a:pPr>
                        <a:defRPr sz="1100">
                          <a:solidFill>
                            <a:srgbClr val="333333"/>
                          </a:solidFill>
                          <a:latin typeface="Calibri"/>
                        </a:defRPr>
                      </a:pPr>
                      <a:r>
                        <a:t>83.1x</a:t>
                      </a:r>
                    </a:p>
                  </a:txBody>
                  <a:tcPr>
                    <a:solidFill>
                      <a:srgbClr val="FFFFFF"/>
                    </a:solidFill>
                  </a:tcPr>
                </a:tc>
                <a:tc>
                  <a:txBody>
                    <a:bodyPr/>
                    <a:lstStyle/>
                    <a:p>
                      <a:pPr>
                        <a:defRPr sz="1100">
                          <a:solidFill>
                            <a:srgbClr val="333333"/>
                          </a:solidFill>
                          <a:latin typeface="Calibri"/>
                        </a:defRPr>
                      </a:pPr>
                      <a:r>
                        <a:t>16.2x</a:t>
                      </a:r>
                    </a:p>
                  </a:txBody>
                  <a:tcPr>
                    <a:solidFill>
                      <a:srgbClr val="FFFFFF"/>
                    </a:solidFill>
                  </a:tcPr>
                </a:tc>
                <a:tc>
                  <a:txBody>
                    <a:bodyPr/>
                    <a:lstStyle/>
                    <a:p>
                      <a:pPr>
                        <a:defRPr sz="1100">
                          <a:solidFill>
                            <a:srgbClr val="333333"/>
                          </a:solidFill>
                          <a:latin typeface="Calibri"/>
                        </a:defRPr>
                      </a:pPr>
                      <a:r>
                        <a:t>19.5%</a:t>
                      </a:r>
                    </a:p>
                  </a:txBody>
                  <a:tcPr>
                    <a:solidFill>
                      <a:srgbClr val="FFFFFF"/>
                    </a:solidFill>
                  </a:tcPr>
                </a:tc>
                <a:tc>
                  <a:txBody>
                    <a:bodyPr/>
                    <a:lstStyle/>
                    <a:p>
                      <a:pPr>
                        <a:defRPr sz="1100">
                          <a:solidFill>
                            <a:srgbClr val="333333"/>
                          </a:solidFill>
                          <a:latin typeface="Calibri"/>
                        </a:defRPr>
                      </a:pPr>
                      <a:r>
                        <a:t>+217.1%</a:t>
                      </a:r>
                    </a:p>
                  </a:txBody>
                  <a:tcPr>
                    <a:solidFill>
                      <a:srgbClr val="FFFFFF"/>
                    </a:solidFill>
                  </a:tcPr>
                </a:tc>
              </a:tr>
              <a:tr h="605790">
                <a:tc>
                  <a:txBody>
                    <a:bodyPr/>
                    <a:lstStyle/>
                    <a:p>
                      <a:pPr>
                        <a:defRPr sz="1100">
                          <a:solidFill>
                            <a:srgbClr val="333333"/>
                          </a:solidFill>
                          <a:latin typeface="Calibri"/>
                        </a:defRPr>
                      </a:pPr>
                      <a:r>
                        <a:t>Intel Corporation</a:t>
                      </a:r>
                    </a:p>
                  </a:txBody>
                  <a:tcPr>
                    <a:solidFill>
                      <a:srgbClr val="FAFAFA"/>
                    </a:solidFill>
                  </a:tcPr>
                </a:tc>
                <a:tc>
                  <a:txBody>
                    <a:bodyPr/>
                    <a:lstStyle/>
                    <a:p>
                      <a:pPr>
                        <a:defRPr sz="1100">
                          <a:solidFill>
                            <a:srgbClr val="333333"/>
                          </a:solidFill>
                          <a:latin typeface="Calibri"/>
                        </a:defRPr>
                      </a:pPr>
                      <a:r>
                        <a:t>INTC</a:t>
                      </a:r>
                    </a:p>
                  </a:txBody>
                  <a:tcPr>
                    <a:solidFill>
                      <a:srgbClr val="FAFAFA"/>
                    </a:solidFill>
                  </a:tcPr>
                </a:tc>
                <a:tc>
                  <a:txBody>
                    <a:bodyPr/>
                    <a:lstStyle/>
                    <a:p>
                      <a:pPr>
                        <a:defRPr sz="1100">
                          <a:solidFill>
                            <a:srgbClr val="333333"/>
                          </a:solidFill>
                          <a:latin typeface="Calibri"/>
                        </a:defRPr>
                      </a:pPr>
                      <a:r>
                        <a:t>31.1x</a:t>
                      </a:r>
                    </a:p>
                  </a:txBody>
                  <a:tcPr>
                    <a:solidFill>
                      <a:srgbClr val="FAFAFA"/>
                    </a:solidFill>
                  </a:tcPr>
                </a:tc>
                <a:tc>
                  <a:txBody>
                    <a:bodyPr/>
                    <a:lstStyle/>
                    <a:p>
                      <a:pPr>
                        <a:defRPr sz="1100">
                          <a:solidFill>
                            <a:srgbClr val="333333"/>
                          </a:solidFill>
                          <a:latin typeface="Calibri"/>
                        </a:defRPr>
                      </a:pPr>
                      <a:r>
                        <a:t>8.2x</a:t>
                      </a:r>
                    </a:p>
                  </a:txBody>
                  <a:tcPr>
                    <a:solidFill>
                      <a:srgbClr val="FAFAFA"/>
                    </a:solidFill>
                  </a:tcPr>
                </a:tc>
                <a:tc>
                  <a:txBody>
                    <a:bodyPr/>
                    <a:lstStyle/>
                    <a:p>
                      <a:pPr>
                        <a:defRPr sz="1100">
                          <a:solidFill>
                            <a:srgbClr val="333333"/>
                          </a:solidFill>
                          <a:latin typeface="Calibri"/>
                        </a:defRPr>
                      </a:pPr>
                      <a:r>
                        <a:t>26.4%</a:t>
                      </a:r>
                    </a:p>
                  </a:txBody>
                  <a:tcPr>
                    <a:solidFill>
                      <a:srgbClr val="FAFAFA"/>
                    </a:solidFill>
                  </a:tcPr>
                </a:tc>
                <a:tc>
                  <a:txBody>
                    <a:bodyPr/>
                    <a:lstStyle/>
                    <a:p>
                      <a:pPr>
                        <a:defRPr sz="1100">
                          <a:solidFill>
                            <a:srgbClr val="333333"/>
                          </a:solidFill>
                          <a:latin typeface="Calibri"/>
                        </a:defRPr>
                      </a:pPr>
                      <a:r>
                        <a:t>+7.2%</a:t>
                      </a:r>
                    </a:p>
                  </a:txBody>
                  <a:tcPr>
                    <a:solidFill>
                      <a:srgbClr val="FAFAFA"/>
                    </a:solidFill>
                  </a:tcPr>
                </a:tc>
              </a:tr>
              <a:tr h="605790">
                <a:tc>
                  <a:txBody>
                    <a:bodyPr/>
                    <a:lstStyle/>
                    <a:p>
                      <a:pPr>
                        <a:defRPr sz="1100">
                          <a:solidFill>
                            <a:srgbClr val="333333"/>
                          </a:solidFill>
                          <a:latin typeface="Calibri"/>
                        </a:defRPr>
                      </a:pPr>
                      <a:r>
                        <a:t>QUALCOMM Incorporated</a:t>
                      </a:r>
                    </a:p>
                  </a:txBody>
                  <a:tcPr>
                    <a:solidFill>
                      <a:srgbClr val="FFFFFF"/>
                    </a:solidFill>
                  </a:tcPr>
                </a:tc>
                <a:tc>
                  <a:txBody>
                    <a:bodyPr/>
                    <a:lstStyle/>
                    <a:p>
                      <a:pPr>
                        <a:defRPr sz="1100">
                          <a:solidFill>
                            <a:srgbClr val="333333"/>
                          </a:solidFill>
                          <a:latin typeface="Calibri"/>
                        </a:defRPr>
                      </a:pPr>
                      <a:r>
                        <a:t>QCOM</a:t>
                      </a:r>
                    </a:p>
                  </a:txBody>
                  <a:tcPr>
                    <a:solidFill>
                      <a:srgbClr val="FFFFFF"/>
                    </a:solidFill>
                  </a:tcPr>
                </a:tc>
                <a:tc>
                  <a:txBody>
                    <a:bodyPr/>
                    <a:lstStyle/>
                    <a:p>
                      <a:pPr>
                        <a:defRPr sz="1100">
                          <a:solidFill>
                            <a:srgbClr val="333333"/>
                          </a:solidFill>
                          <a:latin typeface="Calibri"/>
                        </a:defRPr>
                      </a:pPr>
                      <a:r>
                        <a:t>11.8x</a:t>
                      </a:r>
                    </a:p>
                  </a:txBody>
                  <a:tcPr>
                    <a:solidFill>
                      <a:srgbClr val="FFFFFF"/>
                    </a:solidFill>
                  </a:tcPr>
                </a:tc>
                <a:tc>
                  <a:txBody>
                    <a:bodyPr/>
                    <a:lstStyle/>
                    <a:p>
                      <a:pPr>
                        <a:defRPr sz="1100">
                          <a:solidFill>
                            <a:srgbClr val="333333"/>
                          </a:solidFill>
                          <a:latin typeface="Calibri"/>
                        </a:defRPr>
                      </a:pPr>
                      <a:r>
                        <a:t>3.6x</a:t>
                      </a:r>
                    </a:p>
                  </a:txBody>
                  <a:tcPr>
                    <a:solidFill>
                      <a:srgbClr val="FFFFFF"/>
                    </a:solidFill>
                  </a:tcPr>
                </a:tc>
                <a:tc>
                  <a:txBody>
                    <a:bodyPr/>
                    <a:lstStyle/>
                    <a:p>
                      <a:pPr>
                        <a:defRPr sz="1100">
                          <a:solidFill>
                            <a:srgbClr val="333333"/>
                          </a:solidFill>
                          <a:latin typeface="Calibri"/>
                        </a:defRPr>
                      </a:pPr>
                      <a:r>
                        <a:t>30.7%</a:t>
                      </a:r>
                    </a:p>
                  </a:txBody>
                  <a:tcPr>
                    <a:solidFill>
                      <a:srgbClr val="FFFFFF"/>
                    </a:solidFill>
                  </a:tcPr>
                </a:tc>
                <a:tc>
                  <a:txBody>
                    <a:bodyPr/>
                    <a:lstStyle/>
                    <a:p>
                      <a:pPr>
                        <a:defRPr sz="1100">
                          <a:solidFill>
                            <a:srgbClr val="333333"/>
                          </a:solidFill>
                          <a:latin typeface="Calibri"/>
                        </a:defRPr>
                      </a:pPr>
                      <a:r>
                        <a:t>-1.8%</a:t>
                      </a:r>
                    </a:p>
                  </a:txBody>
                  <a:tcPr>
                    <a:solidFill>
                      <a:srgbClr val="FFFFFF"/>
                    </a:solidFill>
                  </a:tcPr>
                </a:tc>
              </a:tr>
              <a:tr h="605790">
                <a:tc>
                  <a:txBody>
                    <a:bodyPr/>
                    <a:lstStyle/>
                    <a:p>
                      <a:pPr>
                        <a:defRPr sz="1100">
                          <a:solidFill>
                            <a:srgbClr val="333333"/>
                          </a:solidFill>
                          <a:latin typeface="Calibri"/>
                        </a:defRPr>
                      </a:pPr>
                      <a:r>
                        <a:t>Broadcom Inc.</a:t>
                      </a:r>
                    </a:p>
                  </a:txBody>
                  <a:tcPr>
                    <a:solidFill>
                      <a:srgbClr val="FAFAFA"/>
                    </a:solidFill>
                  </a:tcPr>
                </a:tc>
                <a:tc>
                  <a:txBody>
                    <a:bodyPr/>
                    <a:lstStyle/>
                    <a:p>
                      <a:pPr>
                        <a:defRPr sz="1100">
                          <a:solidFill>
                            <a:srgbClr val="333333"/>
                          </a:solidFill>
                          <a:latin typeface="Calibri"/>
                        </a:defRPr>
                      </a:pPr>
                      <a:r>
                        <a:t>AVGO</a:t>
                      </a:r>
                    </a:p>
                  </a:txBody>
                  <a:tcPr>
                    <a:solidFill>
                      <a:srgbClr val="FAFAFA"/>
                    </a:solidFill>
                  </a:tcPr>
                </a:tc>
                <a:tc>
                  <a:txBody>
                    <a:bodyPr/>
                    <a:lstStyle/>
                    <a:p>
                      <a:pPr>
                        <a:defRPr sz="1100">
                          <a:solidFill>
                            <a:srgbClr val="333333"/>
                          </a:solidFill>
                          <a:latin typeface="Calibri"/>
                        </a:defRPr>
                      </a:pPr>
                      <a:r>
                        <a:t>55.2x</a:t>
                      </a:r>
                    </a:p>
                  </a:txBody>
                  <a:tcPr>
                    <a:solidFill>
                      <a:srgbClr val="FAFAFA"/>
                    </a:solidFill>
                  </a:tcPr>
                </a:tc>
                <a:tc>
                  <a:txBody>
                    <a:bodyPr/>
                    <a:lstStyle/>
                    <a:p>
                      <a:pPr>
                        <a:defRPr sz="1100">
                          <a:solidFill>
                            <a:srgbClr val="333333"/>
                          </a:solidFill>
                          <a:latin typeface="Calibri"/>
                        </a:defRPr>
                      </a:pPr>
                      <a:r>
                        <a:t>30.1x</a:t>
                      </a:r>
                    </a:p>
                  </a:txBody>
                  <a:tcPr>
                    <a:solidFill>
                      <a:srgbClr val="FAFAFA"/>
                    </a:solidFill>
                  </a:tcPr>
                </a:tc>
                <a:tc>
                  <a:txBody>
                    <a:bodyPr/>
                    <a:lstStyle/>
                    <a:p>
                      <a:pPr>
                        <a:defRPr sz="1100">
                          <a:solidFill>
                            <a:srgbClr val="333333"/>
                          </a:solidFill>
                          <a:latin typeface="Calibri"/>
                        </a:defRPr>
                      </a:pPr>
                      <a:r>
                        <a:t>54.5%</a:t>
                      </a:r>
                    </a:p>
                  </a:txBody>
                  <a:tcPr>
                    <a:solidFill>
                      <a:srgbClr val="FAFAFA"/>
                    </a:solidFill>
                  </a:tcPr>
                </a:tc>
                <a:tc>
                  <a:txBody>
                    <a:bodyPr/>
                    <a:lstStyle/>
                    <a:p>
                      <a:pPr>
                        <a:defRPr sz="1100">
                          <a:solidFill>
                            <a:srgbClr val="333333"/>
                          </a:solidFill>
                          <a:latin typeface="Calibri"/>
                        </a:defRPr>
                      </a:pPr>
                      <a:r>
                        <a:t>+31.6%</a:t>
                      </a:r>
                    </a:p>
                  </a:txBody>
                  <a:tcPr>
                    <a:solidFill>
                      <a:srgbClr val="FAFAFA"/>
                    </a:solidFill>
                  </a:tcPr>
                </a:tc>
              </a:tr>
              <a:tr h="605790">
                <a:tc>
                  <a:txBody>
                    <a:bodyPr/>
                    <a:lstStyle/>
                    <a:p>
                      <a:pPr>
                        <a:defRPr sz="1100">
                          <a:solidFill>
                            <a:srgbClr val="333333"/>
                          </a:solidFill>
                          <a:latin typeface="Calibri"/>
                        </a:defRPr>
                      </a:pPr>
                      <a:r>
                        <a:t>Texas Instruments Incorporated</a:t>
                      </a:r>
                    </a:p>
                  </a:txBody>
                  <a:tcPr>
                    <a:solidFill>
                      <a:srgbClr val="FFFFFF"/>
                    </a:solidFill>
                  </a:tcPr>
                </a:tc>
                <a:tc>
                  <a:txBody>
                    <a:bodyPr/>
                    <a:lstStyle/>
                    <a:p>
                      <a:pPr>
                        <a:defRPr sz="1100">
                          <a:solidFill>
                            <a:srgbClr val="333333"/>
                          </a:solidFill>
                          <a:latin typeface="Calibri"/>
                        </a:defRPr>
                      </a:pPr>
                      <a:r>
                        <a:t>TXN</a:t>
                      </a:r>
                    </a:p>
                  </a:txBody>
                  <a:tcPr>
                    <a:solidFill>
                      <a:srgbClr val="FFFFFF"/>
                    </a:solidFill>
                  </a:tcPr>
                </a:tc>
                <a:tc>
                  <a:txBody>
                    <a:bodyPr/>
                    <a:lstStyle/>
                    <a:p>
                      <a:pPr>
                        <a:defRPr sz="1100">
                          <a:solidFill>
                            <a:srgbClr val="333333"/>
                          </a:solidFill>
                          <a:latin typeface="Calibri"/>
                        </a:defRPr>
                      </a:pPr>
                      <a:r>
                        <a:t>30.1x</a:t>
                      </a:r>
                    </a:p>
                  </a:txBody>
                  <a:tcPr>
                    <a:solidFill>
                      <a:srgbClr val="FFFFFF"/>
                    </a:solidFill>
                  </a:tcPr>
                </a:tc>
                <a:tc>
                  <a:txBody>
                    <a:bodyPr/>
                    <a:lstStyle/>
                    <a:p>
                      <a:pPr>
                        <a:defRPr sz="1100">
                          <a:solidFill>
                            <a:srgbClr val="333333"/>
                          </a:solidFill>
                          <a:latin typeface="Calibri"/>
                        </a:defRPr>
                      </a:pPr>
                      <a:r>
                        <a:t>14.2x</a:t>
                      </a:r>
                    </a:p>
                  </a:txBody>
                  <a:tcPr>
                    <a:solidFill>
                      <a:srgbClr val="FFFFFF"/>
                    </a:solidFill>
                  </a:tcPr>
                </a:tc>
                <a:tc>
                  <a:txBody>
                    <a:bodyPr/>
                    <a:lstStyle/>
                    <a:p>
                      <a:pPr>
                        <a:defRPr sz="1100">
                          <a:solidFill>
                            <a:srgbClr val="333333"/>
                          </a:solidFill>
                          <a:latin typeface="Calibri"/>
                        </a:defRPr>
                      </a:pPr>
                      <a:r>
                        <a:t>47.0%</a:t>
                      </a:r>
                    </a:p>
                  </a:txBody>
                  <a:tcPr>
                    <a:solidFill>
                      <a:srgbClr val="FFFFFF"/>
                    </a:solidFill>
                  </a:tcPr>
                </a:tc>
                <a:tc>
                  <a:txBody>
                    <a:bodyPr/>
                    <a:lstStyle/>
                    <a:p>
                      <a:pPr>
                        <a:defRPr sz="1100">
                          <a:solidFill>
                            <a:srgbClr val="333333"/>
                          </a:solidFill>
                          <a:latin typeface="Calibri"/>
                        </a:defRPr>
                      </a:pPr>
                      <a:r>
                        <a:t>+31.3%</a:t>
                      </a:r>
                    </a:p>
                  </a:txBody>
                  <a:tcPr>
                    <a:solidFill>
                      <a:srgbClr val="FFFFFF"/>
                    </a:solidFill>
                  </a:tcPr>
                </a:tc>
              </a:tr>
              <a:tr h="605790">
                <a:tc>
                  <a:txBody>
                    <a:bodyPr/>
                    <a:lstStyle/>
                    <a:p>
                      <a:pPr>
                        <a:defRPr sz="1100">
                          <a:solidFill>
                            <a:srgbClr val="333333"/>
                          </a:solidFill>
                          <a:latin typeface="Calibri"/>
                        </a:defRPr>
                      </a:pPr>
                      <a:r>
                        <a:t>ASML Holding N.V.</a:t>
                      </a:r>
                    </a:p>
                  </a:txBody>
                  <a:tcPr>
                    <a:solidFill>
                      <a:srgbClr val="FAFAFA"/>
                    </a:solidFill>
                  </a:tcPr>
                </a:tc>
                <a:tc>
                  <a:txBody>
                    <a:bodyPr/>
                    <a:lstStyle/>
                    <a:p>
                      <a:pPr>
                        <a:defRPr sz="1100">
                          <a:solidFill>
                            <a:srgbClr val="333333"/>
                          </a:solidFill>
                          <a:latin typeface="Calibri"/>
                        </a:defRPr>
                      </a:pPr>
                      <a:r>
                        <a:t>ASML</a:t>
                      </a:r>
                    </a:p>
                  </a:txBody>
                  <a:tcPr>
                    <a:solidFill>
                      <a:srgbClr val="FAFAFA"/>
                    </a:solidFill>
                  </a:tcPr>
                </a:tc>
                <a:tc>
                  <a:txBody>
                    <a:bodyPr/>
                    <a:lstStyle/>
                    <a:p>
                      <a:pPr>
                        <a:defRPr sz="1100">
                          <a:solidFill>
                            <a:srgbClr val="333333"/>
                          </a:solidFill>
                          <a:latin typeface="Calibri"/>
                        </a:defRPr>
                      </a:pPr>
                      <a:r>
                        <a:t>43.8x</a:t>
                      </a:r>
                    </a:p>
                  </a:txBody>
                  <a:tcPr>
                    <a:solidFill>
                      <a:srgbClr val="FAFAFA"/>
                    </a:solidFill>
                  </a:tcPr>
                </a:tc>
                <a:tc>
                  <a:txBody>
                    <a:bodyPr/>
                    <a:lstStyle/>
                    <a:p>
                      <a:pPr>
                        <a:defRPr sz="1100">
                          <a:solidFill>
                            <a:srgbClr val="333333"/>
                          </a:solidFill>
                          <a:latin typeface="Calibri"/>
                        </a:defRPr>
                      </a:pPr>
                      <a:r>
                        <a:t>16.5x</a:t>
                      </a:r>
                    </a:p>
                  </a:txBody>
                  <a:tcPr>
                    <a:solidFill>
                      <a:srgbClr val="FAFAFA"/>
                    </a:solidFill>
                  </a:tcPr>
                </a:tc>
                <a:tc>
                  <a:txBody>
                    <a:bodyPr/>
                    <a:lstStyle/>
                    <a:p>
                      <a:pPr>
                        <a:defRPr sz="1100">
                          <a:solidFill>
                            <a:srgbClr val="333333"/>
                          </a:solidFill>
                          <a:latin typeface="Calibri"/>
                        </a:defRPr>
                      </a:pPr>
                      <a:r>
                        <a:t>37.7%</a:t>
                      </a:r>
                    </a:p>
                  </a:txBody>
                  <a:tcPr>
                    <a:solidFill>
                      <a:srgbClr val="FAFAFA"/>
                    </a:solidFill>
                  </a:tcPr>
                </a:tc>
                <a:tc>
                  <a:txBody>
                    <a:bodyPr/>
                    <a:lstStyle/>
                    <a:p>
                      <a:pPr>
                        <a:defRPr sz="1100">
                          <a:solidFill>
                            <a:srgbClr val="333333"/>
                          </a:solidFill>
                          <a:latin typeface="Calibri"/>
                        </a:defRPr>
                      </a:pPr>
                      <a:r>
                        <a:t>+19.2%</a:t>
                      </a:r>
                    </a:p>
                  </a:txBody>
                  <a:tcPr>
                    <a:solidFill>
                      <a:srgbClr val="FAFAFA"/>
                    </a:solidFill>
                  </a:tcPr>
                </a:tc>
              </a:tr>
              <a:tr h="605790">
                <a:tc>
                  <a:txBody>
                    <a:bodyPr/>
                    <a:lstStyle/>
                    <a:p>
                      <a:pPr>
                        <a:defRPr sz="1100">
                          <a:solidFill>
                            <a:srgbClr val="333333"/>
                          </a:solidFill>
                          <a:latin typeface="Calibri"/>
                        </a:defRPr>
                      </a:pPr>
                      <a:r>
                        <a:t>MEDIAN</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37.4x</a:t>
                      </a:r>
                    </a:p>
                  </a:txBody>
                  <a:tcPr>
                    <a:solidFill>
                      <a:srgbClr val="FFFFFF"/>
                    </a:solidFill>
                  </a:tcPr>
                </a:tc>
                <a:tc>
                  <a:txBody>
                    <a:bodyPr/>
                    <a:lstStyle/>
                    <a:p>
                      <a:pPr>
                        <a:defRPr sz="1100">
                          <a:solidFill>
                            <a:srgbClr val="333333"/>
                          </a:solidFill>
                          <a:latin typeface="Calibri"/>
                        </a:defRPr>
                      </a:pPr>
                      <a:r>
                        <a:t>15.2x</a:t>
                      </a:r>
                    </a:p>
                  </a:txBody>
                  <a:tcPr>
                    <a:solidFill>
                      <a:srgbClr val="FFFFFF"/>
                    </a:solidFill>
                  </a:tcPr>
                </a:tc>
                <a:tc>
                  <a:txBody>
                    <a:bodyPr/>
                    <a:lstStyle/>
                    <a:p>
                      <a:pPr>
                        <a:defRPr sz="1100">
                          <a:solidFill>
                            <a:srgbClr val="333333"/>
                          </a:solidFill>
                          <a:latin typeface="Calibri"/>
                        </a:defRPr>
                      </a:pPr>
                      <a:r>
                        <a:t>34.2%</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685800" y="1097280"/>
            <a:ext cx="530352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685800" y="1554480"/>
          <a:ext cx="5303520" cy="3657600"/>
        </p:xfrm>
        <a:graphic>
          <a:graphicData uri="http://schemas.openxmlformats.org/drawingml/2006/table">
            <a:tbl>
              <a:tblPr firstRow="1" bandRow="1">
                <a:tableStyleId>{5C22544A-7EE6-4342-B048-85BDC9FD1C3A}</a:tableStyleId>
              </a:tblPr>
              <a:tblGrid>
                <a:gridCol w="2651760"/>
                <a:gridCol w="2651760"/>
              </a:tblGrid>
              <a:tr h="45720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45720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9.0/10</a:t>
                      </a:r>
                    </a:p>
                  </a:txBody>
                  <a:tcPr>
                    <a:solidFill>
                      <a:srgbClr val="FFFFFF"/>
                    </a:solidFill>
                  </a:tcPr>
                </a:tc>
              </a:tr>
              <a:tr h="45720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45720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45720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58/100</a:t>
                      </a:r>
                    </a:p>
                  </a:txBody>
                  <a:tcPr>
                    <a:solidFill>
                      <a:srgbClr val="FFFFFF"/>
                    </a:solidFill>
                  </a:tcPr>
                </a:tc>
              </a:tr>
            </a:tbl>
          </a:graphicData>
        </a:graphic>
      </p:graphicFrame>
      <p:sp>
        <p:nvSpPr>
          <p:cNvPr id="8" name="TextBox 7"/>
          <p:cNvSpPr txBox="1"/>
          <p:nvPr/>
        </p:nvSpPr>
        <p:spPr>
          <a:xfrm>
            <a:off x="6400800" y="1097280"/>
            <a:ext cx="5303520" cy="4114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NVIDIA IC score 58/100. Strengths: financial (9/10), strategy (5/10). Risks: strategy (5/10), synergies (5/10). Equity upside: +203.4%.</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NVIDIA (NVDA) remains the undisputed leader in accelerated computing, underpinned by its dominant position in AI GPUs, a rapidly expanding software ecosystem, and structural tailwinds from generative AI adoption. The company’s H100 GPU, which powers ~90% of AI training workloads, has seen unprecedented demand, with management guiding for $20B+ in Data Center revenue for FY25 (up from $15B in FY24), driven by hyperscaler capex and enterprise AI deployments. NVIDIA’s competitive moat is reinforced by its CUDA software platform, which boasts over 4 million developers and a 15-year head start, creating high switching costs for competitors like AMD and Intel. Gross margins have expanded to ~75% in Q1 FY25, reflecting pricing power and supply chain efficiencies, while free cash flow generation has surged to $14B over the past 12 months. Valuation, while elevated at ~35x FY25E P/E, is justified by a 3-year EPS CAGR of ~50% and secular growth in AI infrastructure, which could reach $400B+ in annual spending by 2027 (per NVIDIA estimates). Risks include potential supply chain bottlenecks, competitive encroachment from custom ASICs (e.g., Google’s TPU), and regulatory scrutiny over semiconductor exports to China, though these are mitigated by NVIDIA’s diversified customer base and ongoing R&amp;D leadership (e.g., Blackwell architecture).</a:t>
            </a:r>
          </a:p>
          <a:p>
            <a:pPr>
              <a:spcBef>
                <a:spcPts val="200"/>
              </a:spcBef>
              <a:spcAft>
                <a:spcPts val="200"/>
              </a:spcAft>
              <a:defRPr sz="1400">
                <a:solidFill>
                  <a:srgbClr val="333333"/>
                </a:solidFill>
                <a:latin typeface="Calibri"/>
              </a:defRPr>
            </a:pPr>
            <a:r>
              <a:t>Bull: In the bull scenario, NVIDIA captures 80%+ of the AI accelerator market through 2027, driven by (1) hyperscaler capex accelerating to $200B+ annually (vs. $150B in 2023), with NVIDIA securing 60%+ of AI-related spend; (2) enterprise AI adoption outpacing consensus, with NVIDIA’s DGX Cloud and AI Foundry services generating $10B+ in incremental revenue by 2026; and (3) Blackwell GPUs achieving 2x performance uplift over H100, solidifying NVIDIA’s lead in both training and inference. This could propel Data Center revenue to $40B+ by FY27, with EPS reaching $30+ (vs. $12.50 in FY25E), justifying a 50x P/E multiple and a $3T+ market cap. Downside protection is provided by $50B+ in net cash and a 20% FCF yield on incremental revenue.</a:t>
            </a:r>
          </a:p>
          <a:p>
            <a:pPr>
              <a:spcBef>
                <a:spcPts val="200"/>
              </a:spcBef>
              <a:spcAft>
                <a:spcPts val="200"/>
              </a:spcAft>
              <a:defRPr sz="1400">
                <a:solidFill>
                  <a:srgbClr val="333333"/>
                </a:solidFill>
                <a:latin typeface="Calibri"/>
              </a:defRPr>
            </a:pPr>
            <a:r>
              <a:t>Base: The base case assumes NVIDIA maintains its 75%+ share of the AI GPU market through FY26, with Data Center revenue growing at a 40% CAGR to $30B by FY27. Key assumptions include (1) hyperscaler capex growing at 20% annually, with NVIDIA capturing 50% of AI-related spend; (2) enterprise AI adoption ramping gradually, contributing $5B+ in incremental revenue by FY27; and (3) Blackwell GPUs achieving a 1.5x performance improvement over H100, with gross margins stabilizing at 72-74%. EPS is projected to reach $22 by FY27, supporting a 35x P/E multiple and a $2.2T market cap. Risks are balanced by NVIDIA’s diversified end-markets (gaming, automotive, and edge AI) and $10B+ in annual R&amp;D spend to defend its moat.</a:t>
            </a:r>
          </a:p>
          <a:p>
            <a:pPr>
              <a:spcBef>
                <a:spcPts val="200"/>
              </a:spcBef>
              <a:spcAft>
                <a:spcPts val="200"/>
              </a:spcAft>
              <a:defRPr sz="1400">
                <a:solidFill>
                  <a:srgbClr val="333333"/>
                </a:solidFill>
                <a:latin typeface="Calibri"/>
              </a:defRPr>
            </a:pPr>
            <a:r>
              <a:t>Bear: The bear case envisions NVIDIA’s AI GPU market share declining to 50% by FY27 due to (1) hyperscalers shifting 30% of AI workloads to custom ASICs (e.g., Amazon’s Trainium, Microsoft’s Maia) or AMD’s MI300X; (2) a slowdown in enterprise AI adoption amid macroeconomic uncertainty, limiting Data Center revenue to $20B by FY27; and (3) supply chain disruptions or geopolitical tensions (e.g., U.S.-China export controls) capping growth in key markets. Gross margins could compress to 65% on pricing pressure, while EPS growth slows to 20% CAGR, leading to a 25x P/E multiple and a $1.2T market cap. A worst-case scenario could see NVIDIA’s valuation revert to pre-AI levels (~15x P/E), implying a 50%+ downside from current levels, though this is unlikely given the company’s entrenched position in AI infrastructure.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Q2 FY25 earnings (August 2024): Management guidance for Data Center revenue and Blackwell GPU ramp will be critical for validating FY25 growth expectations (~$20B+ in Data Center revenue).</a:t>
            </a:r>
          </a:p>
          <a:p>
            <a:pPr>
              <a:spcBef>
                <a:spcPts val="200"/>
              </a:spcBef>
              <a:spcAft>
                <a:spcPts val="200"/>
              </a:spcAft>
              <a:defRPr sz="1400">
                <a:solidFill>
                  <a:srgbClr val="333333"/>
                </a:solidFill>
                <a:latin typeface="Calibri"/>
              </a:defRPr>
            </a:pPr>
            <a:r>
              <a:t>NVIDIA GTC Europe (September 2024): Potential announcements on Blackwell GPU availability, partnerships with European cloud providers (e.g., SAP, Siemens), and updates on automotive AI (e.g., DRIVE Thor).</a:t>
            </a:r>
          </a:p>
          <a:p>
            <a:pPr>
              <a:spcBef>
                <a:spcPts val="200"/>
              </a:spcBef>
              <a:spcAft>
                <a:spcPts val="200"/>
              </a:spcAft>
              <a:defRPr sz="1400">
                <a:solidFill>
                  <a:srgbClr val="333333"/>
                </a:solidFill>
                <a:latin typeface="Calibri"/>
              </a:defRPr>
            </a:pPr>
            <a:r>
              <a:t>U.S. semiconductor export policy review (Q4 2024): Clarity on China export restrictions could unlock $5B+ in annual revenue from Chinese hyperscalers and enterprises.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