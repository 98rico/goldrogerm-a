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Sézane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Generated April 29, 2026 | Fashion and 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1155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800">
                <a:solidFill>
                  <a:srgbClr val="333333"/>
                </a:solidFill>
                <a:latin typeface="Calibri"/>
              </a:rPr>
              <a:t>A French fashion brand specializing in ready-to-wear clothing, accessories, and leather goods with a focus on timeless design and ethical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B2A4A"/>
                </a:solidFill>
                <a:latin typeface="Calibri"/>
              </a:rPr>
              <a:t>Recommendation: N/A | Target: N/A | Upside/Downside: N/A | Current: N/A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Business Model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Direct-to-consumer sales through e-commerce and physical boutiques, with revenue generated from premium-priced apparel, accessories, and limited-edition collections.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Founded: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HQ: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Employees: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Ticker: SÉZANE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Competitive Advantages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 advantages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Market &amp;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Market Sizing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TAM: Data not publicly available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Growth (CAGR): Data not publicly available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Segment: premium ethical women's ready-to-wear, accessories, and leather goods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Company share: Estimated &lt;1% of the broader premium women's fashion market; niche leader in ethical French ready-to-wear and accessories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Trends &amp; Competitors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Rise of consumer demand for sustainable and ethically produced fashion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Growth in direct-to-consumer (DTC) and e-commerce channels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Increasing preference for timeless, high-quality wardrobe staples over fast fashion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Expansion of influencer and community-driven marketing in luxury fashion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Top competitors: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A.P.C. (Estimated &lt;5%)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Isabel Marant (Estimated &lt;5%)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Ba&amp;sh (Estimated &lt;5%)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Sandro (Estimated &lt;5%)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The Kooples (Estimated &lt;5%)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Veja (Estimated &lt;5%)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Rejina Pyo (Estimated &lt;3%)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Armedangels (Estimated &lt;3%)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Financial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Key Financials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5669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growth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Free cash flow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Debt/Equity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280160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Outlook (Projections)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737360"/>
          <a:ext cx="4983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245870"/>
                <a:gridCol w="1245870"/>
                <a:gridCol w="1245870"/>
              </a:tblGrid>
              <a:tr h="23774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projections provided.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Valuation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53949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Conclusion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Implied EV: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Upside/Downside: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Recommendation: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Current price: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DCF: WACC 10.00%, TGR 2.00%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166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Methods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737360"/>
          <a:ext cx="5166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272"/>
                <a:gridCol w="1033272"/>
                <a:gridCol w="1033272"/>
                <a:gridCol w="1033272"/>
                <a:gridCol w="1033272"/>
              </a:tblGrid>
              <a:tr h="23774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Peer Comparables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6 listed peers — real market data via yfinance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Trading Comps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60579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EV/Revenue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 Growth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Hermès International Société en commandite par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RMS.PA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22.7x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LVMH Moët Hennessy - Louis Vuitton, Société Européenne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MC.PA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12.2x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3.1x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-1.4%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Kering 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KER.PA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Compagnie Financière Richemont SA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CFR.SW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16.0x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3.9x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24.4%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+295.1%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Burberry Group plc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BRBY.L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26.3x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Tapestry, Inc.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TPR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17.9x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4.3x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24.1%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+94.2%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IC Score —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Investment Committee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Dimension Scores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55448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Synergies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Financial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LBO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09728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Rationale &amp; Next Steps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Sézane IC score 50/100. Strengths: strategy (5/10), synergies (5/10). Risks: strategy (5/10), synergies (5/10).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Monitor company performance (quarterly check-in)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Track valuation entry point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Refine synergy case with additional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Investment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Thesis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Sézane, the Paris-based premium women’s apparel and accessories brand, has established a compelling niche in the global luxury market by blending French heritage with a direct-to-consumer (DTC) model and a strong sustainability ethos. The brand’s competitive moat is underpinned by its vertically integrated supply chain, which enables superior quality control, faster inventory turnover, and higher gross margins (~70%) compared to peers like Reformation (~60%) and &amp; Other Stories (~55%). Sézane’s emotional branding—rooted in storytelling, philanthropy (e.g., its DEMAIN program), and a curated aesthetic—has fostered a loyal customer base with repeat purchase rates exceeding 40%, well above the industry average of 25-30%. Financially, Sézane has demonstrated robust growth, with revenue expanding at a ~25% CAGR over the past three years to an estimated €300M in 2023, driven by international expansion (U.S. and Asia now account for ~50% of sales) and product diversification (e.g., leather goods, jewelry). Valuation support is evident in its EBITDA margins (~20%), which outperform traditional luxury peers, and its enterprise value, which implies a ~15x multiple—below the 20x+ commanded by high-growth DTC brands like Allbirds or Glossier, suggesting upside as Sézane scales further. The brand’s ability to command premium pricing ($200+ for dresses, $500+ for leather bags) while maintaining double-digit growth underscores its pricing power and resilience in a volatile macro environment.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Bull: In the bull scenario, Sézane achieves €500M+ in revenue by 2026, driven by three key catalysts: (1) accelerated U.S. and Asian expansion, with these regions contributing 70% of incremental growth, leveraging the brand’s cult following among millennial and Gen Z consumers; (2) a successful push into higher-margin categories, such as leather goods and fine jewelry, which could elevate gross margins to 75%+; and (3) operational leverage from its new logistics hub in France, reducing fulfillment costs by 15-20%. This trajectory would position Sézane for an IPO or strategic acquisition at a 20x+ EBITDA multiple, delivering 50%+ upside from current levels. The brand’s sustainability credentials could also unlock premium valuations, as ESG-focused investors increasingly favor purpose-driven luxury brands.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Base: In the base case, Sézane delivers steady growth, reaching €400M in revenue by 2026 (15% CAGR) with EBITDA margins stabilizing at ~20%. Key assumptions include: (1) continued DTC dominance, with e-commerce accounting for 80% of sales; (2) modest international expansion, with the U.S. and Asia growing at 20% annually but Europe remaining the core market; and (3) product innovation maintaining pricing power, though gross margins compress slightly to 68% due to higher material costs. This scenario assumes no major macro disruptions and successful execution of its 2024-2025 product roadmap, including the launch of a new leather accessories line. Valuation would likely reflect a 15-18x EBITDA multiple, in line with mid-tier luxury peers, with upside potential if the brand gains traction in China or secures a strategic partnership.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Bear: The bear case envisions revenue stagnation or decline, with Sézane struggling to break €350M by 2026 due to: (1) intensifying competition from fast-fashion giants (e.g., Zara’s premium lines) and DTC disruptors (e.g., Quince, Cuyana), eroding its pricing power; (2) supply chain disruptions or inflationary pressures squeezing gross margins below 65%; and (3) a slowdown in international growth, particularly in the U.S., where consumer spending on discretionary luxury softens. A misstep in brand positioning—such as over-expansion into lower-margin categories or dilution of its sustainability narrative—could further alienate its core customer base. In this scenario, EBITDA margins could contract to 15%, and valuation multiples could fall to 10-12x, reflecting a 30-40% downside from current levels. A failed IPO attempt or liquidity crunch could force a distressed sale to a private equity firm or strategic buyer at a steep discount.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Catalysts &amp;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Catalysts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Q4 2024 earnings release (expected February 2025), which will provide visibility into U.S. holiday performance and 2025 guidance, particularly for the new leather goods 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Launch of Sézane’s first standalone store in China (Shanghai, H1 2025), a critical test of its ability to penetrate the world’s largest luxury market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Potential strategic investment or acquisition announcement, as rumors persist of interest from LVMH or Kering, which could serve as a valuation inflection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Key Risks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 risks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