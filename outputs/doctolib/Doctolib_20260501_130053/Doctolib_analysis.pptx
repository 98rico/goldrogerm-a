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Valuation Football Field  ($M EV)</a:t>
            </a:r>
          </a:p>
        </c:rich>
      </c:tx>
      <c:layout/>
      <c:overlay val="0"/>
    </c:title>
    <c:autoTitleDeleted val="0"/>
    <c:plotArea>
      <c:barChart>
        <c:barDir val="bar"/>
        <c:grouping val="clustered"/>
        <c:ser>
          <c:idx val="0"/>
          <c:order val="0"/>
          <c:tx>
            <c:strRef>
              <c:f>Sheet1!$B$1</c:f>
              <c:strCache>
                <c:ptCount val="1"/>
                <c:pt idx="0">
                  <c:v>Bear</c:v>
                </c:pt>
              </c:strCache>
            </c:strRef>
          </c:tx>
          <c:spPr>
            <a:solidFill>
              <a:srgbClr val="C00000"/>
            </a:solidFill>
          </c:spPr>
          <c:cat>
            <c:strRef>
              <c:f>Sheet1!$A$2:$A$4</c:f>
              <c:strCache>
                <c:ptCount val="3"/>
                <c:pt idx="0">
                  <c:v>DCF EV</c:v>
                </c:pt>
                <c:pt idx="1">
                  <c:v>Comps EV</c:v>
                </c:pt>
                <c:pt idx="2">
                  <c:v>Blended EV</c:v>
                </c:pt>
              </c:strCache>
            </c:strRef>
          </c:cat>
          <c:val>
            <c:numRef>
              <c:f>Sheet1!$B$2:$B$4</c:f>
              <c:numCache>
                <c:formatCode>General</c:formatCode>
                <c:ptCount val="3"/>
                <c:pt idx="0">
                  <c:v>317.0</c:v>
                </c:pt>
                <c:pt idx="1">
                  <c:v>1000.0</c:v>
                </c:pt>
                <c:pt idx="2">
                  <c:v>1300.0</c:v>
                </c:pt>
              </c:numCache>
            </c:numRef>
          </c:val>
        </c:ser>
        <c:ser>
          <c:idx val="1"/>
          <c:order val="1"/>
          <c:tx>
            <c:strRef>
              <c:f>Sheet1!$C$1</c:f>
              <c:strCache>
                <c:ptCount val="1"/>
                <c:pt idx="0">
                  <c:v>Base</c:v>
                </c:pt>
              </c:strCache>
            </c:strRef>
          </c:tx>
          <c:spPr>
            <a:solidFill>
              <a:srgbClr val="FFC000"/>
            </a:solidFill>
          </c:spPr>
          <c:cat>
            <c:strRef>
              <c:f>Sheet1!$A$2:$A$4</c:f>
              <c:strCache>
                <c:ptCount val="3"/>
                <c:pt idx="0">
                  <c:v>DCF EV</c:v>
                </c:pt>
                <c:pt idx="1">
                  <c:v>Comps EV</c:v>
                </c:pt>
                <c:pt idx="2">
                  <c:v>Blended EV</c:v>
                </c:pt>
              </c:strCache>
            </c:strRef>
          </c:cat>
          <c:val>
            <c:numRef>
              <c:f>Sheet1!$C$2:$C$4</c:f>
              <c:numCache>
                <c:formatCode>General</c:formatCode>
                <c:ptCount val="3"/>
                <c:pt idx="0">
                  <c:v>560.0</c:v>
                </c:pt>
                <c:pt idx="1">
                  <c:v>1800.0</c:v>
                </c:pt>
                <c:pt idx="2">
                  <c:v>2100.0</c:v>
                </c:pt>
              </c:numCache>
            </c:numRef>
          </c:val>
        </c:ser>
        <c:ser>
          <c:idx val="2"/>
          <c:order val="2"/>
          <c:tx>
            <c:strRef>
              <c:f>Sheet1!$D$1</c:f>
              <c:strCache>
                <c:ptCount val="1"/>
                <c:pt idx="0">
                  <c:v>Bull</c:v>
                </c:pt>
              </c:strCache>
            </c:strRef>
          </c:tx>
          <c:spPr>
            <a:solidFill>
              <a:srgbClr val="00B050"/>
            </a:solidFill>
          </c:spPr>
          <c:cat>
            <c:strRef>
              <c:f>Sheet1!$A$2:$A$4</c:f>
              <c:strCache>
                <c:ptCount val="3"/>
                <c:pt idx="0">
                  <c:v>DCF EV</c:v>
                </c:pt>
                <c:pt idx="1">
                  <c:v>Comps EV</c:v>
                </c:pt>
                <c:pt idx="2">
                  <c:v>Blended EV</c:v>
                </c:pt>
              </c:strCache>
            </c:strRef>
          </c:cat>
          <c:val>
            <c:numRef>
              <c:f>Sheet1!$D$2:$D$4</c:f>
              <c:numCache>
                <c:formatCode>General</c:formatCode>
                <c:ptCount val="3"/>
                <c:pt idx="0">
                  <c:v>962.0</c:v>
                </c:pt>
                <c:pt idx="1">
                  <c:v>2900.0</c:v>
                </c:pt>
                <c:pt idx="2">
                  <c:v>3300.0</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radarChart>
        <c:radarStyle val="filled"/>
        <c:varyColors val="0"/>
        <c:ser>
          <c:idx val="0"/>
          <c:order val="0"/>
          <c:tx>
            <c:strRef>
              <c:f>Sheet1!$B$1</c:f>
              <c:strCache>
                <c:ptCount val="1"/>
                <c:pt idx="0">
                  <c:v>Score</c:v>
                </c:pt>
              </c:strCache>
            </c:strRef>
          </c:tx>
          <c:spPr>
            <a:solidFill>
              <a:srgbClr val="1F497D"/>
            </a:solidFill>
          </c:spPr>
          <c:cat>
            <c:strRef>
              <c:f>Sheet1!$A$2:$A$7</c:f>
              <c:strCache>
                <c:ptCount val="6"/>
                <c:pt idx="0">
                  <c:v>Strategy</c:v>
                </c:pt>
                <c:pt idx="1">
                  <c:v>Synergies</c:v>
                </c:pt>
                <c:pt idx="2">
                  <c:v>Financial</c:v>
                </c:pt>
                <c:pt idx="3">
                  <c:v>LBO</c:v>
                </c:pt>
                <c:pt idx="4">
                  <c:v>Integration</c:v>
                </c:pt>
                <c:pt idx="5">
                  <c:v>Risk</c:v>
                </c:pt>
              </c:strCache>
            </c:strRef>
          </c:cat>
          <c:val>
            <c:numRef>
              <c:f>Sheet1!$B$2:$B$7</c:f>
              <c:numCache>
                <c:formatCode>General</c:formatCode>
                <c:ptCount val="6"/>
                <c:pt idx="0">
                  <c:v>5.0</c:v>
                </c:pt>
                <c:pt idx="1">
                  <c:v>5.0</c:v>
                </c:pt>
                <c:pt idx="2">
                  <c:v>5.0</c:v>
                </c:pt>
                <c:pt idx="3">
                  <c:v>1.0</c:v>
                </c:pt>
                <c:pt idx="4">
                  <c:v>5.0</c:v>
                </c:pt>
                <c:pt idx="5">
                  <c:v>5.0</c:v>
                </c:pt>
              </c:numCache>
            </c:numRef>
          </c:val>
          <c:smooth val="0"/>
        </c:ser>
        <c:ser>
          <c:idx val="1"/>
          <c:order val="1"/>
          <c:tx>
            <c:strRef>
              <c:f>Sheet1!$C$1</c:f>
              <c:strCache>
                <c:ptCount val="1"/>
                <c:pt idx="0">
                  <c:v>Midpoint</c:v>
                </c:pt>
              </c:strCache>
            </c:strRef>
          </c:tx>
          <c:spPr>
            <a:ln>
              <a:solidFill>
                <a:srgbClr val="B4B4B4"/>
              </a:solidFill>
            </a:ln>
          </c:spPr>
          <c:cat>
            <c:strRef>
              <c:f>Sheet1!$A$2:$A$7</c:f>
              <c:strCache>
                <c:ptCount val="6"/>
                <c:pt idx="0">
                  <c:v>Strategy</c:v>
                </c:pt>
                <c:pt idx="1">
                  <c:v>Synergies</c:v>
                </c:pt>
                <c:pt idx="2">
                  <c:v>Financial</c:v>
                </c:pt>
                <c:pt idx="3">
                  <c:v>LBO</c:v>
                </c:pt>
                <c:pt idx="4">
                  <c:v>Integration</c:v>
                </c:pt>
                <c:pt idx="5">
                  <c:v>Risk</c:v>
                </c:pt>
              </c:strCache>
            </c:strRef>
          </c:cat>
          <c:val>
            <c:numRef>
              <c:f>Sheet1!$C$2:$C$7</c:f>
              <c:numCache>
                <c:formatCode>General</c:formatCode>
                <c:ptCount val="6"/>
                <c:pt idx="0">
                  <c:v>5.0</c:v>
                </c:pt>
                <c:pt idx="1">
                  <c:v>5.0</c:v>
                </c:pt>
                <c:pt idx="2">
                  <c:v>5.0</c:v>
                </c:pt>
                <c:pt idx="3">
                  <c:v>5.0</c:v>
                </c:pt>
                <c:pt idx="4">
                  <c:v>5.0</c:v>
                </c:pt>
                <c:pt idx="5">
                  <c:v>5.0</c:v>
                </c:pt>
              </c:numCache>
            </c:numRef>
          </c:val>
          <c:smooth val="0"/>
        </c:ser>
        <c:axId val="2073612648"/>
        <c:axId val="-2112772216"/>
      </c:radarChart>
      <c:catAx>
        <c:axId val="2073612648"/>
        <c:scaling>
          <c:orientation val="minMax"/>
        </c:scaling>
        <c:delete val="0"/>
        <c:axPos val="b"/>
        <c:majorGridlines/>
        <c:numFmt formatCode="m/d/yy" sourceLinked="1"/>
        <c:majorTickMark val="out"/>
        <c:minorTickMark val="none"/>
        <c:tickLblPos val="nextTo"/>
        <c:crossAx val="-2112772216"/>
        <c:crosses val="autoZero"/>
        <c:auto val="1"/>
        <c:lblAlgn val="ctr"/>
        <c:lblOffset val="100"/>
        <c:noMultiLvlLbl val="0"/>
      </c:catAx>
      <c:valAx>
        <c:axId val="-2112772216"/>
        <c:scaling>
          <c:orientation val="minMax"/>
        </c:scaling>
        <c:delete val="0"/>
        <c:axPos val="l"/>
        <c:majorGridlines/>
        <c:numFmt formatCode="General" sourceLinked="1"/>
        <c:majorTickMark val="cross"/>
        <c:minorTickMark val="none"/>
        <c:tickLblPos val="nextTo"/>
        <c:crossAx val="2073612648"/>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Doctolib</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Executive Summary  |  Healthcare Technology (HealthTech)  |  Private</a:t>
            </a:r>
          </a:p>
        </p:txBody>
      </p:sp>
      <p:sp>
        <p:nvSpPr>
          <p:cNvPr id="6" name="TextBox 5"/>
          <p:cNvSpPr txBox="1"/>
          <p:nvPr/>
        </p:nvSpPr>
        <p:spPr>
          <a:xfrm>
            <a:off x="4114800" y="1371600"/>
            <a:ext cx="3657600" cy="822960"/>
          </a:xfrm>
          <a:prstGeom prst="rect">
            <a:avLst/>
          </a:prstGeom>
          <a:noFill/>
        </p:spPr>
        <p:txBody>
          <a:bodyPr wrap="none">
            <a:spAutoFit/>
          </a:bodyPr>
          <a:lstStyle/>
          <a:p>
            <a:pPr algn="ctr"/>
            <a:r>
              <a:rPr b="1" sz="3600">
                <a:solidFill>
                  <a:srgbClr val="FFC000"/>
                </a:solidFill>
                <a:latin typeface="Calibri"/>
              </a:rPr>
              <a:t>NEUTRAL</a:t>
            </a:r>
          </a:p>
        </p:txBody>
      </p:sp>
      <p:sp>
        <p:nvSpPr>
          <p:cNvPr id="7" name="TextBox 6"/>
          <p:cNvSpPr txBox="1"/>
          <p:nvPr/>
        </p:nvSpPr>
        <p:spPr>
          <a:xfrm>
            <a:off x="457200" y="2377440"/>
            <a:ext cx="11247120" cy="1280160"/>
          </a:xfrm>
          <a:prstGeom prst="rect">
            <a:avLst/>
          </a:prstGeom>
          <a:noFill/>
        </p:spPr>
        <p:txBody>
          <a:bodyPr wrap="none">
            <a:spAutoFit/>
          </a:bodyPr>
          <a:lstStyle/>
          <a:p>
            <a:pPr algn="ctr"/>
            <a:r>
              <a:rPr b="1" sz="1500">
                <a:solidFill>
                  <a:srgbClr val="1B2A4A"/>
                </a:solidFill>
                <a:latin typeface="Calibri"/>
              </a:rPr>
              <a:t>Implied EV: $2.1B     |     Revenue: $300.0M     |     EBITDA Margin: 18.0% [sector avg]     |     Upside/Downside: N/A [no market price]</a:t>
            </a:r>
          </a:p>
        </p:txBody>
      </p:sp>
      <p:sp>
        <p:nvSpPr>
          <p:cNvPr id="8" name="TextBox 7"/>
          <p:cNvSpPr txBox="1"/>
          <p:nvPr/>
        </p:nvSpPr>
        <p:spPr>
          <a:xfrm>
            <a:off x="4754880" y="3657600"/>
            <a:ext cx="2560320" cy="640080"/>
          </a:xfrm>
          <a:prstGeom prst="rect">
            <a:avLst/>
          </a:prstGeom>
          <a:noFill/>
        </p:spPr>
        <p:txBody>
          <a:bodyPr wrap="none">
            <a:spAutoFit/>
          </a:bodyPr>
          <a:lstStyle/>
          <a:p>
            <a:pPr algn="ctr"/>
            <a:r>
              <a:rPr b="1" sz="1600">
                <a:solidFill>
                  <a:srgbClr val="1B2A4A"/>
                </a:solidFill>
                <a:latin typeface="Calibri"/>
              </a:rPr>
              <a:t>IC Score: 0/100</a:t>
            </a:r>
          </a:p>
        </p:txBody>
      </p:sp>
      <p:sp>
        <p:nvSpPr>
          <p:cNvPr id="9" name="TextBox 8"/>
          <p:cNvSpPr txBox="1"/>
          <p:nvPr/>
        </p:nvSpPr>
        <p:spPr>
          <a:xfrm>
            <a:off x="457200" y="4480560"/>
            <a:ext cx="11247120" cy="2103120"/>
          </a:xfrm>
          <a:prstGeom prst="rect">
            <a:avLst/>
          </a:prstGeom>
          <a:noFill/>
        </p:spPr>
        <p:txBody>
          <a:bodyPr wrap="none">
            <a:spAutoFit/>
          </a:bodyPr>
          <a:lstStyle/>
          <a:p>
            <a:r>
              <a:rPr b="1" sz="2000">
                <a:solidFill>
                  <a:srgbClr val="333333"/>
                </a:solidFill>
                <a:latin typeface="Calibri"/>
              </a:rPr>
              <a:t>Key Scenarios</a:t>
            </a:r>
          </a:p>
          <a:p>
            <a:pPr>
              <a:spcBef>
                <a:spcPts val="200"/>
              </a:spcBef>
              <a:spcAft>
                <a:spcPts val="200"/>
              </a:spcAft>
              <a:defRPr sz="1400">
                <a:solidFill>
                  <a:srgbClr val="333333"/>
                </a:solidFill>
                <a:latin typeface="Calibri"/>
              </a:defRPr>
            </a:pPr>
            <a:r>
              <a:t>Base case: The base case assumes Doctolib maintains its leadership in core markets but faces modest growth headwinds as saturation approaches</a:t>
            </a:r>
          </a:p>
          <a:p>
            <a:pPr>
              <a:spcBef>
                <a:spcPts val="200"/>
              </a:spcBef>
              <a:spcAft>
                <a:spcPts val="200"/>
              </a:spcAft>
              <a:defRPr sz="1400">
                <a:solidFill>
                  <a:srgbClr val="333333"/>
                </a:solidFill>
                <a:latin typeface="Calibri"/>
              </a:defRPr>
            </a:pPr>
            <a:r>
              <a:t>Bull: The bull case hinges on Doctolib’s ability to deepen its penetration in existing markets and successfully monetize its vast user b</a:t>
            </a:r>
          </a:p>
          <a:p>
            <a:pPr>
              <a:spcBef>
                <a:spcPts val="200"/>
              </a:spcBef>
              <a:spcAft>
                <a:spcPts val="200"/>
              </a:spcAft>
              <a:defRPr sz="1400">
                <a:solidFill>
                  <a:srgbClr val="333333"/>
                </a:solidFill>
                <a:latin typeface="Calibri"/>
              </a:defRPr>
            </a:pPr>
            <a:r>
              <a:t>Bear: Downside risks center on execution missteps and competitive pressures. Key triggers include: (1) Failure to monetize telemedicine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Doctolib</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Generated May 01, 2026 | Healthcare Technology (HealthTech)</a:t>
            </a:r>
          </a:p>
        </p:txBody>
      </p:sp>
      <p:sp>
        <p:nvSpPr>
          <p:cNvPr id="6" name="TextBox 5"/>
          <p:cNvSpPr txBox="1"/>
          <p:nvPr/>
        </p:nvSpPr>
        <p:spPr>
          <a:xfrm>
            <a:off x="685800" y="2011680"/>
            <a:ext cx="11155680" cy="1371600"/>
          </a:xfrm>
          <a:prstGeom prst="rect">
            <a:avLst/>
          </a:prstGeom>
          <a:noFill/>
        </p:spPr>
        <p:txBody>
          <a:bodyPr wrap="none">
            <a:spAutoFit/>
          </a:bodyPr>
          <a:lstStyle/>
          <a:p>
            <a:r>
              <a:rPr b="0" sz="1800">
                <a:solidFill>
                  <a:srgbClr val="333333"/>
                </a:solidFill>
                <a:latin typeface="Calibri"/>
              </a:rPr>
              <a:t>A European digital health platform that connects patients with healthcare professionals, offering appointment scheduling, telemedicine, and practice management software.</a:t>
            </a:r>
          </a:p>
        </p:txBody>
      </p:sp>
      <p:sp>
        <p:nvSpPr>
          <p:cNvPr id="7" name="TextBox 6"/>
          <p:cNvSpPr txBox="1"/>
          <p:nvPr/>
        </p:nvSpPr>
        <p:spPr>
          <a:xfrm>
            <a:off x="685800" y="6035040"/>
            <a:ext cx="11155680" cy="548640"/>
          </a:xfrm>
          <a:prstGeom prst="rect">
            <a:avLst/>
          </a:prstGeom>
          <a:noFill/>
        </p:spPr>
        <p:txBody>
          <a:bodyPr wrap="none">
            <a:spAutoFit/>
          </a:bodyPr>
          <a:lstStyle/>
          <a:p>
            <a:r>
              <a:rPr b="1" sz="1400">
                <a:solidFill>
                  <a:srgbClr val="1B2A4A"/>
                </a:solidFill>
                <a:latin typeface="Calibri"/>
              </a:rPr>
              <a:t>Recommendation: NEUTRAL | Target: $2.1B | Upside/Downside: N/A [no market price] | Current: 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Company Overview</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Business Model</a:t>
            </a:r>
          </a:p>
          <a:p>
            <a:pPr>
              <a:spcBef>
                <a:spcPts val="200"/>
              </a:spcBef>
              <a:spcAft>
                <a:spcPts val="200"/>
              </a:spcAft>
              <a:defRPr sz="1400">
                <a:solidFill>
                  <a:srgbClr val="333333"/>
                </a:solidFill>
                <a:latin typeface="Calibri"/>
              </a:defRPr>
            </a:pPr>
            <a:r>
              <a:t>Generates revenue through subscription fees from healthcare providers for software services, transaction fees for online bookings, and premium features for clinics and hospitals.</a:t>
            </a:r>
          </a:p>
          <a:p>
            <a:pPr>
              <a:spcBef>
                <a:spcPts val="200"/>
              </a:spcBef>
              <a:spcAft>
                <a:spcPts val="200"/>
              </a:spcAft>
              <a:defRPr sz="1400">
                <a:solidFill>
                  <a:srgbClr val="333333"/>
                </a:solidFill>
                <a:latin typeface="Calibri"/>
              </a:defRPr>
            </a:pPr>
            <a:r>
              <a:t>Founded: N/A</a:t>
            </a:r>
          </a:p>
          <a:p>
            <a:pPr>
              <a:spcBef>
                <a:spcPts val="200"/>
              </a:spcBef>
              <a:spcAft>
                <a:spcPts val="200"/>
              </a:spcAft>
              <a:defRPr sz="1400">
                <a:solidFill>
                  <a:srgbClr val="333333"/>
                </a:solidFill>
                <a:latin typeface="Calibri"/>
              </a:defRPr>
            </a:pPr>
            <a:r>
              <a:t>HQ: N/A</a:t>
            </a:r>
          </a:p>
          <a:p>
            <a:pPr>
              <a:spcBef>
                <a:spcPts val="200"/>
              </a:spcBef>
              <a:spcAft>
                <a:spcPts val="200"/>
              </a:spcAft>
              <a:defRPr sz="1400">
                <a:solidFill>
                  <a:srgbClr val="333333"/>
                </a:solidFill>
                <a:latin typeface="Calibri"/>
              </a:defRPr>
            </a:pPr>
            <a:r>
              <a:t>Employees: N/A</a:t>
            </a:r>
          </a:p>
          <a:p>
            <a:pPr>
              <a:spcBef>
                <a:spcPts val="200"/>
              </a:spcBef>
              <a:spcAft>
                <a:spcPts val="200"/>
              </a:spcAft>
              <a:defRPr sz="1400">
                <a:solidFill>
                  <a:srgbClr val="333333"/>
                </a:solidFill>
                <a:latin typeface="Calibri"/>
              </a:defRPr>
            </a:pPr>
            <a:r>
              <a:t>Ticker: DOCTOL</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Competitive Advantages</a:t>
            </a:r>
          </a:p>
          <a:p>
            <a:pPr>
              <a:spcBef>
                <a:spcPts val="200"/>
              </a:spcBef>
              <a:spcAft>
                <a:spcPts val="200"/>
              </a:spcAft>
              <a:defRPr sz="1400">
                <a:solidFill>
                  <a:srgbClr val="333333"/>
                </a:solidFill>
                <a:latin typeface="Calibri"/>
              </a:defRPr>
            </a:pPr>
            <a:r>
              <a:t>Competitive positioning data unavailable.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Market &amp; Competition</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Market Sizing</a:t>
            </a:r>
          </a:p>
          <a:p>
            <a:pPr>
              <a:spcBef>
                <a:spcPts val="200"/>
              </a:spcBef>
              <a:spcAft>
                <a:spcPts val="200"/>
              </a:spcAft>
              <a:defRPr sz="1400">
                <a:solidFill>
                  <a:srgbClr val="333333"/>
                </a:solidFill>
                <a:latin typeface="Calibri"/>
              </a:defRPr>
            </a:pPr>
            <a:r>
              <a:t>TAM: Market size data not available [no verified source]</a:t>
            </a:r>
          </a:p>
          <a:p>
            <a:pPr>
              <a:spcBef>
                <a:spcPts val="200"/>
              </a:spcBef>
              <a:spcAft>
                <a:spcPts val="200"/>
              </a:spcAft>
              <a:defRPr sz="1400">
                <a:solidFill>
                  <a:srgbClr val="333333"/>
                </a:solidFill>
                <a:latin typeface="Calibri"/>
              </a:defRPr>
            </a:pPr>
            <a:r>
              <a:t>Growth (CAGR): +7.0% [sector benchmark]</a:t>
            </a:r>
          </a:p>
          <a:p>
            <a:pPr>
              <a:spcBef>
                <a:spcPts val="200"/>
              </a:spcBef>
              <a:spcAft>
                <a:spcPts val="200"/>
              </a:spcAft>
              <a:defRPr sz="1400">
                <a:solidFill>
                  <a:srgbClr val="333333"/>
                </a:solidFill>
                <a:latin typeface="Calibri"/>
              </a:defRPr>
            </a:pPr>
            <a:r>
              <a:t>Segment: N/A</a:t>
            </a:r>
          </a:p>
          <a:p>
            <a:pPr>
              <a:spcBef>
                <a:spcPts val="200"/>
              </a:spcBef>
              <a:spcAft>
                <a:spcPts val="200"/>
              </a:spcAft>
              <a:defRPr sz="1400">
                <a:solidFill>
                  <a:srgbClr val="333333"/>
                </a:solidFill>
                <a:latin typeface="Calibri"/>
              </a:defRPr>
            </a:pPr>
            <a:r>
              <a:t>Company share: N/A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Trends &amp; Competitors</a:t>
            </a:r>
          </a:p>
          <a:p>
            <a:pPr>
              <a:spcBef>
                <a:spcPts val="200"/>
              </a:spcBef>
              <a:spcAft>
                <a:spcPts val="200"/>
              </a:spcAft>
              <a:defRPr sz="1400">
                <a:solidFill>
                  <a:srgbClr val="333333"/>
                </a:solidFill>
                <a:latin typeface="Calibri"/>
              </a:defRPr>
            </a:pPr>
            <a:r>
              <a:t>No market trend data available from current sources.</a:t>
            </a:r>
          </a:p>
          <a:p>
            <a:pPr>
              <a:spcBef>
                <a:spcPts val="200"/>
              </a:spcBef>
              <a:spcAft>
                <a:spcPts val="200"/>
              </a:spcAft>
              <a:defRPr sz="1400">
                <a:solidFill>
                  <a:srgbClr val="333333"/>
                </a:solidFill>
                <a:latin typeface="Calibri"/>
              </a:defRPr>
            </a:pPr>
            <a:r>
              <a:t>Top competitors:</a:t>
            </a:r>
          </a:p>
          <a:p>
            <a:pPr>
              <a:spcBef>
                <a:spcPts val="200"/>
              </a:spcBef>
              <a:spcAft>
                <a:spcPts val="200"/>
              </a:spcAft>
              <a:defRPr sz="1400">
                <a:solidFill>
                  <a:srgbClr val="333333"/>
                </a:solidFill>
                <a:latin typeface="Calibri"/>
              </a:defRPr>
            </a:pPr>
            <a:r>
              <a:t>N/A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Financial Snapshot</a:t>
            </a:r>
          </a:p>
        </p:txBody>
      </p:sp>
      <p:sp>
        <p:nvSpPr>
          <p:cNvPr id="5" name="TextBox 4"/>
          <p:cNvSpPr txBox="1"/>
          <p:nvPr/>
        </p:nvSpPr>
        <p:spPr>
          <a:xfrm>
            <a:off x="685800" y="1280160"/>
            <a:ext cx="5669280" cy="457200"/>
          </a:xfrm>
          <a:prstGeom prst="rect">
            <a:avLst/>
          </a:prstGeom>
          <a:noFill/>
        </p:spPr>
        <p:txBody>
          <a:bodyPr wrap="none">
            <a:spAutoFit/>
          </a:bodyPr>
          <a:lstStyle/>
          <a:p>
            <a:r>
              <a:rPr b="1" sz="2000">
                <a:solidFill>
                  <a:srgbClr val="333333"/>
                </a:solidFill>
                <a:latin typeface="Calibri"/>
              </a:rPr>
              <a:t>Key Financials</a:t>
            </a:r>
          </a:p>
        </p:txBody>
      </p:sp>
      <p:graphicFrame>
        <p:nvGraphicFramePr>
          <p:cNvPr id="6" name="Table 5"/>
          <p:cNvGraphicFramePr>
            <a:graphicFrameLocks noGrp="1"/>
          </p:cNvGraphicFramePr>
          <p:nvPr/>
        </p:nvGraphicFramePr>
        <p:xfrm>
          <a:off x="685800" y="1737360"/>
          <a:ext cx="5669280" cy="4754880"/>
        </p:xfrm>
        <a:graphic>
          <a:graphicData uri="http://schemas.openxmlformats.org/drawingml/2006/table">
            <a:tbl>
              <a:tblPr firstRow="1" bandRow="1">
                <a:tableStyleId>{5C22544A-7EE6-4342-B048-85BDC9FD1C3A}</a:tableStyleId>
              </a:tblPr>
              <a:tblGrid>
                <a:gridCol w="2834640"/>
                <a:gridCol w="2834640"/>
              </a:tblGrid>
              <a:tr h="594360">
                <a:tc>
                  <a:txBody>
                    <a:bodyPr/>
                    <a:lstStyle/>
                    <a:p>
                      <a:pPr>
                        <a:defRPr b="1" sz="1200">
                          <a:solidFill>
                            <a:srgbClr val="FFFFFF"/>
                          </a:solidFill>
                          <a:latin typeface="Calibri"/>
                        </a:defRPr>
                      </a:pPr>
                      <a:r>
                        <a:t>Metric</a:t>
                      </a:r>
                    </a:p>
                  </a:txBody>
                  <a:tcPr>
                    <a:solidFill>
                      <a:srgbClr val="1B2A4A"/>
                    </a:solidFill>
                  </a:tcPr>
                </a:tc>
                <a:tc>
                  <a:txBody>
                    <a:bodyPr/>
                    <a:lstStyle/>
                    <a:p>
                      <a:pPr>
                        <a:defRPr b="1" sz="1200">
                          <a:solidFill>
                            <a:srgbClr val="FFFFFF"/>
                          </a:solidFill>
                          <a:latin typeface="Calibri"/>
                        </a:defRPr>
                      </a:pPr>
                      <a:r>
                        <a:t>Value</a:t>
                      </a:r>
                    </a:p>
                  </a:txBody>
                  <a:tcPr>
                    <a:solidFill>
                      <a:srgbClr val="1B2A4A"/>
                    </a:solidFill>
                  </a:tcPr>
                </a:tc>
              </a:tr>
              <a:tr h="594360">
                <a:tc>
                  <a:txBody>
                    <a:bodyPr/>
                    <a:lstStyle/>
                    <a:p>
                      <a:pPr>
                        <a:defRPr sz="1100">
                          <a:solidFill>
                            <a:srgbClr val="333333"/>
                          </a:solidFill>
                          <a:latin typeface="Calibri"/>
                        </a:defRPr>
                      </a:pPr>
                      <a:r>
                        <a:t>Revenue</a:t>
                      </a:r>
                    </a:p>
                  </a:txBody>
                  <a:tcPr>
                    <a:solidFill>
                      <a:srgbClr val="FFFFFF"/>
                    </a:solidFill>
                  </a:tcPr>
                </a:tc>
                <a:tc>
                  <a:txBody>
                    <a:bodyPr/>
                    <a:lstStyle/>
                    <a:p>
                      <a:pPr>
                        <a:defRPr sz="1100">
                          <a:solidFill>
                            <a:srgbClr val="333333"/>
                          </a:solidFill>
                          <a:latin typeface="Calibri"/>
                        </a:defRPr>
                      </a:pPr>
                      <a:r>
                        <a:t>300.0</a:t>
                      </a:r>
                    </a:p>
                  </a:txBody>
                  <a:tcPr>
                    <a:solidFill>
                      <a:srgbClr val="FFFFFF"/>
                    </a:solidFill>
                  </a:tcPr>
                </a:tc>
              </a:tr>
              <a:tr h="594360">
                <a:tc>
                  <a:txBody>
                    <a:bodyPr/>
                    <a:lstStyle/>
                    <a:p>
                      <a:pPr>
                        <a:defRPr sz="1100">
                          <a:solidFill>
                            <a:srgbClr val="333333"/>
                          </a:solidFill>
                          <a:latin typeface="Calibri"/>
                        </a:defRPr>
                      </a:pPr>
                      <a:r>
                        <a:t>Revenue growth</a:t>
                      </a:r>
                    </a:p>
                  </a:txBody>
                  <a:tcPr>
                    <a:solidFill>
                      <a:srgbClr val="FAFAFA"/>
                    </a:solidFill>
                  </a:tcPr>
                </a:tc>
                <a:tc>
                  <a:txBody>
                    <a:bodyPr/>
                    <a:lstStyle/>
                    <a:p>
                      <a:pPr>
                        <a:defRPr sz="1100">
                          <a:solidFill>
                            <a:srgbClr val="333333"/>
                          </a:solidFill>
                          <a:latin typeface="Calibri"/>
                        </a:defRPr>
                      </a:pPr>
                      <a:r>
                        <a:t>+7.0% [estimated]</a:t>
                      </a:r>
                    </a:p>
                  </a:txBody>
                  <a:tcPr>
                    <a:solidFill>
                      <a:srgbClr val="FAFAFA"/>
                    </a:solidFill>
                  </a:tcPr>
                </a:tc>
              </a:tr>
              <a:tr h="594360">
                <a:tc>
                  <a:txBody>
                    <a:bodyPr/>
                    <a:lstStyle/>
                    <a:p>
                      <a:pPr>
                        <a:defRPr sz="1100">
                          <a:solidFill>
                            <a:srgbClr val="333333"/>
                          </a:solidFill>
                          <a:latin typeface="Calibri"/>
                        </a:defRPr>
                      </a:pPr>
                      <a:r>
                        <a:t>Gross margin</a:t>
                      </a:r>
                    </a:p>
                  </a:txBody>
                  <a:tcPr>
                    <a:solidFill>
                      <a:srgbClr val="FFFFFF"/>
                    </a:solidFill>
                  </a:tcPr>
                </a:tc>
                <a:tc>
                  <a:txBody>
                    <a:bodyPr/>
                    <a:lstStyle/>
                    <a:p>
                      <a:pPr>
                        <a:defRPr sz="1100">
                          <a:solidFill>
                            <a:srgbClr val="333333"/>
                          </a:solidFill>
                          <a:latin typeface="Calibri"/>
                        </a:defRPr>
                      </a:pPr>
                      <a:r>
                        <a:t>43.0% [estimated]</a:t>
                      </a:r>
                    </a:p>
                  </a:txBody>
                  <a:tcPr>
                    <a:solidFill>
                      <a:srgbClr val="FFFFFF"/>
                    </a:solidFill>
                  </a:tcPr>
                </a:tc>
              </a:tr>
              <a:tr h="594360">
                <a:tc>
                  <a:txBody>
                    <a:bodyPr/>
                    <a:lstStyle/>
                    <a:p>
                      <a:pPr>
                        <a:defRPr sz="1100">
                          <a:solidFill>
                            <a:srgbClr val="333333"/>
                          </a:solidFill>
                          <a:latin typeface="Calibri"/>
                        </a:defRPr>
                      </a:pPr>
                      <a:r>
                        <a:t>EBITDA margin</a:t>
                      </a:r>
                    </a:p>
                  </a:txBody>
                  <a:tcPr>
                    <a:solidFill>
                      <a:srgbClr val="FAFAFA"/>
                    </a:solidFill>
                  </a:tcPr>
                </a:tc>
                <a:tc>
                  <a:txBody>
                    <a:bodyPr/>
                    <a:lstStyle/>
                    <a:p>
                      <a:pPr>
                        <a:defRPr sz="1100">
                          <a:solidFill>
                            <a:srgbClr val="333333"/>
                          </a:solidFill>
                          <a:latin typeface="Calibri"/>
                        </a:defRPr>
                      </a:pPr>
                      <a:r>
                        <a:t>18.0% [sector avg]</a:t>
                      </a:r>
                    </a:p>
                  </a:txBody>
                  <a:tcPr>
                    <a:solidFill>
                      <a:srgbClr val="FAFAFA"/>
                    </a:solidFill>
                  </a:tcPr>
                </a:tc>
              </a:tr>
              <a:tr h="594360">
                <a:tc>
                  <a:txBody>
                    <a:bodyPr/>
                    <a:lstStyle/>
                    <a:p>
                      <a:pPr>
                        <a:defRPr sz="1100">
                          <a:solidFill>
                            <a:srgbClr val="333333"/>
                          </a:solidFill>
                          <a:latin typeface="Calibri"/>
                        </a:defRPr>
                      </a:pPr>
                      <a:r>
                        <a:t>Net margin</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Free cash flow</a:t>
                      </a:r>
                    </a:p>
                  </a:txBody>
                  <a:tcPr>
                    <a:solidFill>
                      <a:srgbClr val="FAFAFA"/>
                    </a:solidFill>
                  </a:tcPr>
                </a:tc>
                <a:tc>
                  <a:txBody>
                    <a:bodyPr/>
                    <a:lstStyle/>
                    <a:p>
                      <a:pPr>
                        <a:defRPr sz="1100">
                          <a:solidFill>
                            <a:srgbClr val="333333"/>
                          </a:solidFill>
                          <a:latin typeface="Calibri"/>
                        </a:defRPr>
                      </a:pPr>
                      <a:r>
                        <a:t>$35M [estimated]</a:t>
                      </a:r>
                    </a:p>
                  </a:txBody>
                  <a:tcPr>
                    <a:solidFill>
                      <a:srgbClr val="FAFAFA"/>
                    </a:solidFill>
                  </a:tcPr>
                </a:tc>
              </a:tr>
              <a:tr h="594360">
                <a:tc>
                  <a:txBody>
                    <a:bodyPr/>
                    <a:lstStyle/>
                    <a:p>
                      <a:pPr>
                        <a:defRPr sz="1100">
                          <a:solidFill>
                            <a:srgbClr val="333333"/>
                          </a:solidFill>
                          <a:latin typeface="Calibri"/>
                        </a:defRPr>
                      </a:pPr>
                      <a:r>
                        <a:t>Debt/Equity</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bl>
          </a:graphicData>
        </a:graphic>
      </p:graphicFrame>
      <p:sp>
        <p:nvSpPr>
          <p:cNvPr id="7" name="TextBox 6"/>
          <p:cNvSpPr txBox="1"/>
          <p:nvPr/>
        </p:nvSpPr>
        <p:spPr>
          <a:xfrm>
            <a:off x="6492240" y="1280160"/>
            <a:ext cx="4983480" cy="457200"/>
          </a:xfrm>
          <a:prstGeom prst="rect">
            <a:avLst/>
          </a:prstGeom>
          <a:noFill/>
        </p:spPr>
        <p:txBody>
          <a:bodyPr wrap="none">
            <a:spAutoFit/>
          </a:bodyPr>
          <a:lstStyle/>
          <a:p>
            <a:r>
              <a:rPr b="1" sz="2000">
                <a:solidFill>
                  <a:srgbClr val="333333"/>
                </a:solidFill>
                <a:latin typeface="Calibri"/>
              </a:rPr>
              <a:t>Outlook (Projections)</a:t>
            </a:r>
          </a:p>
        </p:txBody>
      </p:sp>
      <p:graphicFrame>
        <p:nvGraphicFramePr>
          <p:cNvPr id="8" name="Table 7"/>
          <p:cNvGraphicFramePr>
            <a:graphicFrameLocks noGrp="1"/>
          </p:cNvGraphicFramePr>
          <p:nvPr/>
        </p:nvGraphicFramePr>
        <p:xfrm>
          <a:off x="6492240" y="1737360"/>
          <a:ext cx="4983480" cy="4754880"/>
        </p:xfrm>
        <a:graphic>
          <a:graphicData uri="http://schemas.openxmlformats.org/drawingml/2006/table">
            <a:tbl>
              <a:tblPr firstRow="1" bandRow="1">
                <a:tableStyleId>{5C22544A-7EE6-4342-B048-85BDC9FD1C3A}</a:tableStyleId>
              </a:tblPr>
              <a:tblGrid>
                <a:gridCol w="1245870"/>
                <a:gridCol w="1245870"/>
                <a:gridCol w="1245870"/>
                <a:gridCol w="1245870"/>
              </a:tblGrid>
              <a:tr h="2377440">
                <a:tc>
                  <a:txBody>
                    <a:bodyPr/>
                    <a:lstStyle/>
                    <a:p>
                      <a:pPr>
                        <a:defRPr b="1" sz="1200">
                          <a:solidFill>
                            <a:srgbClr val="FFFFFF"/>
                          </a:solidFill>
                          <a:latin typeface="Calibri"/>
                        </a:defRPr>
                      </a:pPr>
                      <a:r>
                        <a:t>Year</a:t>
                      </a:r>
                    </a:p>
                  </a:txBody>
                  <a:tcPr>
                    <a:solidFill>
                      <a:srgbClr val="1B2A4A"/>
                    </a:solidFill>
                  </a:tcPr>
                </a:tc>
                <a:tc>
                  <a:txBody>
                    <a:bodyPr/>
                    <a:lstStyle/>
                    <a:p>
                      <a:pPr>
                        <a:defRPr b="1" sz="1200">
                          <a:solidFill>
                            <a:srgbClr val="FFFFFF"/>
                          </a:solidFill>
                          <a:latin typeface="Calibri"/>
                        </a:defRPr>
                      </a:pPr>
                      <a:r>
                        <a:t>Revenue</a:t>
                      </a:r>
                    </a:p>
                  </a:txBody>
                  <a:tcPr>
                    <a:solidFill>
                      <a:srgbClr val="1B2A4A"/>
                    </a:solidFill>
                  </a:tcPr>
                </a:tc>
                <a:tc>
                  <a:txBody>
                    <a:bodyPr/>
                    <a:lstStyle/>
                    <a:p>
                      <a:pPr>
                        <a:defRPr b="1" sz="1200">
                          <a:solidFill>
                            <a:srgbClr val="FFFFFF"/>
                          </a:solidFill>
                          <a:latin typeface="Calibri"/>
                        </a:defRPr>
                      </a:pPr>
                      <a:r>
                        <a:t>Growth</a:t>
                      </a:r>
                    </a:p>
                  </a:txBody>
                  <a:tcPr>
                    <a:solidFill>
                      <a:srgbClr val="1B2A4A"/>
                    </a:solidFill>
                  </a:tcPr>
                </a:tc>
                <a:tc>
                  <a:txBody>
                    <a:bodyPr/>
                    <a:lstStyle/>
                    <a:p>
                      <a:pPr>
                        <a:defRPr b="1" sz="1200">
                          <a:solidFill>
                            <a:srgbClr val="FFFFFF"/>
                          </a:solidFill>
                          <a:latin typeface="Calibri"/>
                        </a:defRPr>
                      </a:pPr>
                      <a:r>
                        <a:t>EBITDA %</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No projections provided.</a:t>
                      </a:r>
                    </a:p>
                  </a:txBody>
                  <a:tcPr>
                    <a:solidFill>
                      <a:srgbClr val="FFFFFF"/>
                    </a:solidFill>
                  </a:tcPr>
                </a:tc>
                <a:tc>
                  <a:txBody>
                    <a:bodyPr/>
                    <a:lstStyle/>
                    <a:p>
                      <a:pPr>
                        <a:defRPr sz="1100">
                          <a:solidFill>
                            <a:srgbClr val="333333"/>
                          </a:solidFill>
                          <a:latin typeface="Calibri"/>
                        </a:defRPr>
                      </a:pPr>
                    </a:p>
                  </a:txBody>
                  <a:tcPr>
                    <a:solidFill>
                      <a:srgbClr val="FFFFFF"/>
                    </a:solidFill>
                  </a:tcPr>
                </a:tc>
                <a:tc>
                  <a:txBody>
                    <a:bodyPr/>
                    <a:lstStyle/>
                    <a:p>
                      <a:pPr>
                        <a:defRPr sz="1100">
                          <a:solidFill>
                            <a:srgbClr val="333333"/>
                          </a:solidFill>
                          <a:latin typeface="Calibri"/>
                        </a:defRPr>
                      </a:pP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Summary</a:t>
            </a:r>
          </a:p>
        </p:txBody>
      </p:sp>
      <p:sp>
        <p:nvSpPr>
          <p:cNvPr id="5" name="TextBox 4"/>
          <p:cNvSpPr txBox="1"/>
          <p:nvPr/>
        </p:nvSpPr>
        <p:spPr>
          <a:xfrm>
            <a:off x="685800" y="1280160"/>
            <a:ext cx="5394960" cy="5212080"/>
          </a:xfrm>
          <a:prstGeom prst="rect">
            <a:avLst/>
          </a:prstGeom>
          <a:noFill/>
        </p:spPr>
        <p:txBody>
          <a:bodyPr wrap="none">
            <a:spAutoFit/>
          </a:bodyPr>
          <a:lstStyle/>
          <a:p>
            <a:r>
              <a:rPr b="1" sz="2000">
                <a:solidFill>
                  <a:srgbClr val="333333"/>
                </a:solidFill>
                <a:latin typeface="Calibri"/>
              </a:rPr>
              <a:t>Conclusion</a:t>
            </a:r>
          </a:p>
          <a:p>
            <a:pPr>
              <a:spcBef>
                <a:spcPts val="200"/>
              </a:spcBef>
              <a:spcAft>
                <a:spcPts val="200"/>
              </a:spcAft>
              <a:defRPr sz="1400">
                <a:solidFill>
                  <a:srgbClr val="333333"/>
                </a:solidFill>
                <a:latin typeface="Calibri"/>
              </a:defRPr>
            </a:pPr>
            <a:r>
              <a:t>Implied EV: $2.1B</a:t>
            </a:r>
          </a:p>
          <a:p>
            <a:pPr>
              <a:spcBef>
                <a:spcPts val="200"/>
              </a:spcBef>
              <a:spcAft>
                <a:spcPts val="200"/>
              </a:spcAft>
              <a:defRPr sz="1400">
                <a:solidFill>
                  <a:srgbClr val="333333"/>
                </a:solidFill>
                <a:latin typeface="Calibri"/>
              </a:defRPr>
            </a:pPr>
            <a:r>
              <a:t>Upside/Downside: N/A [no market price]</a:t>
            </a:r>
          </a:p>
          <a:p>
            <a:pPr>
              <a:spcBef>
                <a:spcPts val="200"/>
              </a:spcBef>
              <a:spcAft>
                <a:spcPts val="200"/>
              </a:spcAft>
              <a:defRPr sz="1400">
                <a:solidFill>
                  <a:srgbClr val="333333"/>
                </a:solidFill>
                <a:latin typeface="Calibri"/>
              </a:defRPr>
            </a:pPr>
            <a:r>
              <a:t>Recommendation: NEUTRAL</a:t>
            </a:r>
          </a:p>
          <a:p>
            <a:pPr>
              <a:spcBef>
                <a:spcPts val="200"/>
              </a:spcBef>
              <a:spcAft>
                <a:spcPts val="200"/>
              </a:spcAft>
              <a:defRPr sz="1400">
                <a:solidFill>
                  <a:srgbClr val="333333"/>
                </a:solidFill>
                <a:latin typeface="Calibri"/>
              </a:defRPr>
            </a:pPr>
            <a:r>
              <a:t>Current price: N/A</a:t>
            </a:r>
          </a:p>
          <a:p>
            <a:pPr>
              <a:spcBef>
                <a:spcPts val="200"/>
              </a:spcBef>
              <a:spcAft>
                <a:spcPts val="200"/>
              </a:spcAft>
              <a:defRPr sz="1400">
                <a:solidFill>
                  <a:srgbClr val="333333"/>
                </a:solidFill>
                <a:latin typeface="Calibri"/>
              </a:defRPr>
            </a:pPr>
            <a:r>
              <a:t>DCF: WACC 10.00%, TGR 2.50%</a:t>
            </a:r>
          </a:p>
        </p:txBody>
      </p:sp>
      <p:sp>
        <p:nvSpPr>
          <p:cNvPr id="6" name="TextBox 5"/>
          <p:cNvSpPr txBox="1"/>
          <p:nvPr/>
        </p:nvSpPr>
        <p:spPr>
          <a:xfrm>
            <a:off x="6309360" y="1280160"/>
            <a:ext cx="5166360" cy="457200"/>
          </a:xfrm>
          <a:prstGeom prst="rect">
            <a:avLst/>
          </a:prstGeom>
          <a:noFill/>
        </p:spPr>
        <p:txBody>
          <a:bodyPr wrap="none">
            <a:spAutoFit/>
          </a:bodyPr>
          <a:lstStyle/>
          <a:p>
            <a:r>
              <a:rPr b="1" sz="2000">
                <a:solidFill>
                  <a:srgbClr val="333333"/>
                </a:solidFill>
                <a:latin typeface="Calibri"/>
              </a:rPr>
              <a:t>Methods</a:t>
            </a:r>
          </a:p>
        </p:txBody>
      </p:sp>
      <p:graphicFrame>
        <p:nvGraphicFramePr>
          <p:cNvPr id="7" name="Table 6"/>
          <p:cNvGraphicFramePr>
            <a:graphicFrameLocks noGrp="1"/>
          </p:cNvGraphicFramePr>
          <p:nvPr/>
        </p:nvGraphicFramePr>
        <p:xfrm>
          <a:off x="6309360" y="1737360"/>
          <a:ext cx="5166360" cy="4754880"/>
        </p:xfrm>
        <a:graphic>
          <a:graphicData uri="http://schemas.openxmlformats.org/drawingml/2006/table">
            <a:tbl>
              <a:tblPr firstRow="1" bandRow="1">
                <a:tableStyleId>{5C22544A-7EE6-4342-B048-85BDC9FD1C3A}</a:tableStyleId>
              </a:tblPr>
              <a:tblGrid>
                <a:gridCol w="1033272"/>
                <a:gridCol w="1033272"/>
                <a:gridCol w="1033272"/>
                <a:gridCol w="1033272"/>
                <a:gridCol w="1033272"/>
              </a:tblGrid>
              <a:tr h="1188720">
                <a:tc>
                  <a:txBody>
                    <a:bodyPr/>
                    <a:lstStyle/>
                    <a:p>
                      <a:pPr>
                        <a:defRPr b="1" sz="1200">
                          <a:solidFill>
                            <a:srgbClr val="FFFFFF"/>
                          </a:solidFill>
                          <a:latin typeface="Calibri"/>
                        </a:defRPr>
                      </a:pPr>
                      <a:r>
                        <a:t>Method</a:t>
                      </a:r>
                    </a:p>
                  </a:txBody>
                  <a:tcPr>
                    <a:solidFill>
                      <a:srgbClr val="1B2A4A"/>
                    </a:solidFill>
                  </a:tcPr>
                </a:tc>
                <a:tc>
                  <a:txBody>
                    <a:bodyPr/>
                    <a:lstStyle/>
                    <a:p>
                      <a:pPr>
                        <a:defRPr b="1" sz="1200">
                          <a:solidFill>
                            <a:srgbClr val="FFFFFF"/>
                          </a:solidFill>
                          <a:latin typeface="Calibri"/>
                        </a:defRPr>
                      </a:pPr>
                      <a:r>
                        <a:t>Low</a:t>
                      </a:r>
                    </a:p>
                  </a:txBody>
                  <a:tcPr>
                    <a:solidFill>
                      <a:srgbClr val="1B2A4A"/>
                    </a:solidFill>
                  </a:tcPr>
                </a:tc>
                <a:tc>
                  <a:txBody>
                    <a:bodyPr/>
                    <a:lstStyle/>
                    <a:p>
                      <a:pPr>
                        <a:defRPr b="1" sz="1200">
                          <a:solidFill>
                            <a:srgbClr val="FFFFFF"/>
                          </a:solidFill>
                          <a:latin typeface="Calibri"/>
                        </a:defRPr>
                      </a:pPr>
                      <a:r>
                        <a:t>Mid</a:t>
                      </a:r>
                    </a:p>
                  </a:txBody>
                  <a:tcPr>
                    <a:solidFill>
                      <a:srgbClr val="1B2A4A"/>
                    </a:solidFill>
                  </a:tcPr>
                </a:tc>
                <a:tc>
                  <a:txBody>
                    <a:bodyPr/>
                    <a:lstStyle/>
                    <a:p>
                      <a:pPr>
                        <a:defRPr b="1" sz="1200">
                          <a:solidFill>
                            <a:srgbClr val="FFFFFF"/>
                          </a:solidFill>
                          <a:latin typeface="Calibri"/>
                        </a:defRPr>
                      </a:pPr>
                      <a:r>
                        <a:t>High</a:t>
                      </a:r>
                    </a:p>
                  </a:txBody>
                  <a:tcPr>
                    <a:solidFill>
                      <a:srgbClr val="1B2A4A"/>
                    </a:solidFill>
                  </a:tcPr>
                </a:tc>
                <a:tc>
                  <a:txBody>
                    <a:bodyPr/>
                    <a:lstStyle/>
                    <a:p>
                      <a:pPr>
                        <a:defRPr b="1" sz="1200">
                          <a:solidFill>
                            <a:srgbClr val="FFFFFF"/>
                          </a:solidFill>
                          <a:latin typeface="Calibri"/>
                        </a:defRPr>
                      </a:pPr>
                      <a:r>
                        <a:t>Weight</a:t>
                      </a:r>
                    </a:p>
                  </a:txBody>
                  <a:tcPr>
                    <a:solidFill>
                      <a:srgbClr val="1B2A4A"/>
                    </a:solidFill>
                  </a:tcPr>
                </a:tc>
              </a:tr>
              <a:tr h="1188720">
                <a:tc>
                  <a:txBody>
                    <a:bodyPr/>
                    <a:lstStyle/>
                    <a:p>
                      <a:pPr>
                        <a:defRPr sz="1100">
                          <a:solidFill>
                            <a:srgbClr val="333333"/>
                          </a:solidFill>
                          <a:latin typeface="Calibri"/>
                        </a:defRPr>
                      </a:pPr>
                      <a:r>
                        <a:t>DCF</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560.0</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50%</a:t>
                      </a:r>
                    </a:p>
                  </a:txBody>
                  <a:tcPr>
                    <a:solidFill>
                      <a:srgbClr val="FFFFFF"/>
                    </a:solidFill>
                  </a:tcPr>
                </a:tc>
              </a:tr>
              <a:tr h="1188720">
                <a:tc>
                  <a:txBody>
                    <a:bodyPr/>
                    <a:lstStyle/>
                    <a:p>
                      <a:pPr>
                        <a:defRPr sz="1100">
                          <a:solidFill>
                            <a:srgbClr val="333333"/>
                          </a:solidFill>
                          <a:latin typeface="Calibri"/>
                        </a:defRPr>
                      </a:pPr>
                      <a:r>
                        <a:t>Trading Comps (EV_EBITDA)</a:t>
                      </a:r>
                    </a:p>
                  </a:txBody>
                  <a:tcPr>
                    <a:solidFill>
                      <a:srgbClr val="FAFAFA"/>
                    </a:solidFill>
                  </a:tcPr>
                </a:tc>
                <a:tc>
                  <a:txBody>
                    <a:bodyPr/>
                    <a:lstStyle/>
                    <a:p>
                      <a:pPr>
                        <a:defRPr sz="1100">
                          <a:solidFill>
                            <a:srgbClr val="333333"/>
                          </a:solidFill>
                          <a:latin typeface="Calibri"/>
                        </a:defRPr>
                      </a:pPr>
                      <a:r>
                        <a:t>1322.4</a:t>
                      </a:r>
                    </a:p>
                  </a:txBody>
                  <a:tcPr>
                    <a:solidFill>
                      <a:srgbClr val="FAFAFA"/>
                    </a:solidFill>
                  </a:tcPr>
                </a:tc>
                <a:tc>
                  <a:txBody>
                    <a:bodyPr/>
                    <a:lstStyle/>
                    <a:p>
                      <a:pPr>
                        <a:defRPr sz="1100">
                          <a:solidFill>
                            <a:srgbClr val="333333"/>
                          </a:solidFill>
                          <a:latin typeface="Calibri"/>
                        </a:defRPr>
                      </a:pPr>
                      <a:r>
                        <a:t>1763.2</a:t>
                      </a:r>
                    </a:p>
                  </a:txBody>
                  <a:tcPr>
                    <a:solidFill>
                      <a:srgbClr val="FAFAFA"/>
                    </a:solidFill>
                  </a:tcPr>
                </a:tc>
                <a:tc>
                  <a:txBody>
                    <a:bodyPr/>
                    <a:lstStyle/>
                    <a:p>
                      <a:pPr>
                        <a:defRPr sz="1100">
                          <a:solidFill>
                            <a:srgbClr val="333333"/>
                          </a:solidFill>
                          <a:latin typeface="Calibri"/>
                        </a:defRPr>
                      </a:pPr>
                      <a:r>
                        <a:t>2204.0</a:t>
                      </a:r>
                    </a:p>
                  </a:txBody>
                  <a:tcPr>
                    <a:solidFill>
                      <a:srgbClr val="FAFAFA"/>
                    </a:solidFill>
                  </a:tcPr>
                </a:tc>
                <a:tc>
                  <a:txBody>
                    <a:bodyPr/>
                    <a:lstStyle/>
                    <a:p>
                      <a:pPr>
                        <a:defRPr sz="1100">
                          <a:solidFill>
                            <a:srgbClr val="333333"/>
                          </a:solidFill>
                          <a:latin typeface="Calibri"/>
                        </a:defRPr>
                      </a:pPr>
                      <a:r>
                        <a:t>30%</a:t>
                      </a:r>
                    </a:p>
                  </a:txBody>
                  <a:tcPr>
                    <a:solidFill>
                      <a:srgbClr val="FAFAFA"/>
                    </a:solidFill>
                  </a:tcPr>
                </a:tc>
              </a:tr>
              <a:tr h="1188720">
                <a:tc>
                  <a:txBody>
                    <a:bodyPr/>
                    <a:lstStyle/>
                    <a:p>
                      <a:pPr>
                        <a:defRPr sz="1100">
                          <a:solidFill>
                            <a:srgbClr val="333333"/>
                          </a:solidFill>
                          <a:latin typeface="Calibri"/>
                        </a:defRPr>
                      </a:pPr>
                      <a:r>
                        <a:t>Transaction Comps</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6612.0</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20%</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Football Field — Bear / Base / Bull</a:t>
            </a:r>
          </a:p>
        </p:txBody>
      </p:sp>
      <p:graphicFrame>
        <p:nvGraphicFramePr>
          <p:cNvPr id="5" name="Chart 4"/>
          <p:cNvGraphicFramePr>
            <a:graphicFrameLocks noGrp="1"/>
          </p:cNvGraphicFramePr>
          <p:nvPr/>
        </p:nvGraphicFramePr>
        <p:xfrm>
          <a:off x="457200" y="1097280"/>
          <a:ext cx="11430000" cy="5303520"/>
        </p:xfrm>
        <a:graphic>
          <a:graphicData uri="http://schemas.openxmlformats.org/drawingml/2006/chart">
            <c:chart xmlns:c="http://schemas.openxmlformats.org/drawingml/2006/chart" r:id="rId2"/>
          </a:graphicData>
        </a:graphic>
      </p:graphicFrame>
      <p:sp>
        <p:nvSpPr>
          <p:cNvPr id="6" name="TextBox 5"/>
          <p:cNvSpPr txBox="1"/>
          <p:nvPr/>
        </p:nvSpPr>
        <p:spPr>
          <a:xfrm>
            <a:off x="457200" y="6492240"/>
            <a:ext cx="11247120" cy="274320"/>
          </a:xfrm>
          <a:prstGeom prst="rect">
            <a:avLst/>
          </a:prstGeom>
          <a:noFill/>
        </p:spPr>
        <p:txBody>
          <a:bodyPr wrap="none">
            <a:spAutoFit/>
          </a:bodyPr>
          <a:lstStyle/>
          <a:p>
            <a:r>
              <a:rPr b="1" sz="2000">
                <a:solidFill>
                  <a:srgbClr val="333333"/>
                </a:solidFill>
                <a:latin typeface="Calibri"/>
              </a:rPr>
              <a:t/>
            </a:r>
          </a:p>
          <a:p>
            <a:pPr>
              <a:spcBef>
                <a:spcPts val="200"/>
              </a:spcBef>
              <a:spcAft>
                <a:spcPts val="200"/>
              </a:spcAft>
              <a:defRPr sz="1400">
                <a:solidFill>
                  <a:srgbClr val="333333"/>
                </a:solidFill>
                <a:latin typeface="Calibri"/>
              </a:defRPr>
            </a:pPr>
            <a:r>
              <a:t>Blended range: $1.3B — $3.3B   DCF: $317M — $962M   Comps: $1.0B — $2.9B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IC Score — NO GO</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Investment Committee Scorecard</a:t>
            </a:r>
          </a:p>
        </p:txBody>
      </p:sp>
      <p:sp>
        <p:nvSpPr>
          <p:cNvPr id="6" name="TextBox 5"/>
          <p:cNvSpPr txBox="1"/>
          <p:nvPr/>
        </p:nvSpPr>
        <p:spPr>
          <a:xfrm>
            <a:off x="457200" y="1097280"/>
            <a:ext cx="5394960" cy="457200"/>
          </a:xfrm>
          <a:prstGeom prst="rect">
            <a:avLst/>
          </a:prstGeom>
          <a:noFill/>
        </p:spPr>
        <p:txBody>
          <a:bodyPr wrap="none">
            <a:spAutoFit/>
          </a:bodyPr>
          <a:lstStyle/>
          <a:p>
            <a:r>
              <a:rPr b="1" sz="2000">
                <a:solidFill>
                  <a:srgbClr val="333333"/>
                </a:solidFill>
                <a:latin typeface="Calibri"/>
              </a:rPr>
              <a:t>Dimension Scores</a:t>
            </a:r>
          </a:p>
        </p:txBody>
      </p:sp>
      <p:graphicFrame>
        <p:nvGraphicFramePr>
          <p:cNvPr id="7" name="Table 6"/>
          <p:cNvGraphicFramePr>
            <a:graphicFrameLocks noGrp="1"/>
          </p:cNvGraphicFramePr>
          <p:nvPr/>
        </p:nvGraphicFramePr>
        <p:xfrm>
          <a:off x="457200" y="1554480"/>
          <a:ext cx="5394960" cy="3017520"/>
        </p:xfrm>
        <a:graphic>
          <a:graphicData uri="http://schemas.openxmlformats.org/drawingml/2006/table">
            <a:tbl>
              <a:tblPr firstRow="1" bandRow="1">
                <a:tableStyleId>{5C22544A-7EE6-4342-B048-85BDC9FD1C3A}</a:tableStyleId>
              </a:tblPr>
              <a:tblGrid>
                <a:gridCol w="2697480"/>
                <a:gridCol w="2697480"/>
              </a:tblGrid>
              <a:tr h="377190">
                <a:tc>
                  <a:txBody>
                    <a:bodyPr/>
                    <a:lstStyle/>
                    <a:p>
                      <a:pPr>
                        <a:defRPr b="1" sz="1200">
                          <a:solidFill>
                            <a:srgbClr val="FFFFFF"/>
                          </a:solidFill>
                          <a:latin typeface="Calibri"/>
                        </a:defRPr>
                      </a:pPr>
                      <a:r>
                        <a:t>Dimension</a:t>
                      </a:r>
                    </a:p>
                  </a:txBody>
                  <a:tcPr>
                    <a:solidFill>
                      <a:srgbClr val="1B2A4A"/>
                    </a:solidFill>
                  </a:tcPr>
                </a:tc>
                <a:tc>
                  <a:txBody>
                    <a:bodyPr/>
                    <a:lstStyle/>
                    <a:p>
                      <a:pPr>
                        <a:defRPr b="1" sz="1200">
                          <a:solidFill>
                            <a:srgbClr val="FFFFFF"/>
                          </a:solidFill>
                          <a:latin typeface="Calibri"/>
                        </a:defRPr>
                      </a:pPr>
                      <a:r>
                        <a:t>Score</a:t>
                      </a:r>
                    </a:p>
                  </a:txBody>
                  <a:tcPr>
                    <a:solidFill>
                      <a:srgbClr val="1B2A4A"/>
                    </a:solidFill>
                  </a:tcPr>
                </a:tc>
              </a:tr>
              <a:tr h="377190">
                <a:tc>
                  <a:txBody>
                    <a:bodyPr/>
                    <a:lstStyle/>
                    <a:p>
                      <a:pPr>
                        <a:defRPr sz="1100">
                          <a:solidFill>
                            <a:srgbClr val="333333"/>
                          </a:solidFill>
                          <a:latin typeface="Calibri"/>
                        </a:defRPr>
                      </a:pPr>
                      <a:r>
                        <a:t>Strategy</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377190">
                <a:tc>
                  <a:txBody>
                    <a:bodyPr/>
                    <a:lstStyle/>
                    <a:p>
                      <a:pPr>
                        <a:defRPr sz="1100">
                          <a:solidFill>
                            <a:srgbClr val="333333"/>
                          </a:solidFill>
                          <a:latin typeface="Calibri"/>
                        </a:defRPr>
                      </a:pPr>
                      <a:r>
                        <a:t>Synergies</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377190">
                <a:tc>
                  <a:txBody>
                    <a:bodyPr/>
                    <a:lstStyle/>
                    <a:p>
                      <a:pPr>
                        <a:defRPr sz="1100">
                          <a:solidFill>
                            <a:srgbClr val="333333"/>
                          </a:solidFill>
                          <a:latin typeface="Calibri"/>
                        </a:defRPr>
                      </a:pPr>
                      <a:r>
                        <a:t>Financial</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377190">
                <a:tc>
                  <a:txBody>
                    <a:bodyPr/>
                    <a:lstStyle/>
                    <a:p>
                      <a:pPr>
                        <a:defRPr sz="1100">
                          <a:solidFill>
                            <a:srgbClr val="333333"/>
                          </a:solidFill>
                          <a:latin typeface="Calibri"/>
                        </a:defRPr>
                      </a:pPr>
                      <a:r>
                        <a:t>LBO</a:t>
                      </a:r>
                    </a:p>
                  </a:txBody>
                  <a:tcPr>
                    <a:solidFill>
                      <a:srgbClr val="FAFAFA"/>
                    </a:solidFill>
                  </a:tcPr>
                </a:tc>
                <a:tc>
                  <a:txBody>
                    <a:bodyPr/>
                    <a:lstStyle/>
                    <a:p>
                      <a:pPr>
                        <a:defRPr sz="1100">
                          <a:solidFill>
                            <a:srgbClr val="333333"/>
                          </a:solidFill>
                          <a:latin typeface="Calibri"/>
                        </a:defRPr>
                      </a:pPr>
                      <a:r>
                        <a:t>1.0/10</a:t>
                      </a:r>
                    </a:p>
                  </a:txBody>
                  <a:tcPr>
                    <a:solidFill>
                      <a:srgbClr val="FAFAFA"/>
                    </a:solidFill>
                  </a:tcPr>
                </a:tc>
              </a:tr>
              <a:tr h="377190">
                <a:tc>
                  <a:txBody>
                    <a:bodyPr/>
                    <a:lstStyle/>
                    <a:p>
                      <a:pPr>
                        <a:defRPr sz="1100">
                          <a:solidFill>
                            <a:srgbClr val="333333"/>
                          </a:solidFill>
                          <a:latin typeface="Calibri"/>
                        </a:defRPr>
                      </a:pPr>
                      <a:r>
                        <a:t>Integration</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377190">
                <a:tc>
                  <a:txBody>
                    <a:bodyPr/>
                    <a:lstStyle/>
                    <a:p>
                      <a:pPr>
                        <a:defRPr sz="1100">
                          <a:solidFill>
                            <a:srgbClr val="333333"/>
                          </a:solidFill>
                          <a:latin typeface="Calibri"/>
                        </a:defRPr>
                      </a:pPr>
                      <a:r>
                        <a:t>Risk</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377190">
                <a:tc>
                  <a:txBody>
                    <a:bodyPr/>
                    <a:lstStyle/>
                    <a:p>
                      <a:pPr>
                        <a:defRPr sz="1100">
                          <a:solidFill>
                            <a:srgbClr val="333333"/>
                          </a:solidFill>
                          <a:latin typeface="Calibri"/>
                        </a:defRPr>
                      </a:pPr>
                      <a:r>
                        <a:t>TOTAL</a:t>
                      </a:r>
                    </a:p>
                  </a:txBody>
                  <a:tcPr>
                    <a:solidFill>
                      <a:srgbClr val="FFFFFF"/>
                    </a:solidFill>
                  </a:tcPr>
                </a:tc>
                <a:tc>
                  <a:txBody>
                    <a:bodyPr/>
                    <a:lstStyle/>
                    <a:p>
                      <a:pPr>
                        <a:defRPr sz="1100">
                          <a:solidFill>
                            <a:srgbClr val="333333"/>
                          </a:solidFill>
                          <a:latin typeface="Calibri"/>
                        </a:defRPr>
                      </a:pPr>
                      <a:r>
                        <a:t>0/100</a:t>
                      </a:r>
                    </a:p>
                  </a:txBody>
                  <a:tcPr>
                    <a:solidFill>
                      <a:srgbClr val="FFFFFF"/>
                    </a:solidFill>
                  </a:tcPr>
                </a:tc>
              </a:tr>
            </a:tbl>
          </a:graphicData>
        </a:graphic>
      </p:graphicFrame>
      <p:sp>
        <p:nvSpPr>
          <p:cNvPr id="8" name="TextBox 7"/>
          <p:cNvSpPr txBox="1"/>
          <p:nvPr/>
        </p:nvSpPr>
        <p:spPr>
          <a:xfrm>
            <a:off x="457200" y="4754880"/>
            <a:ext cx="5394960" cy="1828800"/>
          </a:xfrm>
          <a:prstGeom prst="rect">
            <a:avLst/>
          </a:prstGeom>
          <a:noFill/>
        </p:spPr>
        <p:txBody>
          <a:bodyPr wrap="none">
            <a:spAutoFit/>
          </a:bodyPr>
          <a:lstStyle/>
          <a:p>
            <a:r>
              <a:rPr b="1" sz="2000">
                <a:solidFill>
                  <a:srgbClr val="333333"/>
                </a:solidFill>
                <a:latin typeface="Calibri"/>
              </a:rPr>
              <a:t>Rationale &amp; Next Steps</a:t>
            </a:r>
          </a:p>
          <a:p>
            <a:pPr>
              <a:spcBef>
                <a:spcPts val="200"/>
              </a:spcBef>
              <a:spcAft>
                <a:spcPts val="200"/>
              </a:spcAft>
              <a:defRPr sz="1400">
                <a:solidFill>
                  <a:srgbClr val="333333"/>
                </a:solidFill>
                <a:latin typeface="Calibri"/>
              </a:defRPr>
            </a:pPr>
            <a:r>
              <a:t>Doctolib fails IC gates: Lbo score 1.0/10 below minimum 2/10. Strengths: strategy (5/10), synergies (5/10). Risks: lbo (1/10), strategy (5/10). LBO IRR: 10.4%.</a:t>
            </a:r>
          </a:p>
          <a:p>
            <a:pPr>
              <a:spcBef>
                <a:spcPts val="200"/>
              </a:spcBef>
              <a:spcAft>
                <a:spcPts val="200"/>
              </a:spcAft>
              <a:defRPr sz="1400">
                <a:solidFill>
                  <a:srgbClr val="333333"/>
                </a:solidFill>
                <a:latin typeface="Calibri"/>
              </a:defRPr>
            </a:pPr>
            <a:r>
              <a:t>Pass on current opportunity</a:t>
            </a:r>
          </a:p>
          <a:p>
            <a:pPr>
              <a:spcBef>
                <a:spcPts val="200"/>
              </a:spcBef>
              <a:spcAft>
                <a:spcPts val="200"/>
              </a:spcAft>
              <a:defRPr sz="1400">
                <a:solidFill>
                  <a:srgbClr val="333333"/>
                </a:solidFill>
                <a:latin typeface="Calibri"/>
              </a:defRPr>
            </a:pPr>
            <a:r>
              <a:t>Document rationale in deal log</a:t>
            </a:r>
          </a:p>
          <a:p>
            <a:pPr>
              <a:spcBef>
                <a:spcPts val="200"/>
              </a:spcBef>
              <a:spcAft>
                <a:spcPts val="200"/>
              </a:spcAft>
              <a:defRPr sz="1400">
                <a:solidFill>
                  <a:srgbClr val="333333"/>
                </a:solidFill>
                <a:latin typeface="Calibri"/>
              </a:defRPr>
            </a:pPr>
            <a:r>
              <a:t>Re-evaluate if strategic context or valuation changes</a:t>
            </a:r>
          </a:p>
          <a:p>
            <a:pPr>
              <a:spcBef>
                <a:spcPts val="200"/>
              </a:spcBef>
              <a:spcAft>
                <a:spcPts val="200"/>
              </a:spcAft>
              <a:defRPr sz="1400">
                <a:solidFill>
                  <a:srgbClr val="333333"/>
                </a:solidFill>
                <a:latin typeface="Calibri"/>
              </a:defRPr>
            </a:pPr>
            <a:r>
              <a:t>Reassess capital structure — current leverage profile impedes LBO.</a:t>
            </a:r>
          </a:p>
        </p:txBody>
      </p:sp>
      <p:graphicFrame>
        <p:nvGraphicFramePr>
          <p:cNvPr id="9" name="Chart 8"/>
          <p:cNvGraphicFramePr>
            <a:graphicFrameLocks noGrp="1"/>
          </p:cNvGraphicFramePr>
          <p:nvPr/>
        </p:nvGraphicFramePr>
        <p:xfrm>
          <a:off x="6217920" y="1097280"/>
          <a:ext cx="5760720" cy="5303520"/>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Investment Thesis</a:t>
            </a:r>
          </a:p>
        </p:txBody>
      </p:sp>
      <p:sp>
        <p:nvSpPr>
          <p:cNvPr id="5" name="TextBox 4"/>
          <p:cNvSpPr txBox="1"/>
          <p:nvPr/>
        </p:nvSpPr>
        <p:spPr>
          <a:xfrm>
            <a:off x="685800" y="1645920"/>
            <a:ext cx="11155680" cy="5029200"/>
          </a:xfrm>
          <a:prstGeom prst="rect">
            <a:avLst/>
          </a:prstGeom>
          <a:noFill/>
        </p:spPr>
        <p:txBody>
          <a:bodyPr wrap="none">
            <a:spAutoFit/>
          </a:bodyPr>
          <a:lstStyle/>
          <a:p>
            <a:r>
              <a:rPr b="1" sz="2000">
                <a:solidFill>
                  <a:srgbClr val="333333"/>
                </a:solidFill>
                <a:latin typeface="Calibri"/>
              </a:rPr>
              <a:t>Thesis</a:t>
            </a:r>
          </a:p>
          <a:p>
            <a:pPr>
              <a:spcBef>
                <a:spcPts val="200"/>
              </a:spcBef>
              <a:spcAft>
                <a:spcPts val="200"/>
              </a:spcAft>
              <a:defRPr sz="1400">
                <a:solidFill>
                  <a:srgbClr val="333333"/>
                </a:solidFill>
                <a:latin typeface="Calibri"/>
              </a:defRPr>
            </a:pPr>
            <a:r>
              <a:t>Doctolib has established itself as a leading digital health platform in Europe, leveraging a strong network effect and first-mover advantage in markets such as France, Germany, and Italy. The company’s core offering—online appointment scheduling, telemedicine, and practice management software—addresses critical inefficiencies in healthcare delivery, driving adoption among both practitioners and patients. With over 300,000 healthcare professionals and 70 million patients on its platform, Doctolib benefits from a robust competitive moat, underpinned by high switching costs and regulatory tailwinds favoring digital health integration. However, growth is moderating as the company matures in its core markets, and expansion into adjacent services (e.g., chronic disease management, AI-driven diagnostics) remains unproven at scale. While the platform’s stickiness and recurring revenue model provide visibility, margin expansion is constrained by ongoing investments in technology and international expansion. Valuation reflects these dynamics, balancing strong market positioning against execution risks in a fragmented and highly regulated industry.</a:t>
            </a:r>
          </a:p>
          <a:p>
            <a:pPr>
              <a:spcBef>
                <a:spcPts val="200"/>
              </a:spcBef>
              <a:spcAft>
                <a:spcPts val="200"/>
              </a:spcAft>
              <a:defRPr sz="1400">
                <a:solidFill>
                  <a:srgbClr val="333333"/>
                </a:solidFill>
                <a:latin typeface="Calibri"/>
              </a:defRPr>
            </a:pPr>
            <a:r>
              <a:t>Bull: The bull case hinges on Doctolib’s ability to deepen its penetration in existing markets and successfully monetize its vast user base through premium services. Key drivers include: (1) Accelerated adoption of telemedicine and AI-powered tools, particularly in chronic care management, which could unlock higher-margin revenue streams; (2) Expansion into new geographies, such as Spain or the Nordics, where digital health infrastructure is underdeveloped; and (3) Strategic partnerships with insurers or public health systems to embed Doctolib’s platform as a default solution. If executed, these initiatives could drive above-trend growth, justifying a premium valuation as the company transitions from a scheduling tool to a comprehensive healthtech ecosystem.</a:t>
            </a:r>
          </a:p>
          <a:p>
            <a:pPr>
              <a:spcBef>
                <a:spcPts val="200"/>
              </a:spcBef>
              <a:spcAft>
                <a:spcPts val="200"/>
              </a:spcAft>
              <a:defRPr sz="1400">
                <a:solidFill>
                  <a:srgbClr val="333333"/>
                </a:solidFill>
                <a:latin typeface="Calibri"/>
              </a:defRPr>
            </a:pPr>
            <a:r>
              <a:t>Base: The base case assumes Doctolib maintains its leadership in core markets but faces modest growth headwinds as saturation approaches. Revenue growth stabilizes at mid-single-digit to low-double-digit rates, supported by steady practitioner additions and incremental monetization of existing users. Margins improve gradually as scale benefits offset ongoing R&amp;D and sales investments, but profitability remains pressured by competitive intensity and regulatory compliance costs. The company’s ability to cross-sell new services (e.g., teleconsultation, practice analytics) will be critical to sustaining engagement and revenue per user. Valuation remains range-bound, reflecting a mature but resilient business model with limited near-term re-rating potential.</a:t>
            </a:r>
          </a:p>
          <a:p>
            <a:pPr>
              <a:spcBef>
                <a:spcPts val="200"/>
              </a:spcBef>
              <a:spcAft>
                <a:spcPts val="200"/>
              </a:spcAft>
              <a:defRPr sz="1400">
                <a:solidFill>
                  <a:srgbClr val="333333"/>
                </a:solidFill>
                <a:latin typeface="Calibri"/>
              </a:defRPr>
            </a:pPr>
            <a:r>
              <a:t>Bear: Downside risks center on execution missteps and competitive pressures. Key triggers include: (1) Failure to monetize telemedicine and AI initiatives, leading to stagnant average revenue per user (ARPU) and investor skepticism; (2) Regulatory setbacks, such as stricter data privacy laws or reimbursement cuts for digital health services, which could dampen adoption; and (3) Aggressive competition from incumbents (e.g., Epic, Cerner) or local players leveraging deeper healthcare integration. A loss of momentum in practitioner or patient growth could erode the network effect, while rising customer acquisition costs (CAC) in new markets may weigh on profitability. In this scenario, valuation compresses as growth decelerates and margins contract.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Catalysts &amp; Risks</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Catalysts</a:t>
            </a:r>
          </a:p>
          <a:p>
            <a:pPr>
              <a:spcBef>
                <a:spcPts val="200"/>
              </a:spcBef>
              <a:spcAft>
                <a:spcPts val="200"/>
              </a:spcAft>
              <a:defRPr sz="1400">
                <a:solidFill>
                  <a:srgbClr val="333333"/>
                </a:solidFill>
                <a:latin typeface="Calibri"/>
              </a:defRPr>
            </a:pPr>
            <a:r>
              <a:t>Q3 2024 earnings release, which will provide updates on telemedicine adoption and international expansion progress</a:t>
            </a:r>
          </a:p>
          <a:p>
            <a:pPr>
              <a:spcBef>
                <a:spcPts val="200"/>
              </a:spcBef>
              <a:spcAft>
                <a:spcPts val="200"/>
              </a:spcAft>
              <a:defRPr sz="1400">
                <a:solidFill>
                  <a:srgbClr val="333333"/>
                </a:solidFill>
                <a:latin typeface="Calibri"/>
              </a:defRPr>
            </a:pPr>
            <a:r>
              <a:t>Potential regulatory approvals for AI-driven diagnostic tools in France or Germany, which could accelerate monetization</a:t>
            </a:r>
          </a:p>
          <a:p>
            <a:pPr>
              <a:spcBef>
                <a:spcPts val="200"/>
              </a:spcBef>
              <a:spcAft>
                <a:spcPts val="200"/>
              </a:spcAft>
              <a:defRPr sz="1400">
                <a:solidFill>
                  <a:srgbClr val="333333"/>
                </a:solidFill>
                <a:latin typeface="Calibri"/>
              </a:defRPr>
            </a:pPr>
            <a:r>
              <a:t>Announcement of a strategic partnership with a major European insurer or public health system, validating Doctolib’s platform as a standard</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Key Risks</a:t>
            </a:r>
          </a:p>
          <a:p>
            <a:pPr>
              <a:spcBef>
                <a:spcPts val="200"/>
              </a:spcBef>
              <a:spcAft>
                <a:spcPts val="200"/>
              </a:spcAft>
              <a:defRPr sz="1400">
                <a:solidFill>
                  <a:srgbClr val="333333"/>
                </a:solidFill>
                <a:latin typeface="Calibri"/>
              </a:defRPr>
            </a:pPr>
            <a:r>
              <a:t>No risks provided.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