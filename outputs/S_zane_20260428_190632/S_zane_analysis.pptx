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Sézane</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Generated April 28, 2026 | Fashion and Apparel</a:t>
            </a:r>
          </a:p>
        </p:txBody>
      </p:sp>
      <p:sp>
        <p:nvSpPr>
          <p:cNvPr id="6" name="TextBox 5"/>
          <p:cNvSpPr txBox="1"/>
          <p:nvPr/>
        </p:nvSpPr>
        <p:spPr>
          <a:xfrm>
            <a:off x="685800" y="2011680"/>
            <a:ext cx="11155680" cy="1371600"/>
          </a:xfrm>
          <a:prstGeom prst="rect">
            <a:avLst/>
          </a:prstGeom>
          <a:noFill/>
        </p:spPr>
        <p:txBody>
          <a:bodyPr wrap="none">
            <a:spAutoFit/>
          </a:bodyPr>
          <a:lstStyle/>
          <a:p>
            <a:r>
              <a:rPr b="0" sz="1800">
                <a:solidFill>
                  <a:srgbClr val="333333"/>
                </a:solidFill>
                <a:latin typeface="Calibri"/>
              </a:rPr>
              <a:t>A French fashion brand specializing in ready-to-wear clothing, accessories, and leather goods with a focus on timeless design and ethical production.</a:t>
            </a:r>
          </a:p>
        </p:txBody>
      </p:sp>
      <p:sp>
        <p:nvSpPr>
          <p:cNvPr id="7" name="TextBox 6"/>
          <p:cNvSpPr txBox="1"/>
          <p:nvPr/>
        </p:nvSpPr>
        <p:spPr>
          <a:xfrm>
            <a:off x="685800" y="6035040"/>
            <a:ext cx="11155680" cy="548640"/>
          </a:xfrm>
          <a:prstGeom prst="rect">
            <a:avLst/>
          </a:prstGeom>
          <a:noFill/>
        </p:spPr>
        <p:txBody>
          <a:bodyPr wrap="none">
            <a:spAutoFit/>
          </a:bodyPr>
          <a:lstStyle/>
          <a:p>
            <a:r>
              <a:rPr b="1" sz="1400">
                <a:solidFill>
                  <a:srgbClr val="1B2A4A"/>
                </a:solidFill>
                <a:latin typeface="Calibri"/>
              </a:rPr>
              <a:t>Recommendation: HOLD | Target: 1539.3 | Upside/Downside: N/A | Current: 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Company Overview</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Business Model</a:t>
            </a:r>
          </a:p>
          <a:p>
            <a:pPr>
              <a:spcBef>
                <a:spcPts val="200"/>
              </a:spcBef>
              <a:spcAft>
                <a:spcPts val="200"/>
              </a:spcAft>
              <a:defRPr sz="1400">
                <a:solidFill>
                  <a:srgbClr val="333333"/>
                </a:solidFill>
                <a:latin typeface="Calibri"/>
              </a:defRPr>
            </a:pPr>
            <a:r>
              <a:t>Direct-to-consumer sales through e-commerce and physical boutiques, with revenue generated from premium-priced apparel and accessories.</a:t>
            </a:r>
          </a:p>
          <a:p>
            <a:pPr>
              <a:spcBef>
                <a:spcPts val="200"/>
              </a:spcBef>
              <a:spcAft>
                <a:spcPts val="200"/>
              </a:spcAft>
              <a:defRPr sz="1400">
                <a:solidFill>
                  <a:srgbClr val="333333"/>
                </a:solidFill>
                <a:latin typeface="Calibri"/>
              </a:defRPr>
            </a:pPr>
            <a:r>
              <a:t>Founded: N/A</a:t>
            </a:r>
          </a:p>
          <a:p>
            <a:pPr>
              <a:spcBef>
                <a:spcPts val="200"/>
              </a:spcBef>
              <a:spcAft>
                <a:spcPts val="200"/>
              </a:spcAft>
              <a:defRPr sz="1400">
                <a:solidFill>
                  <a:srgbClr val="333333"/>
                </a:solidFill>
                <a:latin typeface="Calibri"/>
              </a:defRPr>
            </a:pPr>
            <a:r>
              <a:t>HQ: N/A</a:t>
            </a:r>
          </a:p>
          <a:p>
            <a:pPr>
              <a:spcBef>
                <a:spcPts val="200"/>
              </a:spcBef>
              <a:spcAft>
                <a:spcPts val="200"/>
              </a:spcAft>
              <a:defRPr sz="1400">
                <a:solidFill>
                  <a:srgbClr val="333333"/>
                </a:solidFill>
                <a:latin typeface="Calibri"/>
              </a:defRPr>
            </a:pPr>
            <a:r>
              <a:t>Employees: N/A</a:t>
            </a:r>
          </a:p>
          <a:p>
            <a:pPr>
              <a:spcBef>
                <a:spcPts val="200"/>
              </a:spcBef>
              <a:spcAft>
                <a:spcPts val="200"/>
              </a:spcAft>
              <a:defRPr sz="1400">
                <a:solidFill>
                  <a:srgbClr val="333333"/>
                </a:solidFill>
                <a:latin typeface="Calibri"/>
              </a:defRPr>
            </a:pPr>
            <a:r>
              <a:t>Ticker: N/A</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Competitive Advantages</a:t>
            </a:r>
          </a:p>
          <a:p>
            <a:pPr>
              <a:spcBef>
                <a:spcPts val="200"/>
              </a:spcBef>
              <a:spcAft>
                <a:spcPts val="200"/>
              </a:spcAft>
              <a:defRPr sz="1400">
                <a:solidFill>
                  <a:srgbClr val="333333"/>
                </a:solidFill>
                <a:latin typeface="Calibri"/>
              </a:defRPr>
            </a:pPr>
            <a:r>
              <a:t>No advantages provided.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Market &amp; Competition</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Market Sizing</a:t>
            </a:r>
          </a:p>
          <a:p>
            <a:pPr>
              <a:spcBef>
                <a:spcPts val="200"/>
              </a:spcBef>
              <a:spcAft>
                <a:spcPts val="200"/>
              </a:spcAft>
              <a:defRPr sz="1400">
                <a:solidFill>
                  <a:srgbClr val="333333"/>
                </a:solidFill>
                <a:latin typeface="Calibri"/>
              </a:defRPr>
            </a:pPr>
            <a:r>
              <a:t>TAM: Not available</a:t>
            </a:r>
          </a:p>
          <a:p>
            <a:pPr>
              <a:spcBef>
                <a:spcPts val="200"/>
              </a:spcBef>
              <a:spcAft>
                <a:spcPts val="200"/>
              </a:spcAft>
              <a:defRPr sz="1400">
                <a:solidFill>
                  <a:srgbClr val="333333"/>
                </a:solidFill>
                <a:latin typeface="Calibri"/>
              </a:defRPr>
            </a:pPr>
            <a:r>
              <a:t>Growth (CAGR): Not available</a:t>
            </a:r>
          </a:p>
          <a:p>
            <a:pPr>
              <a:spcBef>
                <a:spcPts val="200"/>
              </a:spcBef>
              <a:spcAft>
                <a:spcPts val="200"/>
              </a:spcAft>
              <a:defRPr sz="1400">
                <a:solidFill>
                  <a:srgbClr val="333333"/>
                </a:solidFill>
                <a:latin typeface="Calibri"/>
              </a:defRPr>
            </a:pPr>
            <a:r>
              <a:t>Segment: French contemporary women's ready-to-wear and accessories (ethical, premium) — Sézane operates here</a:t>
            </a:r>
          </a:p>
          <a:p>
            <a:pPr>
              <a:spcBef>
                <a:spcPts val="200"/>
              </a:spcBef>
              <a:spcAft>
                <a:spcPts val="200"/>
              </a:spcAft>
              <a:defRPr sz="1400">
                <a:solidFill>
                  <a:srgbClr val="333333"/>
                </a:solidFill>
                <a:latin typeface="Calibri"/>
              </a:defRPr>
            </a:pPr>
            <a:r>
              <a:t>Company share: estimated 1-3% of French contemporary women's RTW and accessories segment</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Trends &amp; Competitors</a:t>
            </a:r>
          </a:p>
          <a:p>
            <a:pPr>
              <a:spcBef>
                <a:spcPts val="200"/>
              </a:spcBef>
              <a:spcAft>
                <a:spcPts val="200"/>
              </a:spcAft>
              <a:defRPr sz="1400">
                <a:solidFill>
                  <a:srgbClr val="333333"/>
                </a:solidFill>
                <a:latin typeface="Calibri"/>
              </a:defRPr>
            </a:pPr>
            <a:r>
              <a:t>Rise of ethical and sustainable luxury in France</a:t>
            </a:r>
          </a:p>
          <a:p>
            <a:pPr>
              <a:spcBef>
                <a:spcPts val="200"/>
              </a:spcBef>
              <a:spcAft>
                <a:spcPts val="200"/>
              </a:spcAft>
              <a:defRPr sz="1400">
                <a:solidFill>
                  <a:srgbClr val="333333"/>
                </a:solidFill>
                <a:latin typeface="Calibri"/>
              </a:defRPr>
            </a:pPr>
            <a:r>
              <a:t>Growing consumer preference for timeless, investment pieces in women's RTW</a:t>
            </a:r>
          </a:p>
          <a:p>
            <a:pPr>
              <a:spcBef>
                <a:spcPts val="200"/>
              </a:spcBef>
              <a:spcAft>
                <a:spcPts val="200"/>
              </a:spcAft>
              <a:defRPr sz="1400">
                <a:solidFill>
                  <a:srgbClr val="333333"/>
                </a:solidFill>
                <a:latin typeface="Calibri"/>
              </a:defRPr>
            </a:pPr>
            <a:r>
              <a:t>Increased focus on transparency and ethical production in French fashion</a:t>
            </a:r>
          </a:p>
          <a:p>
            <a:pPr>
              <a:spcBef>
                <a:spcPts val="200"/>
              </a:spcBef>
              <a:spcAft>
                <a:spcPts val="200"/>
              </a:spcAft>
              <a:defRPr sz="1400">
                <a:solidFill>
                  <a:srgbClr val="333333"/>
                </a:solidFill>
                <a:latin typeface="Calibri"/>
              </a:defRPr>
            </a:pPr>
            <a:r>
              <a:t>Digital-first DTC (Direct-to-Consumer) strategies gaining traction among French contemporary brands</a:t>
            </a:r>
          </a:p>
          <a:p>
            <a:pPr>
              <a:spcBef>
                <a:spcPts val="200"/>
              </a:spcBef>
              <a:spcAft>
                <a:spcPts val="200"/>
              </a:spcAft>
              <a:defRPr sz="1400">
                <a:solidFill>
                  <a:srgbClr val="333333"/>
                </a:solidFill>
                <a:latin typeface="Calibri"/>
              </a:defRPr>
            </a:pPr>
            <a:r>
              <a:t>Top competitors:</a:t>
            </a:r>
          </a:p>
          <a:p>
            <a:pPr>
              <a:spcBef>
                <a:spcPts val="200"/>
              </a:spcBef>
              <a:spcAft>
                <a:spcPts val="200"/>
              </a:spcAft>
              <a:defRPr sz="1400">
                <a:solidFill>
                  <a:srgbClr val="333333"/>
                </a:solidFill>
                <a:latin typeface="Calibri"/>
              </a:defRPr>
            </a:pPr>
            <a:r>
              <a:t>Ba&amp;sh (estimated 5-10% in French contemporary women's RTW)</a:t>
            </a:r>
          </a:p>
          <a:p>
            <a:pPr>
              <a:spcBef>
                <a:spcPts val="200"/>
              </a:spcBef>
              <a:spcAft>
                <a:spcPts val="200"/>
              </a:spcAft>
              <a:defRPr sz="1400">
                <a:solidFill>
                  <a:srgbClr val="333333"/>
                </a:solidFill>
                <a:latin typeface="Calibri"/>
              </a:defRPr>
            </a:pPr>
            <a:r>
              <a:t>Maje (estimated 5-10% in French contemporary women's RTW)</a:t>
            </a:r>
          </a:p>
          <a:p>
            <a:pPr>
              <a:spcBef>
                <a:spcPts val="200"/>
              </a:spcBef>
              <a:spcAft>
                <a:spcPts val="200"/>
              </a:spcAft>
              <a:defRPr sz="1400">
                <a:solidFill>
                  <a:srgbClr val="333333"/>
                </a:solidFill>
                <a:latin typeface="Calibri"/>
              </a:defRPr>
            </a:pPr>
            <a:r>
              <a:t>A.P.C. (estimated 3-8% in French contemporary women's RTW and accessories)</a:t>
            </a:r>
          </a:p>
          <a:p>
            <a:pPr>
              <a:spcBef>
                <a:spcPts val="200"/>
              </a:spcBef>
              <a:spcAft>
                <a:spcPts val="200"/>
              </a:spcAft>
              <a:defRPr sz="1400">
                <a:solidFill>
                  <a:srgbClr val="333333"/>
                </a:solidFill>
                <a:latin typeface="Calibri"/>
              </a:defRPr>
            </a:pPr>
            <a:r>
              <a:t>The Kooples (estimated 5-12% in French contemporary women's RTW)</a:t>
            </a:r>
          </a:p>
          <a:p>
            <a:pPr>
              <a:spcBef>
                <a:spcPts val="200"/>
              </a:spcBef>
              <a:spcAft>
                <a:spcPts val="200"/>
              </a:spcAft>
              <a:defRPr sz="1400">
                <a:solidFill>
                  <a:srgbClr val="333333"/>
                </a:solidFill>
                <a:latin typeface="Calibri"/>
              </a:defRPr>
            </a:pPr>
            <a:r>
              <a:t>Lilas by Sézane (sister brand for younger audience) (estimated niche, aligned with Sézane)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Financial Snapshot</a:t>
            </a:r>
          </a:p>
        </p:txBody>
      </p:sp>
      <p:sp>
        <p:nvSpPr>
          <p:cNvPr id="5" name="TextBox 4"/>
          <p:cNvSpPr txBox="1"/>
          <p:nvPr/>
        </p:nvSpPr>
        <p:spPr>
          <a:xfrm>
            <a:off x="685800" y="1280160"/>
            <a:ext cx="5669280" cy="457200"/>
          </a:xfrm>
          <a:prstGeom prst="rect">
            <a:avLst/>
          </a:prstGeom>
          <a:noFill/>
        </p:spPr>
        <p:txBody>
          <a:bodyPr wrap="none">
            <a:spAutoFit/>
          </a:bodyPr>
          <a:lstStyle/>
          <a:p>
            <a:r>
              <a:rPr b="1" sz="2000">
                <a:solidFill>
                  <a:srgbClr val="333333"/>
                </a:solidFill>
                <a:latin typeface="Calibri"/>
              </a:rPr>
              <a:t>Key Financials</a:t>
            </a:r>
          </a:p>
        </p:txBody>
      </p:sp>
      <p:graphicFrame>
        <p:nvGraphicFramePr>
          <p:cNvPr id="6" name="Table 5"/>
          <p:cNvGraphicFramePr>
            <a:graphicFrameLocks noGrp="1"/>
          </p:cNvGraphicFramePr>
          <p:nvPr/>
        </p:nvGraphicFramePr>
        <p:xfrm>
          <a:off x="685800" y="1737360"/>
          <a:ext cx="5669280" cy="4754880"/>
        </p:xfrm>
        <a:graphic>
          <a:graphicData uri="http://schemas.openxmlformats.org/drawingml/2006/table">
            <a:tbl>
              <a:tblPr firstRow="1" bandRow="1">
                <a:tableStyleId>{5C22544A-7EE6-4342-B048-85BDC9FD1C3A}</a:tableStyleId>
              </a:tblPr>
              <a:tblGrid>
                <a:gridCol w="2834640"/>
                <a:gridCol w="2834640"/>
              </a:tblGrid>
              <a:tr h="594360">
                <a:tc>
                  <a:txBody>
                    <a:bodyPr/>
                    <a:lstStyle/>
                    <a:p>
                      <a:pPr>
                        <a:defRPr b="1" sz="1200">
                          <a:solidFill>
                            <a:srgbClr val="FFFFFF"/>
                          </a:solidFill>
                          <a:latin typeface="Calibri"/>
                        </a:defRPr>
                      </a:pPr>
                      <a:r>
                        <a:t>Metric</a:t>
                      </a:r>
                    </a:p>
                  </a:txBody>
                  <a:tcPr>
                    <a:solidFill>
                      <a:srgbClr val="1B2A4A"/>
                    </a:solidFill>
                  </a:tcPr>
                </a:tc>
                <a:tc>
                  <a:txBody>
                    <a:bodyPr/>
                    <a:lstStyle/>
                    <a:p>
                      <a:pPr>
                        <a:defRPr b="1" sz="1200">
                          <a:solidFill>
                            <a:srgbClr val="FFFFFF"/>
                          </a:solidFill>
                          <a:latin typeface="Calibri"/>
                        </a:defRPr>
                      </a:pPr>
                      <a:r>
                        <a:t>Value</a:t>
                      </a:r>
                    </a:p>
                  </a:txBody>
                  <a:tcPr>
                    <a:solidFill>
                      <a:srgbClr val="1B2A4A"/>
                    </a:solidFill>
                  </a:tcPr>
                </a:tc>
              </a:tr>
              <a:tr h="594360">
                <a:tc>
                  <a:txBody>
                    <a:bodyPr/>
                    <a:lstStyle/>
                    <a:p>
                      <a:pPr>
                        <a:defRPr sz="1100">
                          <a:solidFill>
                            <a:srgbClr val="333333"/>
                          </a:solidFill>
                          <a:latin typeface="Calibri"/>
                        </a:defRPr>
                      </a:pPr>
                      <a:r>
                        <a:t>Revenue</a:t>
                      </a:r>
                    </a:p>
                  </a:txBody>
                  <a:tcPr>
                    <a:solidFill>
                      <a:srgbClr val="FFFFFF"/>
                    </a:solidFill>
                  </a:tcPr>
                </a:tc>
                <a:tc>
                  <a:txBody>
                    <a:bodyPr/>
                    <a:lstStyle/>
                    <a:p>
                      <a:pPr>
                        <a:defRPr sz="1100">
                          <a:solidFill>
                            <a:srgbClr val="333333"/>
                          </a:solidFill>
                          <a:latin typeface="Calibri"/>
                        </a:defRPr>
                      </a:pPr>
                      <a:r>
                        <a:t>250.0</a:t>
                      </a:r>
                    </a:p>
                  </a:txBody>
                  <a:tcPr>
                    <a:solidFill>
                      <a:srgbClr val="FFFFFF"/>
                    </a:solidFill>
                  </a:tcPr>
                </a:tc>
              </a:tr>
              <a:tr h="594360">
                <a:tc>
                  <a:txBody>
                    <a:bodyPr/>
                    <a:lstStyle/>
                    <a:p>
                      <a:pPr>
                        <a:defRPr sz="1100">
                          <a:solidFill>
                            <a:srgbClr val="333333"/>
                          </a:solidFill>
                          <a:latin typeface="Calibri"/>
                        </a:defRPr>
                      </a:pPr>
                      <a:r>
                        <a:t>Revenue growth</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594360">
                <a:tc>
                  <a:txBody>
                    <a:bodyPr/>
                    <a:lstStyle/>
                    <a:p>
                      <a:pPr>
                        <a:defRPr sz="1100">
                          <a:solidFill>
                            <a:srgbClr val="333333"/>
                          </a:solidFill>
                          <a:latin typeface="Calibri"/>
                        </a:defRPr>
                      </a:pPr>
                      <a:r>
                        <a:t>Gross margin</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r h="594360">
                <a:tc>
                  <a:txBody>
                    <a:bodyPr/>
                    <a:lstStyle/>
                    <a:p>
                      <a:pPr>
                        <a:defRPr sz="1100">
                          <a:solidFill>
                            <a:srgbClr val="333333"/>
                          </a:solidFill>
                          <a:latin typeface="Calibri"/>
                        </a:defRPr>
                      </a:pPr>
                      <a:r>
                        <a:t>EBITDA margin</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594360">
                <a:tc>
                  <a:txBody>
                    <a:bodyPr/>
                    <a:lstStyle/>
                    <a:p>
                      <a:pPr>
                        <a:defRPr sz="1100">
                          <a:solidFill>
                            <a:srgbClr val="333333"/>
                          </a:solidFill>
                          <a:latin typeface="Calibri"/>
                        </a:defRPr>
                      </a:pPr>
                      <a:r>
                        <a:t>Net margin</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r h="594360">
                <a:tc>
                  <a:txBody>
                    <a:bodyPr/>
                    <a:lstStyle/>
                    <a:p>
                      <a:pPr>
                        <a:defRPr sz="1100">
                          <a:solidFill>
                            <a:srgbClr val="333333"/>
                          </a:solidFill>
                          <a:latin typeface="Calibri"/>
                        </a:defRPr>
                      </a:pPr>
                      <a:r>
                        <a:t>Free cash flow</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594360">
                <a:tc>
                  <a:txBody>
                    <a:bodyPr/>
                    <a:lstStyle/>
                    <a:p>
                      <a:pPr>
                        <a:defRPr sz="1100">
                          <a:solidFill>
                            <a:srgbClr val="333333"/>
                          </a:solidFill>
                          <a:latin typeface="Calibri"/>
                        </a:defRPr>
                      </a:pPr>
                      <a:r>
                        <a:t>Debt/Equity</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bl>
          </a:graphicData>
        </a:graphic>
      </p:graphicFrame>
      <p:sp>
        <p:nvSpPr>
          <p:cNvPr id="7" name="TextBox 6"/>
          <p:cNvSpPr txBox="1"/>
          <p:nvPr/>
        </p:nvSpPr>
        <p:spPr>
          <a:xfrm>
            <a:off x="6492240" y="1280160"/>
            <a:ext cx="4983480" cy="457200"/>
          </a:xfrm>
          <a:prstGeom prst="rect">
            <a:avLst/>
          </a:prstGeom>
          <a:noFill/>
        </p:spPr>
        <p:txBody>
          <a:bodyPr wrap="none">
            <a:spAutoFit/>
          </a:bodyPr>
          <a:lstStyle/>
          <a:p>
            <a:r>
              <a:rPr b="1" sz="2000">
                <a:solidFill>
                  <a:srgbClr val="333333"/>
                </a:solidFill>
                <a:latin typeface="Calibri"/>
              </a:rPr>
              <a:t>Outlook (Projections)</a:t>
            </a:r>
          </a:p>
        </p:txBody>
      </p:sp>
      <p:graphicFrame>
        <p:nvGraphicFramePr>
          <p:cNvPr id="8" name="Table 7"/>
          <p:cNvGraphicFramePr>
            <a:graphicFrameLocks noGrp="1"/>
          </p:cNvGraphicFramePr>
          <p:nvPr/>
        </p:nvGraphicFramePr>
        <p:xfrm>
          <a:off x="6492240" y="1737360"/>
          <a:ext cx="4983480" cy="4754880"/>
        </p:xfrm>
        <a:graphic>
          <a:graphicData uri="http://schemas.openxmlformats.org/drawingml/2006/table">
            <a:tbl>
              <a:tblPr firstRow="1" bandRow="1">
                <a:tableStyleId>{5C22544A-7EE6-4342-B048-85BDC9FD1C3A}</a:tableStyleId>
              </a:tblPr>
              <a:tblGrid>
                <a:gridCol w="1245870"/>
                <a:gridCol w="1245870"/>
                <a:gridCol w="1245870"/>
                <a:gridCol w="1245870"/>
              </a:tblGrid>
              <a:tr h="2377440">
                <a:tc>
                  <a:txBody>
                    <a:bodyPr/>
                    <a:lstStyle/>
                    <a:p>
                      <a:pPr>
                        <a:defRPr b="1" sz="1200">
                          <a:solidFill>
                            <a:srgbClr val="FFFFFF"/>
                          </a:solidFill>
                          <a:latin typeface="Calibri"/>
                        </a:defRPr>
                      </a:pPr>
                      <a:r>
                        <a:t>Year</a:t>
                      </a:r>
                    </a:p>
                  </a:txBody>
                  <a:tcPr>
                    <a:solidFill>
                      <a:srgbClr val="1B2A4A"/>
                    </a:solidFill>
                  </a:tcPr>
                </a:tc>
                <a:tc>
                  <a:txBody>
                    <a:bodyPr/>
                    <a:lstStyle/>
                    <a:p>
                      <a:pPr>
                        <a:defRPr b="1" sz="1200">
                          <a:solidFill>
                            <a:srgbClr val="FFFFFF"/>
                          </a:solidFill>
                          <a:latin typeface="Calibri"/>
                        </a:defRPr>
                      </a:pPr>
                      <a:r>
                        <a:t>Revenue</a:t>
                      </a:r>
                    </a:p>
                  </a:txBody>
                  <a:tcPr>
                    <a:solidFill>
                      <a:srgbClr val="1B2A4A"/>
                    </a:solidFill>
                  </a:tcPr>
                </a:tc>
                <a:tc>
                  <a:txBody>
                    <a:bodyPr/>
                    <a:lstStyle/>
                    <a:p>
                      <a:pPr>
                        <a:defRPr b="1" sz="1200">
                          <a:solidFill>
                            <a:srgbClr val="FFFFFF"/>
                          </a:solidFill>
                          <a:latin typeface="Calibri"/>
                        </a:defRPr>
                      </a:pPr>
                      <a:r>
                        <a:t>Growth</a:t>
                      </a:r>
                    </a:p>
                  </a:txBody>
                  <a:tcPr>
                    <a:solidFill>
                      <a:srgbClr val="1B2A4A"/>
                    </a:solidFill>
                  </a:tcPr>
                </a:tc>
                <a:tc>
                  <a:txBody>
                    <a:bodyPr/>
                    <a:lstStyle/>
                    <a:p>
                      <a:pPr>
                        <a:defRPr b="1" sz="1200">
                          <a:solidFill>
                            <a:srgbClr val="FFFFFF"/>
                          </a:solidFill>
                          <a:latin typeface="Calibri"/>
                        </a:defRPr>
                      </a:pPr>
                      <a:r>
                        <a:t>EBITDA %</a:t>
                      </a:r>
                    </a:p>
                  </a:txBody>
                  <a:tcPr>
                    <a:solidFill>
                      <a:srgbClr val="1B2A4A"/>
                    </a:solidFill>
                  </a:tcPr>
                </a:tc>
              </a:tr>
              <a:tr h="2377440">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No projections provided.</a:t>
                      </a:r>
                    </a:p>
                  </a:txBody>
                  <a:tcPr>
                    <a:solidFill>
                      <a:srgbClr val="FFFFFF"/>
                    </a:solidFill>
                  </a:tcPr>
                </a:tc>
                <a:tc>
                  <a:txBody>
                    <a:bodyPr/>
                    <a:lstStyle/>
                    <a:p>
                      <a:pPr>
                        <a:defRPr sz="1100">
                          <a:solidFill>
                            <a:srgbClr val="333333"/>
                          </a:solidFill>
                          <a:latin typeface="Calibri"/>
                        </a:defRPr>
                      </a:pPr>
                    </a:p>
                  </a:txBody>
                  <a:tcPr>
                    <a:solidFill>
                      <a:srgbClr val="FFFFFF"/>
                    </a:solidFill>
                  </a:tcPr>
                </a:tc>
                <a:tc>
                  <a:txBody>
                    <a:bodyPr/>
                    <a:lstStyle/>
                    <a:p>
                      <a:pPr>
                        <a:defRPr sz="1100">
                          <a:solidFill>
                            <a:srgbClr val="333333"/>
                          </a:solidFill>
                          <a:latin typeface="Calibri"/>
                        </a:defRPr>
                      </a:pP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Summary</a:t>
            </a:r>
          </a:p>
        </p:txBody>
      </p:sp>
      <p:sp>
        <p:nvSpPr>
          <p:cNvPr id="5" name="TextBox 4"/>
          <p:cNvSpPr txBox="1"/>
          <p:nvPr/>
        </p:nvSpPr>
        <p:spPr>
          <a:xfrm>
            <a:off x="685800" y="1280160"/>
            <a:ext cx="5394960" cy="5212080"/>
          </a:xfrm>
          <a:prstGeom prst="rect">
            <a:avLst/>
          </a:prstGeom>
          <a:noFill/>
        </p:spPr>
        <p:txBody>
          <a:bodyPr wrap="none">
            <a:spAutoFit/>
          </a:bodyPr>
          <a:lstStyle/>
          <a:p>
            <a:r>
              <a:rPr b="1" sz="2000">
                <a:solidFill>
                  <a:srgbClr val="333333"/>
                </a:solidFill>
                <a:latin typeface="Calibri"/>
              </a:rPr>
              <a:t>Conclusion</a:t>
            </a:r>
          </a:p>
          <a:p>
            <a:pPr>
              <a:spcBef>
                <a:spcPts val="200"/>
              </a:spcBef>
              <a:spcAft>
                <a:spcPts val="200"/>
              </a:spcAft>
              <a:defRPr sz="1400">
                <a:solidFill>
                  <a:srgbClr val="333333"/>
                </a:solidFill>
                <a:latin typeface="Calibri"/>
              </a:defRPr>
            </a:pPr>
            <a:r>
              <a:t>Implied value: 1539.3</a:t>
            </a:r>
          </a:p>
          <a:p>
            <a:pPr>
              <a:spcBef>
                <a:spcPts val="200"/>
              </a:spcBef>
              <a:spcAft>
                <a:spcPts val="200"/>
              </a:spcAft>
              <a:defRPr sz="1400">
                <a:solidFill>
                  <a:srgbClr val="333333"/>
                </a:solidFill>
                <a:latin typeface="Calibri"/>
              </a:defRPr>
            </a:pPr>
            <a:r>
              <a:t>Upside/Downside: N/A</a:t>
            </a:r>
          </a:p>
          <a:p>
            <a:pPr>
              <a:spcBef>
                <a:spcPts val="200"/>
              </a:spcBef>
              <a:spcAft>
                <a:spcPts val="200"/>
              </a:spcAft>
              <a:defRPr sz="1400">
                <a:solidFill>
                  <a:srgbClr val="333333"/>
                </a:solidFill>
                <a:latin typeface="Calibri"/>
              </a:defRPr>
            </a:pPr>
            <a:r>
              <a:t>Recommendation: HOLD</a:t>
            </a:r>
          </a:p>
          <a:p>
            <a:pPr>
              <a:spcBef>
                <a:spcPts val="200"/>
              </a:spcBef>
              <a:spcAft>
                <a:spcPts val="200"/>
              </a:spcAft>
              <a:defRPr sz="1400">
                <a:solidFill>
                  <a:srgbClr val="333333"/>
                </a:solidFill>
                <a:latin typeface="Calibri"/>
              </a:defRPr>
            </a:pPr>
            <a:r>
              <a:t>Currency: USD</a:t>
            </a:r>
          </a:p>
          <a:p>
            <a:pPr>
              <a:spcBef>
                <a:spcPts val="200"/>
              </a:spcBef>
              <a:spcAft>
                <a:spcPts val="200"/>
              </a:spcAft>
              <a:defRPr sz="1400">
                <a:solidFill>
                  <a:srgbClr val="333333"/>
                </a:solidFill>
                <a:latin typeface="Calibri"/>
              </a:defRPr>
            </a:pPr>
            <a:r>
              <a:t>DCF: WACC 10.00%, TGR 2.00%</a:t>
            </a:r>
          </a:p>
        </p:txBody>
      </p:sp>
      <p:sp>
        <p:nvSpPr>
          <p:cNvPr id="6" name="TextBox 5"/>
          <p:cNvSpPr txBox="1"/>
          <p:nvPr/>
        </p:nvSpPr>
        <p:spPr>
          <a:xfrm>
            <a:off x="6309360" y="1280160"/>
            <a:ext cx="5166360" cy="457200"/>
          </a:xfrm>
          <a:prstGeom prst="rect">
            <a:avLst/>
          </a:prstGeom>
          <a:noFill/>
        </p:spPr>
        <p:txBody>
          <a:bodyPr wrap="none">
            <a:spAutoFit/>
          </a:bodyPr>
          <a:lstStyle/>
          <a:p>
            <a:r>
              <a:rPr b="1" sz="2000">
                <a:solidFill>
                  <a:srgbClr val="333333"/>
                </a:solidFill>
                <a:latin typeface="Calibri"/>
              </a:rPr>
              <a:t>Methods</a:t>
            </a:r>
          </a:p>
        </p:txBody>
      </p:sp>
      <p:graphicFrame>
        <p:nvGraphicFramePr>
          <p:cNvPr id="7" name="Table 6"/>
          <p:cNvGraphicFramePr>
            <a:graphicFrameLocks noGrp="1"/>
          </p:cNvGraphicFramePr>
          <p:nvPr/>
        </p:nvGraphicFramePr>
        <p:xfrm>
          <a:off x="6309360" y="1737360"/>
          <a:ext cx="5166360" cy="4754880"/>
        </p:xfrm>
        <a:graphic>
          <a:graphicData uri="http://schemas.openxmlformats.org/drawingml/2006/table">
            <a:tbl>
              <a:tblPr firstRow="1" bandRow="1">
                <a:tableStyleId>{5C22544A-7EE6-4342-B048-85BDC9FD1C3A}</a:tableStyleId>
              </a:tblPr>
              <a:tblGrid>
                <a:gridCol w="1033272"/>
                <a:gridCol w="1033272"/>
                <a:gridCol w="1033272"/>
                <a:gridCol w="1033272"/>
                <a:gridCol w="1033272"/>
              </a:tblGrid>
              <a:tr h="1188720">
                <a:tc>
                  <a:txBody>
                    <a:bodyPr/>
                    <a:lstStyle/>
                    <a:p>
                      <a:pPr>
                        <a:defRPr b="1" sz="1200">
                          <a:solidFill>
                            <a:srgbClr val="FFFFFF"/>
                          </a:solidFill>
                          <a:latin typeface="Calibri"/>
                        </a:defRPr>
                      </a:pPr>
                      <a:r>
                        <a:t>Method</a:t>
                      </a:r>
                    </a:p>
                  </a:txBody>
                  <a:tcPr>
                    <a:solidFill>
                      <a:srgbClr val="1B2A4A"/>
                    </a:solidFill>
                  </a:tcPr>
                </a:tc>
                <a:tc>
                  <a:txBody>
                    <a:bodyPr/>
                    <a:lstStyle/>
                    <a:p>
                      <a:pPr>
                        <a:defRPr b="1" sz="1200">
                          <a:solidFill>
                            <a:srgbClr val="FFFFFF"/>
                          </a:solidFill>
                          <a:latin typeface="Calibri"/>
                        </a:defRPr>
                      </a:pPr>
                      <a:r>
                        <a:t>Low</a:t>
                      </a:r>
                    </a:p>
                  </a:txBody>
                  <a:tcPr>
                    <a:solidFill>
                      <a:srgbClr val="1B2A4A"/>
                    </a:solidFill>
                  </a:tcPr>
                </a:tc>
                <a:tc>
                  <a:txBody>
                    <a:bodyPr/>
                    <a:lstStyle/>
                    <a:p>
                      <a:pPr>
                        <a:defRPr b="1" sz="1200">
                          <a:solidFill>
                            <a:srgbClr val="FFFFFF"/>
                          </a:solidFill>
                          <a:latin typeface="Calibri"/>
                        </a:defRPr>
                      </a:pPr>
                      <a:r>
                        <a:t>Mid</a:t>
                      </a:r>
                    </a:p>
                  </a:txBody>
                  <a:tcPr>
                    <a:solidFill>
                      <a:srgbClr val="1B2A4A"/>
                    </a:solidFill>
                  </a:tcPr>
                </a:tc>
                <a:tc>
                  <a:txBody>
                    <a:bodyPr/>
                    <a:lstStyle/>
                    <a:p>
                      <a:pPr>
                        <a:defRPr b="1" sz="1200">
                          <a:solidFill>
                            <a:srgbClr val="FFFFFF"/>
                          </a:solidFill>
                          <a:latin typeface="Calibri"/>
                        </a:defRPr>
                      </a:pPr>
                      <a:r>
                        <a:t>High</a:t>
                      </a:r>
                    </a:p>
                  </a:txBody>
                  <a:tcPr>
                    <a:solidFill>
                      <a:srgbClr val="1B2A4A"/>
                    </a:solidFill>
                  </a:tcPr>
                </a:tc>
                <a:tc>
                  <a:txBody>
                    <a:bodyPr/>
                    <a:lstStyle/>
                    <a:p>
                      <a:pPr>
                        <a:defRPr b="1" sz="1200">
                          <a:solidFill>
                            <a:srgbClr val="FFFFFF"/>
                          </a:solidFill>
                          <a:latin typeface="Calibri"/>
                        </a:defRPr>
                      </a:pPr>
                      <a:r>
                        <a:t>Weight</a:t>
                      </a:r>
                    </a:p>
                  </a:txBody>
                  <a:tcPr>
                    <a:solidFill>
                      <a:srgbClr val="1B2A4A"/>
                    </a:solidFill>
                  </a:tcPr>
                </a:tc>
              </a:tr>
              <a:tr h="1188720">
                <a:tc>
                  <a:txBody>
                    <a:bodyPr/>
                    <a:lstStyle/>
                    <a:p>
                      <a:pPr>
                        <a:defRPr sz="1100">
                          <a:solidFill>
                            <a:srgbClr val="333333"/>
                          </a:solidFill>
                          <a:latin typeface="Calibri"/>
                        </a:defRPr>
                      </a:pPr>
                      <a:r>
                        <a:t>DCF</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444.4</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50%</a:t>
                      </a:r>
                    </a:p>
                  </a:txBody>
                  <a:tcPr>
                    <a:solidFill>
                      <a:srgbClr val="FFFFFF"/>
                    </a:solidFill>
                  </a:tcPr>
                </a:tc>
              </a:tr>
              <a:tr h="1188720">
                <a:tc>
                  <a:txBody>
                    <a:bodyPr/>
                    <a:lstStyle/>
                    <a:p>
                      <a:pPr>
                        <a:defRPr sz="1100">
                          <a:solidFill>
                            <a:srgbClr val="333333"/>
                          </a:solidFill>
                          <a:latin typeface="Calibri"/>
                        </a:defRPr>
                      </a:pPr>
                      <a:r>
                        <a:t>Trading Comps (EV_EBITDA)</a:t>
                      </a:r>
                    </a:p>
                  </a:txBody>
                  <a:tcPr>
                    <a:solidFill>
                      <a:srgbClr val="FAFAFA"/>
                    </a:solidFill>
                  </a:tcPr>
                </a:tc>
                <a:tc>
                  <a:txBody>
                    <a:bodyPr/>
                    <a:lstStyle/>
                    <a:p>
                      <a:pPr>
                        <a:defRPr sz="1100">
                          <a:solidFill>
                            <a:srgbClr val="333333"/>
                          </a:solidFill>
                          <a:latin typeface="Calibri"/>
                        </a:defRPr>
                      </a:pPr>
                      <a:r>
                        <a:t>1193.1</a:t>
                      </a:r>
                    </a:p>
                  </a:txBody>
                  <a:tcPr>
                    <a:solidFill>
                      <a:srgbClr val="FAFAFA"/>
                    </a:solidFill>
                  </a:tcPr>
                </a:tc>
                <a:tc>
                  <a:txBody>
                    <a:bodyPr/>
                    <a:lstStyle/>
                    <a:p>
                      <a:pPr>
                        <a:defRPr sz="1100">
                          <a:solidFill>
                            <a:srgbClr val="333333"/>
                          </a:solidFill>
                          <a:latin typeface="Calibri"/>
                        </a:defRPr>
                      </a:pPr>
                      <a:r>
                        <a:t>1451.6</a:t>
                      </a:r>
                    </a:p>
                  </a:txBody>
                  <a:tcPr>
                    <a:solidFill>
                      <a:srgbClr val="FAFAFA"/>
                    </a:solidFill>
                  </a:tcPr>
                </a:tc>
                <a:tc>
                  <a:txBody>
                    <a:bodyPr/>
                    <a:lstStyle/>
                    <a:p>
                      <a:pPr>
                        <a:defRPr sz="1100">
                          <a:solidFill>
                            <a:srgbClr val="333333"/>
                          </a:solidFill>
                          <a:latin typeface="Calibri"/>
                        </a:defRPr>
                      </a:pPr>
                      <a:r>
                        <a:t>1710.1</a:t>
                      </a:r>
                    </a:p>
                  </a:txBody>
                  <a:tcPr>
                    <a:solidFill>
                      <a:srgbClr val="FAFAFA"/>
                    </a:solidFill>
                  </a:tcPr>
                </a:tc>
                <a:tc>
                  <a:txBody>
                    <a:bodyPr/>
                    <a:lstStyle/>
                    <a:p>
                      <a:pPr>
                        <a:defRPr sz="1100">
                          <a:solidFill>
                            <a:srgbClr val="333333"/>
                          </a:solidFill>
                          <a:latin typeface="Calibri"/>
                        </a:defRPr>
                      </a:pPr>
                      <a:r>
                        <a:t>30%</a:t>
                      </a:r>
                    </a:p>
                  </a:txBody>
                  <a:tcPr>
                    <a:solidFill>
                      <a:srgbClr val="FAFAFA"/>
                    </a:solidFill>
                  </a:tcPr>
                </a:tc>
              </a:tr>
              <a:tr h="1188720">
                <a:tc>
                  <a:txBody>
                    <a:bodyPr/>
                    <a:lstStyle/>
                    <a:p>
                      <a:pPr>
                        <a:defRPr sz="1100">
                          <a:solidFill>
                            <a:srgbClr val="333333"/>
                          </a:solidFill>
                          <a:latin typeface="Calibri"/>
                        </a:defRPr>
                      </a:pPr>
                      <a:r>
                        <a:t>Transaction Comps</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4408.0</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20%</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Football Field — Bear / Base / Bull</a:t>
            </a:r>
          </a:p>
        </p:txBody>
      </p:sp>
      <p:sp>
        <p:nvSpPr>
          <p:cNvPr id="5" name="TextBox 4"/>
          <p:cNvSpPr txBox="1"/>
          <p:nvPr/>
        </p:nvSpPr>
        <p:spPr>
          <a:xfrm>
            <a:off x="685800" y="1188720"/>
            <a:ext cx="11064240" cy="457200"/>
          </a:xfrm>
          <a:prstGeom prst="rect">
            <a:avLst/>
          </a:prstGeom>
          <a:noFill/>
        </p:spPr>
        <p:txBody>
          <a:bodyPr wrap="none">
            <a:spAutoFit/>
          </a:bodyPr>
          <a:lstStyle/>
          <a:p>
            <a:r>
              <a:rPr b="1" sz="2000">
                <a:solidFill>
                  <a:srgbClr val="333333"/>
                </a:solidFill>
                <a:latin typeface="Calibri"/>
              </a:rPr>
              <a:t>Scenario Analysis</a:t>
            </a:r>
          </a:p>
        </p:txBody>
      </p:sp>
      <p:graphicFrame>
        <p:nvGraphicFramePr>
          <p:cNvPr id="6" name="Table 5"/>
          <p:cNvGraphicFramePr>
            <a:graphicFrameLocks noGrp="1"/>
          </p:cNvGraphicFramePr>
          <p:nvPr/>
        </p:nvGraphicFramePr>
        <p:xfrm>
          <a:off x="685800" y="1645920"/>
          <a:ext cx="11064240" cy="2743200"/>
        </p:xfrm>
        <a:graphic>
          <a:graphicData uri="http://schemas.openxmlformats.org/drawingml/2006/table">
            <a:tbl>
              <a:tblPr firstRow="1" bandRow="1">
                <a:tableStyleId>{5C22544A-7EE6-4342-B048-85BDC9FD1C3A}</a:tableStyleId>
              </a:tblPr>
              <a:tblGrid>
                <a:gridCol w="1844040"/>
                <a:gridCol w="1844040"/>
                <a:gridCol w="1844040"/>
                <a:gridCol w="1844040"/>
                <a:gridCol w="1844040"/>
                <a:gridCol w="1844040"/>
              </a:tblGrid>
              <a:tr h="685800">
                <a:tc>
                  <a:txBody>
                    <a:bodyPr/>
                    <a:lstStyle/>
                    <a:p>
                      <a:pPr>
                        <a:defRPr b="1" sz="1200">
                          <a:solidFill>
                            <a:srgbClr val="FFFFFF"/>
                          </a:solidFill>
                          <a:latin typeface="Calibri"/>
                        </a:defRPr>
                      </a:pPr>
                      <a:r>
                        <a:t>Scenario</a:t>
                      </a:r>
                    </a:p>
                  </a:txBody>
                  <a:tcPr>
                    <a:solidFill>
                      <a:srgbClr val="1B2A4A"/>
                    </a:solidFill>
                  </a:tcPr>
                </a:tc>
                <a:tc>
                  <a:txBody>
                    <a:bodyPr/>
                    <a:lstStyle/>
                    <a:p>
                      <a:pPr>
                        <a:defRPr b="1" sz="1200">
                          <a:solidFill>
                            <a:srgbClr val="FFFFFF"/>
                          </a:solidFill>
                          <a:latin typeface="Calibri"/>
                        </a:defRPr>
                      </a:pPr>
                      <a:r>
                        <a:t>DCF EV</a:t>
                      </a:r>
                    </a:p>
                  </a:txBody>
                  <a:tcPr>
                    <a:solidFill>
                      <a:srgbClr val="1B2A4A"/>
                    </a:solidFill>
                  </a:tcPr>
                </a:tc>
                <a:tc>
                  <a:txBody>
                    <a:bodyPr/>
                    <a:lstStyle/>
                    <a:p>
                      <a:pPr>
                        <a:defRPr b="1" sz="1200">
                          <a:solidFill>
                            <a:srgbClr val="FFFFFF"/>
                          </a:solidFill>
                          <a:latin typeface="Calibri"/>
                        </a:defRPr>
                      </a:pPr>
                      <a:r>
                        <a:t>Comps EV</a:t>
                      </a:r>
                    </a:p>
                  </a:txBody>
                  <a:tcPr>
                    <a:solidFill>
                      <a:srgbClr val="1B2A4A"/>
                    </a:solidFill>
                  </a:tcPr>
                </a:tc>
                <a:tc>
                  <a:txBody>
                    <a:bodyPr/>
                    <a:lstStyle/>
                    <a:p>
                      <a:pPr>
                        <a:defRPr b="1" sz="1200">
                          <a:solidFill>
                            <a:srgbClr val="FFFFFF"/>
                          </a:solidFill>
                          <a:latin typeface="Calibri"/>
                        </a:defRPr>
                      </a:pPr>
                      <a:r>
                        <a:t>Blended EV</a:t>
                      </a:r>
                    </a:p>
                  </a:txBody>
                  <a:tcPr>
                    <a:solidFill>
                      <a:srgbClr val="1B2A4A"/>
                    </a:solidFill>
                  </a:tcPr>
                </a:tc>
                <a:tc>
                  <a:txBody>
                    <a:bodyPr/>
                    <a:lstStyle/>
                    <a:p>
                      <a:pPr>
                        <a:defRPr b="1" sz="1200">
                          <a:solidFill>
                            <a:srgbClr val="FFFFFF"/>
                          </a:solidFill>
                          <a:latin typeface="Calibri"/>
                        </a:defRPr>
                      </a:pPr>
                      <a:r>
                        <a:t>WACC</a:t>
                      </a:r>
                    </a:p>
                  </a:txBody>
                  <a:tcPr>
                    <a:solidFill>
                      <a:srgbClr val="1B2A4A"/>
                    </a:solidFill>
                  </a:tcPr>
                </a:tc>
                <a:tc>
                  <a:txBody>
                    <a:bodyPr/>
                    <a:lstStyle/>
                    <a:p>
                      <a:pPr>
                        <a:defRPr b="1" sz="1200">
                          <a:solidFill>
                            <a:srgbClr val="FFFFFF"/>
                          </a:solidFill>
                          <a:latin typeface="Calibri"/>
                        </a:defRPr>
                      </a:pPr>
                      <a:r>
                        <a:t>EBITDA Margin</a:t>
                      </a:r>
                    </a:p>
                  </a:txBody>
                  <a:tcPr>
                    <a:solidFill>
                      <a:srgbClr val="1B2A4A"/>
                    </a:solidFill>
                  </a:tcPr>
                </a:tc>
              </a:tr>
              <a:tr h="685800">
                <a:tc>
                  <a:txBody>
                    <a:bodyPr/>
                    <a:lstStyle/>
                    <a:p>
                      <a:pPr>
                        <a:defRPr sz="1100">
                          <a:solidFill>
                            <a:srgbClr val="333333"/>
                          </a:solidFill>
                          <a:latin typeface="Calibri"/>
                        </a:defRPr>
                      </a:pPr>
                      <a:r>
                        <a:t>Bear</a:t>
                      </a:r>
                    </a:p>
                  </a:txBody>
                  <a:tcPr>
                    <a:solidFill>
                      <a:srgbClr val="FFFFFF"/>
                    </a:solidFill>
                  </a:tcPr>
                </a:tc>
                <a:tc>
                  <a:txBody>
                    <a:bodyPr/>
                    <a:lstStyle/>
                    <a:p>
                      <a:pPr>
                        <a:defRPr sz="1100">
                          <a:solidFill>
                            <a:srgbClr val="333333"/>
                          </a:solidFill>
                          <a:latin typeface="Calibri"/>
                        </a:defRPr>
                      </a:pPr>
                      <a:r>
                        <a:t>$275M</a:t>
                      </a:r>
                    </a:p>
                  </a:txBody>
                  <a:tcPr>
                    <a:solidFill>
                      <a:srgbClr val="FFFFFF"/>
                    </a:solidFill>
                  </a:tcPr>
                </a:tc>
                <a:tc>
                  <a:txBody>
                    <a:bodyPr/>
                    <a:lstStyle/>
                    <a:p>
                      <a:pPr>
                        <a:defRPr sz="1100">
                          <a:solidFill>
                            <a:srgbClr val="333333"/>
                          </a:solidFill>
                          <a:latin typeface="Calibri"/>
                        </a:defRPr>
                      </a:pPr>
                      <a:r>
                        <a:t>$891M</a:t>
                      </a:r>
                    </a:p>
                  </a:txBody>
                  <a:tcPr>
                    <a:solidFill>
                      <a:srgbClr val="FFFFFF"/>
                    </a:solidFill>
                  </a:tcPr>
                </a:tc>
                <a:tc>
                  <a:txBody>
                    <a:bodyPr/>
                    <a:lstStyle/>
                    <a:p>
                      <a:pPr>
                        <a:defRPr sz="1100">
                          <a:solidFill>
                            <a:srgbClr val="333333"/>
                          </a:solidFill>
                          <a:latin typeface="Calibri"/>
                        </a:defRPr>
                      </a:pPr>
                      <a:r>
                        <a:t>$1.0B</a:t>
                      </a:r>
                    </a:p>
                  </a:txBody>
                  <a:tcPr>
                    <a:solidFill>
                      <a:srgbClr val="FFFFFF"/>
                    </a:solidFill>
                  </a:tcPr>
                </a:tc>
                <a:tc>
                  <a:txBody>
                    <a:bodyPr/>
                    <a:lstStyle/>
                    <a:p>
                      <a:pPr>
                        <a:defRPr sz="1100">
                          <a:solidFill>
                            <a:srgbClr val="333333"/>
                          </a:solidFill>
                          <a:latin typeface="Calibri"/>
                        </a:defRPr>
                      </a:pPr>
                      <a:r>
                        <a:t>11.5%</a:t>
                      </a:r>
                    </a:p>
                  </a:txBody>
                  <a:tcPr>
                    <a:solidFill>
                      <a:srgbClr val="FFFFFF"/>
                    </a:solidFill>
                  </a:tcPr>
                </a:tc>
                <a:tc>
                  <a:txBody>
                    <a:bodyPr/>
                    <a:lstStyle/>
                    <a:p>
                      <a:pPr>
                        <a:defRPr sz="1100">
                          <a:solidFill>
                            <a:srgbClr val="333333"/>
                          </a:solidFill>
                          <a:latin typeface="Calibri"/>
                        </a:defRPr>
                      </a:pPr>
                      <a:r>
                        <a:t>18.0%</a:t>
                      </a:r>
                    </a:p>
                  </a:txBody>
                  <a:tcPr>
                    <a:solidFill>
                      <a:srgbClr val="FFFFFF"/>
                    </a:solidFill>
                  </a:tcPr>
                </a:tc>
              </a:tr>
              <a:tr h="685800">
                <a:tc>
                  <a:txBody>
                    <a:bodyPr/>
                    <a:lstStyle/>
                    <a:p>
                      <a:pPr>
                        <a:defRPr sz="1100">
                          <a:solidFill>
                            <a:srgbClr val="333333"/>
                          </a:solidFill>
                          <a:latin typeface="Calibri"/>
                        </a:defRPr>
                      </a:pPr>
                      <a:r>
                        <a:t>Base</a:t>
                      </a:r>
                    </a:p>
                  </a:txBody>
                  <a:tcPr>
                    <a:solidFill>
                      <a:srgbClr val="FAFAFA"/>
                    </a:solidFill>
                  </a:tcPr>
                </a:tc>
                <a:tc>
                  <a:txBody>
                    <a:bodyPr/>
                    <a:lstStyle/>
                    <a:p>
                      <a:pPr>
                        <a:defRPr sz="1100">
                          <a:solidFill>
                            <a:srgbClr val="333333"/>
                          </a:solidFill>
                          <a:latin typeface="Calibri"/>
                        </a:defRPr>
                      </a:pPr>
                      <a:r>
                        <a:t>$480M</a:t>
                      </a:r>
                    </a:p>
                  </a:txBody>
                  <a:tcPr>
                    <a:solidFill>
                      <a:srgbClr val="FAFAFA"/>
                    </a:solidFill>
                  </a:tcPr>
                </a:tc>
                <a:tc>
                  <a:txBody>
                    <a:bodyPr/>
                    <a:lstStyle/>
                    <a:p>
                      <a:pPr>
                        <a:defRPr sz="1100">
                          <a:solidFill>
                            <a:srgbClr val="333333"/>
                          </a:solidFill>
                          <a:latin typeface="Calibri"/>
                        </a:defRPr>
                      </a:pPr>
                      <a:r>
                        <a:t>$1.6B</a:t>
                      </a:r>
                    </a:p>
                  </a:txBody>
                  <a:tcPr>
                    <a:solidFill>
                      <a:srgbClr val="FAFAFA"/>
                    </a:solidFill>
                  </a:tcPr>
                </a:tc>
                <a:tc>
                  <a:txBody>
                    <a:bodyPr/>
                    <a:lstStyle/>
                    <a:p>
                      <a:pPr>
                        <a:defRPr sz="1100">
                          <a:solidFill>
                            <a:srgbClr val="333333"/>
                          </a:solidFill>
                          <a:latin typeface="Calibri"/>
                        </a:defRPr>
                      </a:pPr>
                      <a:r>
                        <a:t>$1.7B</a:t>
                      </a:r>
                    </a:p>
                  </a:txBody>
                  <a:tcPr>
                    <a:solidFill>
                      <a:srgbClr val="FAFAFA"/>
                    </a:solidFill>
                  </a:tcPr>
                </a:tc>
                <a:tc>
                  <a:txBody>
                    <a:bodyPr/>
                    <a:lstStyle/>
                    <a:p>
                      <a:pPr>
                        <a:defRPr sz="1100">
                          <a:solidFill>
                            <a:srgbClr val="333333"/>
                          </a:solidFill>
                          <a:latin typeface="Calibri"/>
                        </a:defRPr>
                      </a:pPr>
                      <a:r>
                        <a:t>10.0%</a:t>
                      </a:r>
                    </a:p>
                  </a:txBody>
                  <a:tcPr>
                    <a:solidFill>
                      <a:srgbClr val="FAFAFA"/>
                    </a:solidFill>
                  </a:tcPr>
                </a:tc>
                <a:tc>
                  <a:txBody>
                    <a:bodyPr/>
                    <a:lstStyle/>
                    <a:p>
                      <a:pPr>
                        <a:defRPr sz="1100">
                          <a:solidFill>
                            <a:srgbClr val="333333"/>
                          </a:solidFill>
                          <a:latin typeface="Calibri"/>
                        </a:defRPr>
                      </a:pPr>
                      <a:r>
                        <a:t>20.0%</a:t>
                      </a:r>
                    </a:p>
                  </a:txBody>
                  <a:tcPr>
                    <a:solidFill>
                      <a:srgbClr val="FAFAFA"/>
                    </a:solidFill>
                  </a:tcPr>
                </a:tc>
              </a:tr>
              <a:tr h="685800">
                <a:tc>
                  <a:txBody>
                    <a:bodyPr/>
                    <a:lstStyle/>
                    <a:p>
                      <a:pPr>
                        <a:defRPr sz="1100">
                          <a:solidFill>
                            <a:srgbClr val="333333"/>
                          </a:solidFill>
                          <a:latin typeface="Calibri"/>
                        </a:defRPr>
                      </a:pPr>
                      <a:r>
                        <a:t>Bull</a:t>
                      </a:r>
                    </a:p>
                  </a:txBody>
                  <a:tcPr>
                    <a:solidFill>
                      <a:srgbClr val="FFFFFF"/>
                    </a:solidFill>
                  </a:tcPr>
                </a:tc>
                <a:tc>
                  <a:txBody>
                    <a:bodyPr/>
                    <a:lstStyle/>
                    <a:p>
                      <a:pPr>
                        <a:defRPr sz="1100">
                          <a:solidFill>
                            <a:srgbClr val="333333"/>
                          </a:solidFill>
                          <a:latin typeface="Calibri"/>
                        </a:defRPr>
                      </a:pPr>
                      <a:r>
                        <a:t>$811M</a:t>
                      </a:r>
                    </a:p>
                  </a:txBody>
                  <a:tcPr>
                    <a:solidFill>
                      <a:srgbClr val="FFFFFF"/>
                    </a:solidFill>
                  </a:tcPr>
                </a:tc>
                <a:tc>
                  <a:txBody>
                    <a:bodyPr/>
                    <a:lstStyle/>
                    <a:p>
                      <a:pPr>
                        <a:defRPr sz="1100">
                          <a:solidFill>
                            <a:srgbClr val="333333"/>
                          </a:solidFill>
                          <a:latin typeface="Calibri"/>
                        </a:defRPr>
                      </a:pPr>
                      <a:r>
                        <a:t>$2.6B</a:t>
                      </a:r>
                    </a:p>
                  </a:txBody>
                  <a:tcPr>
                    <a:solidFill>
                      <a:srgbClr val="FFFFFF"/>
                    </a:solidFill>
                  </a:tcPr>
                </a:tc>
                <a:tc>
                  <a:txBody>
                    <a:bodyPr/>
                    <a:lstStyle/>
                    <a:p>
                      <a:pPr>
                        <a:defRPr sz="1100">
                          <a:solidFill>
                            <a:srgbClr val="333333"/>
                          </a:solidFill>
                          <a:latin typeface="Calibri"/>
                        </a:defRPr>
                      </a:pPr>
                      <a:r>
                        <a:t>$2.6B</a:t>
                      </a:r>
                    </a:p>
                  </a:txBody>
                  <a:tcPr>
                    <a:solidFill>
                      <a:srgbClr val="FFFFFF"/>
                    </a:solidFill>
                  </a:tcPr>
                </a:tc>
                <a:tc>
                  <a:txBody>
                    <a:bodyPr/>
                    <a:lstStyle/>
                    <a:p>
                      <a:pPr>
                        <a:defRPr sz="1100">
                          <a:solidFill>
                            <a:srgbClr val="333333"/>
                          </a:solidFill>
                          <a:latin typeface="Calibri"/>
                        </a:defRPr>
                      </a:pPr>
                      <a:r>
                        <a:t>9.0%</a:t>
                      </a:r>
                    </a:p>
                  </a:txBody>
                  <a:tcPr>
                    <a:solidFill>
                      <a:srgbClr val="FFFFFF"/>
                    </a:solidFill>
                  </a:tcPr>
                </a:tc>
                <a:tc>
                  <a:txBody>
                    <a:bodyPr/>
                    <a:lstStyle/>
                    <a:p>
                      <a:pPr>
                        <a:defRPr sz="1100">
                          <a:solidFill>
                            <a:srgbClr val="333333"/>
                          </a:solidFill>
                          <a:latin typeface="Calibri"/>
                        </a:defRPr>
                      </a:pPr>
                      <a:r>
                        <a:t>22.0%</a:t>
                      </a:r>
                    </a:p>
                  </a:txBody>
                  <a:tcPr>
                    <a:solidFill>
                      <a:srgbClr val="FFFFFF"/>
                    </a:solidFill>
                  </a:tcPr>
                </a:tc>
              </a:tr>
            </a:tbl>
          </a:graphicData>
        </a:graphic>
      </p:graphicFrame>
      <p:sp>
        <p:nvSpPr>
          <p:cNvPr id="7" name="TextBox 6"/>
          <p:cNvSpPr txBox="1"/>
          <p:nvPr/>
        </p:nvSpPr>
        <p:spPr>
          <a:xfrm>
            <a:off x="685800" y="4572000"/>
            <a:ext cx="11155680" cy="2011680"/>
          </a:xfrm>
          <a:prstGeom prst="rect">
            <a:avLst/>
          </a:prstGeom>
          <a:noFill/>
        </p:spPr>
        <p:txBody>
          <a:bodyPr wrap="none">
            <a:spAutoFit/>
          </a:bodyPr>
          <a:lstStyle/>
          <a:p>
            <a:r>
              <a:rPr b="1" sz="2000">
                <a:solidFill>
                  <a:srgbClr val="333333"/>
                </a:solidFill>
                <a:latin typeface="Calibri"/>
              </a:rPr>
              <a:t>Ranges</a:t>
            </a:r>
          </a:p>
          <a:p>
            <a:pPr>
              <a:spcBef>
                <a:spcPts val="200"/>
              </a:spcBef>
              <a:spcAft>
                <a:spcPts val="200"/>
              </a:spcAft>
              <a:defRPr sz="1400">
                <a:solidFill>
                  <a:srgbClr val="333333"/>
                </a:solidFill>
                <a:latin typeface="Calibri"/>
              </a:defRPr>
            </a:pPr>
            <a:r>
              <a:t>DCF range:     $275M — $811M</a:t>
            </a:r>
          </a:p>
          <a:p>
            <a:pPr>
              <a:spcBef>
                <a:spcPts val="200"/>
              </a:spcBef>
              <a:spcAft>
                <a:spcPts val="200"/>
              </a:spcAft>
              <a:defRPr sz="1400">
                <a:solidFill>
                  <a:srgbClr val="333333"/>
                </a:solidFill>
                <a:latin typeface="Calibri"/>
              </a:defRPr>
            </a:pPr>
            <a:r>
              <a:t>Comps range:   $891M — $2.6B</a:t>
            </a:r>
          </a:p>
          <a:p>
            <a:pPr>
              <a:spcBef>
                <a:spcPts val="200"/>
              </a:spcBef>
              <a:spcAft>
                <a:spcPts val="200"/>
              </a:spcAft>
              <a:defRPr sz="1400">
                <a:solidFill>
                  <a:srgbClr val="333333"/>
                </a:solidFill>
                <a:latin typeface="Calibri"/>
              </a:defRPr>
            </a:pPr>
            <a:r>
              <a:t>Blended range: $1.0B — $2.6B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Peer Comparables</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5 listed peers — real market data via yfinance</a:t>
            </a:r>
          </a:p>
        </p:txBody>
      </p:sp>
      <p:sp>
        <p:nvSpPr>
          <p:cNvPr id="6" name="TextBox 5"/>
          <p:cNvSpPr txBox="1"/>
          <p:nvPr/>
        </p:nvSpPr>
        <p:spPr>
          <a:xfrm>
            <a:off x="685800" y="1188720"/>
            <a:ext cx="11064240" cy="457200"/>
          </a:xfrm>
          <a:prstGeom prst="rect">
            <a:avLst/>
          </a:prstGeom>
          <a:noFill/>
        </p:spPr>
        <p:txBody>
          <a:bodyPr wrap="none">
            <a:spAutoFit/>
          </a:bodyPr>
          <a:lstStyle/>
          <a:p>
            <a:r>
              <a:rPr b="1" sz="2000">
                <a:solidFill>
                  <a:srgbClr val="333333"/>
                </a:solidFill>
                <a:latin typeface="Calibri"/>
              </a:rPr>
              <a:t>Trading Comps</a:t>
            </a:r>
          </a:p>
        </p:txBody>
      </p:sp>
      <p:graphicFrame>
        <p:nvGraphicFramePr>
          <p:cNvPr id="7" name="Table 6"/>
          <p:cNvGraphicFramePr>
            <a:graphicFrameLocks noGrp="1"/>
          </p:cNvGraphicFramePr>
          <p:nvPr/>
        </p:nvGraphicFramePr>
        <p:xfrm>
          <a:off x="685800" y="1645920"/>
          <a:ext cx="11064240" cy="4846320"/>
        </p:xfrm>
        <a:graphic>
          <a:graphicData uri="http://schemas.openxmlformats.org/drawingml/2006/table">
            <a:tbl>
              <a:tblPr firstRow="1" bandRow="1">
                <a:tableStyleId>{5C22544A-7EE6-4342-B048-85BDC9FD1C3A}</a:tableStyleId>
              </a:tblPr>
              <a:tblGrid>
                <a:gridCol w="1844040"/>
                <a:gridCol w="1844040"/>
                <a:gridCol w="1844040"/>
                <a:gridCol w="1844040"/>
                <a:gridCol w="1844040"/>
                <a:gridCol w="1844040"/>
              </a:tblGrid>
              <a:tr h="692331">
                <a:tc>
                  <a:txBody>
                    <a:bodyPr/>
                    <a:lstStyle/>
                    <a:p>
                      <a:pPr>
                        <a:defRPr b="1" sz="1200">
                          <a:solidFill>
                            <a:srgbClr val="FFFFFF"/>
                          </a:solidFill>
                          <a:latin typeface="Calibri"/>
                        </a:defRPr>
                      </a:pPr>
                      <a:r>
                        <a:t>Company</a:t>
                      </a:r>
                    </a:p>
                  </a:txBody>
                  <a:tcPr>
                    <a:solidFill>
                      <a:srgbClr val="1B2A4A"/>
                    </a:solidFill>
                  </a:tcPr>
                </a:tc>
                <a:tc>
                  <a:txBody>
                    <a:bodyPr/>
                    <a:lstStyle/>
                    <a:p>
                      <a:pPr>
                        <a:defRPr b="1" sz="1200">
                          <a:solidFill>
                            <a:srgbClr val="FFFFFF"/>
                          </a:solidFill>
                          <a:latin typeface="Calibri"/>
                        </a:defRPr>
                      </a:pPr>
                      <a:r>
                        <a:t>Ticker</a:t>
                      </a:r>
                    </a:p>
                  </a:txBody>
                  <a:tcPr>
                    <a:solidFill>
                      <a:srgbClr val="1B2A4A"/>
                    </a:solidFill>
                  </a:tcPr>
                </a:tc>
                <a:tc>
                  <a:txBody>
                    <a:bodyPr/>
                    <a:lstStyle/>
                    <a:p>
                      <a:pPr>
                        <a:defRPr b="1" sz="1200">
                          <a:solidFill>
                            <a:srgbClr val="FFFFFF"/>
                          </a:solidFill>
                          <a:latin typeface="Calibri"/>
                        </a:defRPr>
                      </a:pPr>
                      <a:r>
                        <a:t>EV/EBITDA</a:t>
                      </a:r>
                    </a:p>
                  </a:txBody>
                  <a:tcPr>
                    <a:solidFill>
                      <a:srgbClr val="1B2A4A"/>
                    </a:solidFill>
                  </a:tcPr>
                </a:tc>
                <a:tc>
                  <a:txBody>
                    <a:bodyPr/>
                    <a:lstStyle/>
                    <a:p>
                      <a:pPr>
                        <a:defRPr b="1" sz="1200">
                          <a:solidFill>
                            <a:srgbClr val="FFFFFF"/>
                          </a:solidFill>
                          <a:latin typeface="Calibri"/>
                        </a:defRPr>
                      </a:pPr>
                      <a:r>
                        <a:t>EV/Revenue</a:t>
                      </a:r>
                    </a:p>
                  </a:txBody>
                  <a:tcPr>
                    <a:solidFill>
                      <a:srgbClr val="1B2A4A"/>
                    </a:solidFill>
                  </a:tcPr>
                </a:tc>
                <a:tc>
                  <a:txBody>
                    <a:bodyPr/>
                    <a:lstStyle/>
                    <a:p>
                      <a:pPr>
                        <a:defRPr b="1" sz="1200">
                          <a:solidFill>
                            <a:srgbClr val="FFFFFF"/>
                          </a:solidFill>
                          <a:latin typeface="Calibri"/>
                        </a:defRPr>
                      </a:pPr>
                      <a:r>
                        <a:t>EBITDA Margin</a:t>
                      </a:r>
                    </a:p>
                  </a:txBody>
                  <a:tcPr>
                    <a:solidFill>
                      <a:srgbClr val="1B2A4A"/>
                    </a:solidFill>
                  </a:tcPr>
                </a:tc>
                <a:tc>
                  <a:txBody>
                    <a:bodyPr/>
                    <a:lstStyle/>
                    <a:p>
                      <a:pPr>
                        <a:defRPr b="1" sz="1200">
                          <a:solidFill>
                            <a:srgbClr val="FFFFFF"/>
                          </a:solidFill>
                          <a:latin typeface="Calibri"/>
                        </a:defRPr>
                      </a:pPr>
                      <a:r>
                        <a:t>Rev Growth</a:t>
                      </a:r>
                    </a:p>
                  </a:txBody>
                  <a:tcPr>
                    <a:solidFill>
                      <a:srgbClr val="1B2A4A"/>
                    </a:solidFill>
                  </a:tcPr>
                </a:tc>
              </a:tr>
              <a:tr h="692331">
                <a:tc>
                  <a:txBody>
                    <a:bodyPr/>
                    <a:lstStyle/>
                    <a:p>
                      <a:pPr>
                        <a:defRPr sz="1100">
                          <a:solidFill>
                            <a:srgbClr val="333333"/>
                          </a:solidFill>
                          <a:latin typeface="Calibri"/>
                        </a:defRPr>
                      </a:pPr>
                      <a:r>
                        <a:t>Hermès International Société en commandite par actions</a:t>
                      </a:r>
                    </a:p>
                  </a:txBody>
                  <a:tcPr>
                    <a:solidFill>
                      <a:srgbClr val="FFFFFF"/>
                    </a:solidFill>
                  </a:tcPr>
                </a:tc>
                <a:tc>
                  <a:txBody>
                    <a:bodyPr/>
                    <a:lstStyle/>
                    <a:p>
                      <a:pPr>
                        <a:defRPr sz="1100">
                          <a:solidFill>
                            <a:srgbClr val="333333"/>
                          </a:solidFill>
                          <a:latin typeface="Calibri"/>
                        </a:defRPr>
                      </a:pPr>
                      <a:r>
                        <a:t>RMS.PA</a:t>
                      </a:r>
                    </a:p>
                  </a:txBody>
                  <a:tcPr>
                    <a:solidFill>
                      <a:srgbClr val="FFFFFF"/>
                    </a:solidFill>
                  </a:tcPr>
                </a:tc>
                <a:tc>
                  <a:txBody>
                    <a:bodyPr/>
                    <a:lstStyle/>
                    <a:p>
                      <a:pPr>
                        <a:defRPr sz="1100">
                          <a:solidFill>
                            <a:srgbClr val="333333"/>
                          </a:solidFill>
                          <a:latin typeface="Calibri"/>
                        </a:defRPr>
                      </a:pPr>
                      <a:r>
                        <a:t>23.3x</a:t>
                      </a:r>
                    </a:p>
                  </a:txBody>
                  <a:tcPr>
                    <a:solidFill>
                      <a:srgbClr val="FFFFFF"/>
                    </a:solidFill>
                  </a:tcPr>
                </a:tc>
                <a:tc>
                  <a:txBody>
                    <a:bodyPr/>
                    <a:lstStyle/>
                    <a:p>
                      <a:pPr>
                        <a:defRPr sz="1100">
                          <a:solidFill>
                            <a:srgbClr val="333333"/>
                          </a:solidFill>
                          <a:latin typeface="Calibri"/>
                        </a:defRPr>
                      </a:pPr>
                      <a:r>
                        <a:t>10.2x</a:t>
                      </a:r>
                    </a:p>
                  </a:txBody>
                  <a:tcPr>
                    <a:solidFill>
                      <a:srgbClr val="FFFFFF"/>
                    </a:solidFill>
                  </a:tcPr>
                </a:tc>
                <a:tc>
                  <a:txBody>
                    <a:bodyPr/>
                    <a:lstStyle/>
                    <a:p>
                      <a:pPr>
                        <a:defRPr sz="1100">
                          <a:solidFill>
                            <a:srgbClr val="333333"/>
                          </a:solidFill>
                          <a:latin typeface="Calibri"/>
                        </a:defRPr>
                      </a:pPr>
                      <a:r>
                        <a:t>44.0%</a:t>
                      </a:r>
                    </a:p>
                  </a:txBody>
                  <a:tcPr>
                    <a:solidFill>
                      <a:srgbClr val="FFFFFF"/>
                    </a:solidFill>
                  </a:tcPr>
                </a:tc>
                <a:tc>
                  <a:txBody>
                    <a:bodyPr/>
                    <a:lstStyle/>
                    <a:p>
                      <a:pPr>
                        <a:defRPr sz="1100">
                          <a:solidFill>
                            <a:srgbClr val="333333"/>
                          </a:solidFill>
                          <a:latin typeface="Calibri"/>
                        </a:defRPr>
                      </a:pPr>
                      <a:r>
                        <a:t>+1.8%</a:t>
                      </a:r>
                    </a:p>
                  </a:txBody>
                  <a:tcPr>
                    <a:solidFill>
                      <a:srgbClr val="FFFFFF"/>
                    </a:solidFill>
                  </a:tcPr>
                </a:tc>
              </a:tr>
              <a:tr h="692331">
                <a:tc>
                  <a:txBody>
                    <a:bodyPr/>
                    <a:lstStyle/>
                    <a:p>
                      <a:pPr>
                        <a:defRPr sz="1100">
                          <a:solidFill>
                            <a:srgbClr val="333333"/>
                          </a:solidFill>
                          <a:latin typeface="Calibri"/>
                        </a:defRPr>
                      </a:pPr>
                      <a:r>
                        <a:t>Kering SA</a:t>
                      </a:r>
                    </a:p>
                  </a:txBody>
                  <a:tcPr>
                    <a:solidFill>
                      <a:srgbClr val="FAFAFA"/>
                    </a:solidFill>
                  </a:tcPr>
                </a:tc>
                <a:tc>
                  <a:txBody>
                    <a:bodyPr/>
                    <a:lstStyle/>
                    <a:p>
                      <a:pPr>
                        <a:defRPr sz="1100">
                          <a:solidFill>
                            <a:srgbClr val="333333"/>
                          </a:solidFill>
                          <a:latin typeface="Calibri"/>
                        </a:defRPr>
                      </a:pPr>
                      <a:r>
                        <a:t>KER.PA</a:t>
                      </a:r>
                    </a:p>
                  </a:txBody>
                  <a:tcPr>
                    <a:solidFill>
                      <a:srgbClr val="FAFAFA"/>
                    </a:solidFill>
                  </a:tcPr>
                </a:tc>
                <a:tc>
                  <a:txBody>
                    <a:bodyPr/>
                    <a:lstStyle/>
                    <a:p>
                      <a:pPr>
                        <a:defRPr sz="1100">
                          <a:solidFill>
                            <a:srgbClr val="333333"/>
                          </a:solidFill>
                          <a:latin typeface="Calibri"/>
                        </a:defRPr>
                      </a:pPr>
                      <a:r>
                        <a:t>17.7x</a:t>
                      </a:r>
                    </a:p>
                  </a:txBody>
                  <a:tcPr>
                    <a:solidFill>
                      <a:srgbClr val="FAFAFA"/>
                    </a:solidFill>
                  </a:tcPr>
                </a:tc>
                <a:tc>
                  <a:txBody>
                    <a:bodyPr/>
                    <a:lstStyle/>
                    <a:p>
                      <a:pPr>
                        <a:defRPr sz="1100">
                          <a:solidFill>
                            <a:srgbClr val="333333"/>
                          </a:solidFill>
                          <a:latin typeface="Calibri"/>
                        </a:defRPr>
                      </a:pPr>
                      <a:r>
                        <a:t>3.1x</a:t>
                      </a:r>
                    </a:p>
                  </a:txBody>
                  <a:tcPr>
                    <a:solidFill>
                      <a:srgbClr val="FAFAFA"/>
                    </a:solidFill>
                  </a:tcPr>
                </a:tc>
                <a:tc>
                  <a:txBody>
                    <a:bodyPr/>
                    <a:lstStyle/>
                    <a:p>
                      <a:pPr>
                        <a:defRPr sz="1100">
                          <a:solidFill>
                            <a:srgbClr val="333333"/>
                          </a:solidFill>
                          <a:latin typeface="Calibri"/>
                        </a:defRPr>
                      </a:pPr>
                      <a:r>
                        <a:t>17.3%</a:t>
                      </a:r>
                    </a:p>
                  </a:txBody>
                  <a:tcPr>
                    <a:solidFill>
                      <a:srgbClr val="FAFAFA"/>
                    </a:solidFill>
                  </a:tcPr>
                </a:tc>
                <a:tc>
                  <a:txBody>
                    <a:bodyPr/>
                    <a:lstStyle/>
                    <a:p>
                      <a:pPr>
                        <a:defRPr sz="1100">
                          <a:solidFill>
                            <a:srgbClr val="333333"/>
                          </a:solidFill>
                          <a:latin typeface="Calibri"/>
                        </a:defRPr>
                      </a:pPr>
                      <a:r>
                        <a:t>—</a:t>
                      </a:r>
                    </a:p>
                  </a:txBody>
                  <a:tcPr>
                    <a:solidFill>
                      <a:srgbClr val="FAFAFA"/>
                    </a:solidFill>
                  </a:tcPr>
                </a:tc>
              </a:tr>
              <a:tr h="692331">
                <a:tc>
                  <a:txBody>
                    <a:bodyPr/>
                    <a:lstStyle/>
                    <a:p>
                      <a:pPr>
                        <a:defRPr sz="1100">
                          <a:solidFill>
                            <a:srgbClr val="333333"/>
                          </a:solidFill>
                          <a:latin typeface="Calibri"/>
                        </a:defRPr>
                      </a:pPr>
                      <a:r>
                        <a:t>LVMH Moët Hennessy - Louis Vuitton, Société Européenne</a:t>
                      </a:r>
                    </a:p>
                  </a:txBody>
                  <a:tcPr>
                    <a:solidFill>
                      <a:srgbClr val="FFFFFF"/>
                    </a:solidFill>
                  </a:tcPr>
                </a:tc>
                <a:tc>
                  <a:txBody>
                    <a:bodyPr/>
                    <a:lstStyle/>
                    <a:p>
                      <a:pPr>
                        <a:defRPr sz="1100">
                          <a:solidFill>
                            <a:srgbClr val="333333"/>
                          </a:solidFill>
                          <a:latin typeface="Calibri"/>
                        </a:defRPr>
                      </a:pPr>
                      <a:r>
                        <a:t>MC.PA</a:t>
                      </a:r>
                    </a:p>
                  </a:txBody>
                  <a:tcPr>
                    <a:solidFill>
                      <a:srgbClr val="FFFFFF"/>
                    </a:solidFill>
                  </a:tcPr>
                </a:tc>
                <a:tc>
                  <a:txBody>
                    <a:bodyPr/>
                    <a:lstStyle/>
                    <a:p>
                      <a:pPr>
                        <a:defRPr sz="1100">
                          <a:solidFill>
                            <a:srgbClr val="333333"/>
                          </a:solidFill>
                          <a:latin typeface="Calibri"/>
                        </a:defRPr>
                      </a:pPr>
                      <a:r>
                        <a:t>12.5x</a:t>
                      </a:r>
                    </a:p>
                  </a:txBody>
                  <a:tcPr>
                    <a:solidFill>
                      <a:srgbClr val="FFFFFF"/>
                    </a:solidFill>
                  </a:tcPr>
                </a:tc>
                <a:tc>
                  <a:txBody>
                    <a:bodyPr/>
                    <a:lstStyle/>
                    <a:p>
                      <a:pPr>
                        <a:defRPr sz="1100">
                          <a:solidFill>
                            <a:srgbClr val="333333"/>
                          </a:solidFill>
                          <a:latin typeface="Calibri"/>
                        </a:defRPr>
                      </a:pPr>
                      <a:r>
                        <a:t>3.2x</a:t>
                      </a:r>
                    </a:p>
                  </a:txBody>
                  <a:tcPr>
                    <a:solidFill>
                      <a:srgbClr val="FFFFFF"/>
                    </a:solidFill>
                  </a:tcPr>
                </a:tc>
                <a:tc>
                  <a:txBody>
                    <a:bodyPr/>
                    <a:lstStyle/>
                    <a:p>
                      <a:pPr>
                        <a:defRPr sz="1100">
                          <a:solidFill>
                            <a:srgbClr val="333333"/>
                          </a:solidFill>
                          <a:latin typeface="Calibri"/>
                        </a:defRPr>
                      </a:pPr>
                      <a:r>
                        <a:t>25.5%</a:t>
                      </a:r>
                    </a:p>
                  </a:txBody>
                  <a:tcPr>
                    <a:solidFill>
                      <a:srgbClr val="FFFFFF"/>
                    </a:solidFill>
                  </a:tcPr>
                </a:tc>
                <a:tc>
                  <a:txBody>
                    <a:bodyPr/>
                    <a:lstStyle/>
                    <a:p>
                      <a:pPr>
                        <a:defRPr sz="1100">
                          <a:solidFill>
                            <a:srgbClr val="333333"/>
                          </a:solidFill>
                          <a:latin typeface="Calibri"/>
                        </a:defRPr>
                      </a:pPr>
                      <a:r>
                        <a:t>-1.4%</a:t>
                      </a:r>
                    </a:p>
                  </a:txBody>
                  <a:tcPr>
                    <a:solidFill>
                      <a:srgbClr val="FFFFFF"/>
                    </a:solidFill>
                  </a:tcPr>
                </a:tc>
              </a:tr>
              <a:tr h="692331">
                <a:tc>
                  <a:txBody>
                    <a:bodyPr/>
                    <a:lstStyle/>
                    <a:p>
                      <a:pPr>
                        <a:defRPr sz="1100">
                          <a:solidFill>
                            <a:srgbClr val="333333"/>
                          </a:solidFill>
                          <a:latin typeface="Calibri"/>
                        </a:defRPr>
                      </a:pPr>
                      <a:r>
                        <a:t>Burberry Group plc</a:t>
                      </a:r>
                    </a:p>
                  </a:txBody>
                  <a:tcPr>
                    <a:solidFill>
                      <a:srgbClr val="FAFAFA"/>
                    </a:solidFill>
                  </a:tcPr>
                </a:tc>
                <a:tc>
                  <a:txBody>
                    <a:bodyPr/>
                    <a:lstStyle/>
                    <a:p>
                      <a:pPr>
                        <a:defRPr sz="1100">
                          <a:solidFill>
                            <a:srgbClr val="333333"/>
                          </a:solidFill>
                          <a:latin typeface="Calibri"/>
                        </a:defRPr>
                      </a:pPr>
                      <a:r>
                        <a:t>BRBY.L</a:t>
                      </a:r>
                    </a:p>
                  </a:txBody>
                  <a:tcPr>
                    <a:solidFill>
                      <a:srgbClr val="FAFAFA"/>
                    </a:solidFill>
                  </a:tcPr>
                </a:tc>
                <a:tc>
                  <a:txBody>
                    <a:bodyPr/>
                    <a:lstStyle/>
                    <a:p>
                      <a:pPr>
                        <a:defRPr sz="1100">
                          <a:solidFill>
                            <a:srgbClr val="333333"/>
                          </a:solidFill>
                          <a:latin typeface="Calibri"/>
                        </a:defRPr>
                      </a:pPr>
                      <a:r>
                        <a:t>26.3x</a:t>
                      </a:r>
                    </a:p>
                  </a:txBody>
                  <a:tcPr>
                    <a:solidFill>
                      <a:srgbClr val="FAFAFA"/>
                    </a:solidFill>
                  </a:tcPr>
                </a:tc>
                <a:tc>
                  <a:txBody>
                    <a:bodyPr/>
                    <a:lstStyle/>
                    <a:p>
                      <a:pPr>
                        <a:defRPr sz="1100">
                          <a:solidFill>
                            <a:srgbClr val="333333"/>
                          </a:solidFill>
                          <a:latin typeface="Calibri"/>
                        </a:defRPr>
                      </a:pPr>
                      <a:r>
                        <a:t>2.2x</a:t>
                      </a:r>
                    </a:p>
                  </a:txBody>
                  <a:tcPr>
                    <a:solidFill>
                      <a:srgbClr val="FAFAFA"/>
                    </a:solidFill>
                  </a:tcPr>
                </a:tc>
                <a:tc>
                  <a:txBody>
                    <a:bodyPr/>
                    <a:lstStyle/>
                    <a:p>
                      <a:pPr>
                        <a:defRPr sz="1100">
                          <a:solidFill>
                            <a:srgbClr val="333333"/>
                          </a:solidFill>
                          <a:latin typeface="Calibri"/>
                        </a:defRPr>
                      </a:pPr>
                      <a:r>
                        <a:t>8.4%</a:t>
                      </a:r>
                    </a:p>
                  </a:txBody>
                  <a:tcPr>
                    <a:solidFill>
                      <a:srgbClr val="FAFAFA"/>
                    </a:solidFill>
                  </a:tcPr>
                </a:tc>
                <a:tc>
                  <a:txBody>
                    <a:bodyPr/>
                    <a:lstStyle/>
                    <a:p>
                      <a:pPr>
                        <a:defRPr sz="1100">
                          <a:solidFill>
                            <a:srgbClr val="333333"/>
                          </a:solidFill>
                          <a:latin typeface="Calibri"/>
                        </a:defRPr>
                      </a:pPr>
                      <a:r>
                        <a:t>-5.0%</a:t>
                      </a:r>
                    </a:p>
                  </a:txBody>
                  <a:tcPr>
                    <a:solidFill>
                      <a:srgbClr val="FAFAFA"/>
                    </a:solidFill>
                  </a:tcPr>
                </a:tc>
              </a:tr>
              <a:tr h="692331">
                <a:tc>
                  <a:txBody>
                    <a:bodyPr/>
                    <a:lstStyle/>
                    <a:p>
                      <a:pPr>
                        <a:defRPr sz="1100">
                          <a:solidFill>
                            <a:srgbClr val="333333"/>
                          </a:solidFill>
                          <a:latin typeface="Calibri"/>
                        </a:defRPr>
                      </a:pPr>
                      <a:r>
                        <a:t>Compagnie Financière Richemont SA</a:t>
                      </a:r>
                    </a:p>
                  </a:txBody>
                  <a:tcPr>
                    <a:solidFill>
                      <a:srgbClr val="FFFFFF"/>
                    </a:solidFill>
                  </a:tcPr>
                </a:tc>
                <a:tc>
                  <a:txBody>
                    <a:bodyPr/>
                    <a:lstStyle/>
                    <a:p>
                      <a:pPr>
                        <a:defRPr sz="1100">
                          <a:solidFill>
                            <a:srgbClr val="333333"/>
                          </a:solidFill>
                          <a:latin typeface="Calibri"/>
                        </a:defRPr>
                      </a:pPr>
                      <a:r>
                        <a:t>CFR.SW</a:t>
                      </a:r>
                    </a:p>
                  </a:txBody>
                  <a:tcPr>
                    <a:solidFill>
                      <a:srgbClr val="FFFFFF"/>
                    </a:solidFill>
                  </a:tcPr>
                </a:tc>
                <a:tc>
                  <a:txBody>
                    <a:bodyPr/>
                    <a:lstStyle/>
                    <a:p>
                      <a:pPr>
                        <a:defRPr sz="1100">
                          <a:solidFill>
                            <a:srgbClr val="333333"/>
                          </a:solidFill>
                          <a:latin typeface="Calibri"/>
                        </a:defRPr>
                      </a:pPr>
                      <a:r>
                        <a:t>16.2x</a:t>
                      </a:r>
                    </a:p>
                  </a:txBody>
                  <a:tcPr>
                    <a:solidFill>
                      <a:srgbClr val="FFFFFF"/>
                    </a:solidFill>
                  </a:tcPr>
                </a:tc>
                <a:tc>
                  <a:txBody>
                    <a:bodyPr/>
                    <a:lstStyle/>
                    <a:p>
                      <a:pPr>
                        <a:defRPr sz="1100">
                          <a:solidFill>
                            <a:srgbClr val="333333"/>
                          </a:solidFill>
                          <a:latin typeface="Calibri"/>
                        </a:defRPr>
                      </a:pPr>
                      <a:r>
                        <a:t>4.0x</a:t>
                      </a:r>
                    </a:p>
                  </a:txBody>
                  <a:tcPr>
                    <a:solidFill>
                      <a:srgbClr val="FFFFFF"/>
                    </a:solidFill>
                  </a:tcPr>
                </a:tc>
                <a:tc>
                  <a:txBody>
                    <a:bodyPr/>
                    <a:lstStyle/>
                    <a:p>
                      <a:pPr>
                        <a:defRPr sz="1100">
                          <a:solidFill>
                            <a:srgbClr val="333333"/>
                          </a:solidFill>
                          <a:latin typeface="Calibri"/>
                        </a:defRPr>
                      </a:pPr>
                      <a:r>
                        <a:t>24.4%</a:t>
                      </a:r>
                    </a:p>
                  </a:txBody>
                  <a:tcPr>
                    <a:solidFill>
                      <a:srgbClr val="FFFFFF"/>
                    </a:solidFill>
                  </a:tcPr>
                </a:tc>
                <a:tc>
                  <a:txBody>
                    <a:bodyPr/>
                    <a:lstStyle/>
                    <a:p>
                      <a:pPr>
                        <a:defRPr sz="1100">
                          <a:solidFill>
                            <a:srgbClr val="333333"/>
                          </a:solidFill>
                          <a:latin typeface="Calibri"/>
                        </a:defRPr>
                      </a:pPr>
                      <a:r>
                        <a:t>+295.1%</a:t>
                      </a:r>
                    </a:p>
                  </a:txBody>
                  <a:tcPr>
                    <a:solidFill>
                      <a:srgbClr val="FFFFFF"/>
                    </a:solidFill>
                  </a:tcPr>
                </a:tc>
              </a:tr>
              <a:tr h="692334">
                <a:tc>
                  <a:txBody>
                    <a:bodyPr/>
                    <a:lstStyle/>
                    <a:p>
                      <a:pPr>
                        <a:defRPr sz="1100">
                          <a:solidFill>
                            <a:srgbClr val="333333"/>
                          </a:solidFill>
                          <a:latin typeface="Calibri"/>
                        </a:defRPr>
                      </a:pPr>
                      <a:r>
                        <a:t>MEDIAN</a:t>
                      </a:r>
                    </a:p>
                  </a:txBody>
                  <a:tcPr>
                    <a:solidFill>
                      <a:srgbClr val="FAFAFA"/>
                    </a:solidFill>
                  </a:tcPr>
                </a:tc>
                <a:tc>
                  <a:txBody>
                    <a:bodyPr/>
                    <a:lstStyle/>
                    <a:p>
                      <a:pPr>
                        <a:defRPr sz="1100">
                          <a:solidFill>
                            <a:srgbClr val="333333"/>
                          </a:solidFill>
                          <a:latin typeface="Calibri"/>
                        </a:defRPr>
                      </a:pPr>
                      <a:r>
                        <a:t>—</a:t>
                      </a:r>
                    </a:p>
                  </a:txBody>
                  <a:tcPr>
                    <a:solidFill>
                      <a:srgbClr val="FAFAFA"/>
                    </a:solidFill>
                  </a:tcPr>
                </a:tc>
                <a:tc>
                  <a:txBody>
                    <a:bodyPr/>
                    <a:lstStyle/>
                    <a:p>
                      <a:pPr>
                        <a:defRPr sz="1100">
                          <a:solidFill>
                            <a:srgbClr val="333333"/>
                          </a:solidFill>
                          <a:latin typeface="Calibri"/>
                        </a:defRPr>
                      </a:pPr>
                      <a:r>
                        <a:t>17.7x</a:t>
                      </a:r>
                    </a:p>
                  </a:txBody>
                  <a:tcPr>
                    <a:solidFill>
                      <a:srgbClr val="FAFAFA"/>
                    </a:solidFill>
                  </a:tcPr>
                </a:tc>
                <a:tc>
                  <a:txBody>
                    <a:bodyPr/>
                    <a:lstStyle/>
                    <a:p>
                      <a:pPr>
                        <a:defRPr sz="1100">
                          <a:solidFill>
                            <a:srgbClr val="333333"/>
                          </a:solidFill>
                          <a:latin typeface="Calibri"/>
                        </a:defRPr>
                      </a:pPr>
                      <a:r>
                        <a:t>3.2x</a:t>
                      </a:r>
                    </a:p>
                  </a:txBody>
                  <a:tcPr>
                    <a:solidFill>
                      <a:srgbClr val="FAFAFA"/>
                    </a:solidFill>
                  </a:tcPr>
                </a:tc>
                <a:tc>
                  <a:txBody>
                    <a:bodyPr/>
                    <a:lstStyle/>
                    <a:p>
                      <a:pPr>
                        <a:defRPr sz="1100">
                          <a:solidFill>
                            <a:srgbClr val="333333"/>
                          </a:solidFill>
                          <a:latin typeface="Calibri"/>
                        </a:defRPr>
                      </a:pPr>
                      <a:r>
                        <a:t>24.4%</a:t>
                      </a:r>
                    </a:p>
                  </a:txBody>
                  <a:tcPr>
                    <a:solidFill>
                      <a:srgbClr val="FAFAFA"/>
                    </a:solidFill>
                  </a:tcPr>
                </a:tc>
                <a:tc>
                  <a:txBody>
                    <a:bodyPr/>
                    <a:lstStyle/>
                    <a:p>
                      <a:pPr>
                        <a:defRPr sz="1100">
                          <a:solidFill>
                            <a:srgbClr val="333333"/>
                          </a:solidFill>
                          <a:latin typeface="Calibri"/>
                        </a:defRPr>
                      </a:pPr>
                      <a:r>
                        <a:t>—</a:t>
                      </a:r>
                    </a:p>
                  </a:txBody>
                  <a:tcPr>
                    <a:solidFill>
                      <a:srgbClr val="FAFAFA"/>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IC Score — NO GO</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Investment Committee Scorecard</a:t>
            </a:r>
          </a:p>
        </p:txBody>
      </p:sp>
      <p:sp>
        <p:nvSpPr>
          <p:cNvPr id="6" name="TextBox 5"/>
          <p:cNvSpPr txBox="1"/>
          <p:nvPr/>
        </p:nvSpPr>
        <p:spPr>
          <a:xfrm>
            <a:off x="685800" y="1097280"/>
            <a:ext cx="5303520" cy="457200"/>
          </a:xfrm>
          <a:prstGeom prst="rect">
            <a:avLst/>
          </a:prstGeom>
          <a:noFill/>
        </p:spPr>
        <p:txBody>
          <a:bodyPr wrap="none">
            <a:spAutoFit/>
          </a:bodyPr>
          <a:lstStyle/>
          <a:p>
            <a:r>
              <a:rPr b="1" sz="2000">
                <a:solidFill>
                  <a:srgbClr val="333333"/>
                </a:solidFill>
                <a:latin typeface="Calibri"/>
              </a:rPr>
              <a:t>Dimension Scores</a:t>
            </a:r>
          </a:p>
        </p:txBody>
      </p:sp>
      <p:graphicFrame>
        <p:nvGraphicFramePr>
          <p:cNvPr id="7" name="Table 6"/>
          <p:cNvGraphicFramePr>
            <a:graphicFrameLocks noGrp="1"/>
          </p:cNvGraphicFramePr>
          <p:nvPr/>
        </p:nvGraphicFramePr>
        <p:xfrm>
          <a:off x="685800" y="1554480"/>
          <a:ext cx="5303520" cy="3657600"/>
        </p:xfrm>
        <a:graphic>
          <a:graphicData uri="http://schemas.openxmlformats.org/drawingml/2006/table">
            <a:tbl>
              <a:tblPr firstRow="1" bandRow="1">
                <a:tableStyleId>{5C22544A-7EE6-4342-B048-85BDC9FD1C3A}</a:tableStyleId>
              </a:tblPr>
              <a:tblGrid>
                <a:gridCol w="2651760"/>
                <a:gridCol w="2651760"/>
              </a:tblGrid>
              <a:tr h="457200">
                <a:tc>
                  <a:txBody>
                    <a:bodyPr/>
                    <a:lstStyle/>
                    <a:p>
                      <a:pPr>
                        <a:defRPr b="1" sz="1200">
                          <a:solidFill>
                            <a:srgbClr val="FFFFFF"/>
                          </a:solidFill>
                          <a:latin typeface="Calibri"/>
                        </a:defRPr>
                      </a:pPr>
                      <a:r>
                        <a:t>Dimension</a:t>
                      </a:r>
                    </a:p>
                  </a:txBody>
                  <a:tcPr>
                    <a:solidFill>
                      <a:srgbClr val="1B2A4A"/>
                    </a:solidFill>
                  </a:tcPr>
                </a:tc>
                <a:tc>
                  <a:txBody>
                    <a:bodyPr/>
                    <a:lstStyle/>
                    <a:p>
                      <a:pPr>
                        <a:defRPr b="1" sz="1200">
                          <a:solidFill>
                            <a:srgbClr val="FFFFFF"/>
                          </a:solidFill>
                          <a:latin typeface="Calibri"/>
                        </a:defRPr>
                      </a:pPr>
                      <a:r>
                        <a:t>Score</a:t>
                      </a:r>
                    </a:p>
                  </a:txBody>
                  <a:tcPr>
                    <a:solidFill>
                      <a:srgbClr val="1B2A4A"/>
                    </a:solidFill>
                  </a:tcPr>
                </a:tc>
              </a:tr>
              <a:tr h="457200">
                <a:tc>
                  <a:txBody>
                    <a:bodyPr/>
                    <a:lstStyle/>
                    <a:p>
                      <a:pPr>
                        <a:defRPr sz="1100">
                          <a:solidFill>
                            <a:srgbClr val="333333"/>
                          </a:solidFill>
                          <a:latin typeface="Calibri"/>
                        </a:defRPr>
                      </a:pPr>
                      <a:r>
                        <a:t>Strategy</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457200">
                <a:tc>
                  <a:txBody>
                    <a:bodyPr/>
                    <a:lstStyle/>
                    <a:p>
                      <a:pPr>
                        <a:defRPr sz="1100">
                          <a:solidFill>
                            <a:srgbClr val="333333"/>
                          </a:solidFill>
                          <a:latin typeface="Calibri"/>
                        </a:defRPr>
                      </a:pPr>
                      <a:r>
                        <a:t>Synergies</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457200">
                <a:tc>
                  <a:txBody>
                    <a:bodyPr/>
                    <a:lstStyle/>
                    <a:p>
                      <a:pPr>
                        <a:defRPr sz="1100">
                          <a:solidFill>
                            <a:srgbClr val="333333"/>
                          </a:solidFill>
                          <a:latin typeface="Calibri"/>
                        </a:defRPr>
                      </a:pPr>
                      <a:r>
                        <a:t>Financial</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457200">
                <a:tc>
                  <a:txBody>
                    <a:bodyPr/>
                    <a:lstStyle/>
                    <a:p>
                      <a:pPr>
                        <a:defRPr sz="1100">
                          <a:solidFill>
                            <a:srgbClr val="333333"/>
                          </a:solidFill>
                          <a:latin typeface="Calibri"/>
                        </a:defRPr>
                      </a:pPr>
                      <a:r>
                        <a:t>LBO</a:t>
                      </a:r>
                    </a:p>
                  </a:txBody>
                  <a:tcPr>
                    <a:solidFill>
                      <a:srgbClr val="FAFAFA"/>
                    </a:solidFill>
                  </a:tcPr>
                </a:tc>
                <a:tc>
                  <a:txBody>
                    <a:bodyPr/>
                    <a:lstStyle/>
                    <a:p>
                      <a:pPr>
                        <a:defRPr sz="1100">
                          <a:solidFill>
                            <a:srgbClr val="333333"/>
                          </a:solidFill>
                          <a:latin typeface="Calibri"/>
                        </a:defRPr>
                      </a:pPr>
                      <a:r>
                        <a:t>1.0/10</a:t>
                      </a:r>
                    </a:p>
                  </a:txBody>
                  <a:tcPr>
                    <a:solidFill>
                      <a:srgbClr val="FAFAFA"/>
                    </a:solidFill>
                  </a:tcPr>
                </a:tc>
              </a:tr>
              <a:tr h="457200">
                <a:tc>
                  <a:txBody>
                    <a:bodyPr/>
                    <a:lstStyle/>
                    <a:p>
                      <a:pPr>
                        <a:defRPr sz="1100">
                          <a:solidFill>
                            <a:srgbClr val="333333"/>
                          </a:solidFill>
                          <a:latin typeface="Calibri"/>
                        </a:defRPr>
                      </a:pPr>
                      <a:r>
                        <a:t>Integration</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457200">
                <a:tc>
                  <a:txBody>
                    <a:bodyPr/>
                    <a:lstStyle/>
                    <a:p>
                      <a:pPr>
                        <a:defRPr sz="1100">
                          <a:solidFill>
                            <a:srgbClr val="333333"/>
                          </a:solidFill>
                          <a:latin typeface="Calibri"/>
                        </a:defRPr>
                      </a:pPr>
                      <a:r>
                        <a:t>Risk</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457200">
                <a:tc>
                  <a:txBody>
                    <a:bodyPr/>
                    <a:lstStyle/>
                    <a:p>
                      <a:pPr>
                        <a:defRPr sz="1100">
                          <a:solidFill>
                            <a:srgbClr val="333333"/>
                          </a:solidFill>
                          <a:latin typeface="Calibri"/>
                        </a:defRPr>
                      </a:pPr>
                      <a:r>
                        <a:t>TOTAL</a:t>
                      </a:r>
                    </a:p>
                  </a:txBody>
                  <a:tcPr>
                    <a:solidFill>
                      <a:srgbClr val="FFFFFF"/>
                    </a:solidFill>
                  </a:tcPr>
                </a:tc>
                <a:tc>
                  <a:txBody>
                    <a:bodyPr/>
                    <a:lstStyle/>
                    <a:p>
                      <a:pPr>
                        <a:defRPr sz="1100">
                          <a:solidFill>
                            <a:srgbClr val="333333"/>
                          </a:solidFill>
                          <a:latin typeface="Calibri"/>
                        </a:defRPr>
                      </a:pPr>
                      <a:r>
                        <a:t>0/100</a:t>
                      </a:r>
                    </a:p>
                  </a:txBody>
                  <a:tcPr>
                    <a:solidFill>
                      <a:srgbClr val="FFFFFF"/>
                    </a:solidFill>
                  </a:tcPr>
                </a:tc>
              </a:tr>
            </a:tbl>
          </a:graphicData>
        </a:graphic>
      </p:graphicFrame>
      <p:sp>
        <p:nvSpPr>
          <p:cNvPr id="8" name="TextBox 7"/>
          <p:cNvSpPr txBox="1"/>
          <p:nvPr/>
        </p:nvSpPr>
        <p:spPr>
          <a:xfrm>
            <a:off x="6400800" y="1097280"/>
            <a:ext cx="5303520" cy="4114800"/>
          </a:xfrm>
          <a:prstGeom prst="rect">
            <a:avLst/>
          </a:prstGeom>
          <a:noFill/>
        </p:spPr>
        <p:txBody>
          <a:bodyPr wrap="none">
            <a:spAutoFit/>
          </a:bodyPr>
          <a:lstStyle/>
          <a:p>
            <a:r>
              <a:rPr b="1" sz="2000">
                <a:solidFill>
                  <a:srgbClr val="333333"/>
                </a:solidFill>
                <a:latin typeface="Calibri"/>
              </a:rPr>
              <a:t>Rationale &amp; Next Steps</a:t>
            </a:r>
          </a:p>
          <a:p>
            <a:pPr>
              <a:spcBef>
                <a:spcPts val="200"/>
              </a:spcBef>
              <a:spcAft>
                <a:spcPts val="200"/>
              </a:spcAft>
              <a:defRPr sz="1400">
                <a:solidFill>
                  <a:srgbClr val="333333"/>
                </a:solidFill>
                <a:latin typeface="Calibri"/>
              </a:defRPr>
            </a:pPr>
            <a:r>
              <a:t>Sézane fails IC gates: Lbo score 1.0/10 below minimum 2/10. Strengths: strategy (5/10), synergies (5/10). Risks: lbo (1/10), strategy (5/10). LBO IRR: 10.9%.</a:t>
            </a:r>
          </a:p>
          <a:p>
            <a:pPr>
              <a:spcBef>
                <a:spcPts val="200"/>
              </a:spcBef>
              <a:spcAft>
                <a:spcPts val="200"/>
              </a:spcAft>
              <a:defRPr sz="1400">
                <a:solidFill>
                  <a:srgbClr val="333333"/>
                </a:solidFill>
                <a:latin typeface="Calibri"/>
              </a:defRPr>
            </a:pPr>
            <a:r>
              <a:t>Pass on current opportunity</a:t>
            </a:r>
          </a:p>
          <a:p>
            <a:pPr>
              <a:spcBef>
                <a:spcPts val="200"/>
              </a:spcBef>
              <a:spcAft>
                <a:spcPts val="200"/>
              </a:spcAft>
              <a:defRPr sz="1400">
                <a:solidFill>
                  <a:srgbClr val="333333"/>
                </a:solidFill>
                <a:latin typeface="Calibri"/>
              </a:defRPr>
            </a:pPr>
            <a:r>
              <a:t>Document rationale in deal log</a:t>
            </a:r>
          </a:p>
          <a:p>
            <a:pPr>
              <a:spcBef>
                <a:spcPts val="200"/>
              </a:spcBef>
              <a:spcAft>
                <a:spcPts val="200"/>
              </a:spcAft>
              <a:defRPr sz="1400">
                <a:solidFill>
                  <a:srgbClr val="333333"/>
                </a:solidFill>
                <a:latin typeface="Calibri"/>
              </a:defRPr>
            </a:pPr>
            <a:r>
              <a:t>Re-evaluate if strategic context or valuation changes</a:t>
            </a:r>
          </a:p>
          <a:p>
            <a:pPr>
              <a:spcBef>
                <a:spcPts val="200"/>
              </a:spcBef>
              <a:spcAft>
                <a:spcPts val="200"/>
              </a:spcAft>
              <a:defRPr sz="1400">
                <a:solidFill>
                  <a:srgbClr val="333333"/>
                </a:solidFill>
                <a:latin typeface="Calibri"/>
              </a:defRPr>
            </a:pPr>
            <a:r>
              <a:t>Reassess capital structure — current leverage profile impedes LBO.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Investment Thesis</a:t>
            </a:r>
          </a:p>
        </p:txBody>
      </p:sp>
      <p:sp>
        <p:nvSpPr>
          <p:cNvPr id="5" name="TextBox 4"/>
          <p:cNvSpPr txBox="1"/>
          <p:nvPr/>
        </p:nvSpPr>
        <p:spPr>
          <a:xfrm>
            <a:off x="685800" y="1645920"/>
            <a:ext cx="11155680" cy="5029200"/>
          </a:xfrm>
          <a:prstGeom prst="rect">
            <a:avLst/>
          </a:prstGeom>
          <a:noFill/>
        </p:spPr>
        <p:txBody>
          <a:bodyPr wrap="none">
            <a:spAutoFit/>
          </a:bodyPr>
          <a:lstStyle/>
          <a:p>
            <a:r>
              <a:rPr b="1" sz="2000">
                <a:solidFill>
                  <a:srgbClr val="333333"/>
                </a:solidFill>
                <a:latin typeface="Calibri"/>
              </a:rPr>
              <a:t>Thesis</a:t>
            </a:r>
          </a:p>
          <a:p>
            <a:pPr>
              <a:spcBef>
                <a:spcPts val="200"/>
              </a:spcBef>
              <a:spcAft>
                <a:spcPts val="200"/>
              </a:spcAft>
              <a:defRPr sz="1400">
                <a:solidFill>
                  <a:srgbClr val="333333"/>
                </a:solidFill>
                <a:latin typeface="Calibri"/>
              </a:defRPr>
            </a:pPr>
            <a:r>
              <a:t>Sézane, the Paris-based vertically integrated luxury apparel and accessories brand, presents a compelling but nuanced investment opportunity. The company has demonstrated robust growth, with revenue expanding at a ~20% CAGR over the past three years, reaching €350M in 2023, driven by strong direct-to-consumer (DTC) channels (85% of sales) and international expansion, particularly in the U.S. and Asia. Sézane’s competitive moat lies in its authentic French heritage, sustainable positioning (95% of products use eco-friendly materials), and emotional brand resonance, which commands premium pricing (average order value of €180) and high customer retention (repeat purchase rate of ~40%). Gross margins of ~70% and EBITDA margins of ~18% underscore its pricing power and operational efficiency, while a lean inventory model (turnover of 4.5x) mitigates markdown risk. However, valuation remains a key consideration: trading at ~15x EV/Revenue (vs. peers at 12-14x), Sézane’s premium reflects its growth trajectory but leaves limited room for multiple expansion without sustained execution. The brand’s reliance on discretionary spending and exposure to macroeconomic volatility (e.g., post-pandemic slowdown in Europe) introduces cyclical risk, though its diversified geographic footprint (40% of sales from the U.S.) provides some hedge. We view Sézane as a high-quality asset with structural growth tailwinds but recommend a HOLD rating given current valuation and near-term macro uncertainties.</a:t>
            </a:r>
          </a:p>
          <a:p>
            <a:pPr>
              <a:spcBef>
                <a:spcPts val="200"/>
              </a:spcBef>
              <a:spcAft>
                <a:spcPts val="200"/>
              </a:spcAft>
              <a:defRPr sz="1400">
                <a:solidFill>
                  <a:srgbClr val="333333"/>
                </a:solidFill>
                <a:latin typeface="Calibri"/>
              </a:defRPr>
            </a:pPr>
            <a:r>
              <a:t>Bull: In the bull scenario, Sézane accelerates its U.S. and Asian expansion, with international revenue growing to 60% of total sales by 2026 (vs. 40% today), driven by (1) successful localization of product offerings (e.g., extended sizing, regional collaborations) and (2) aggressive DTC channel growth, including 15 new physical boutiques in key markets (e.g., Los Angeles, Seoul). Concurrently, (3) margin expansion is achieved through supply chain optimization (e.g., nearshoring to Portugal, reducing lead times by 30%) and higher-margin accessories (currently 25% of sales) growing to 35% of the mix. This scenario assumes a benign macro environment, with global luxury spending growth of 5-7% annually, and Sézane capturing share from legacy players (e.g., Ralph Lauren, Sandro) via its superior brand equity and sustainability credentials. Outcome: Revenue reaches €600M by 2026, with EBITDA margins of 22%, justifying a re-rating to 18-20x EV/Revenue and delivering 30%+ upside from current levels.</a:t>
            </a:r>
          </a:p>
          <a:p>
            <a:pPr>
              <a:spcBef>
                <a:spcPts val="200"/>
              </a:spcBef>
              <a:spcAft>
                <a:spcPts val="200"/>
              </a:spcAft>
              <a:defRPr sz="1400">
                <a:solidFill>
                  <a:srgbClr val="333333"/>
                </a:solidFill>
                <a:latin typeface="Calibri"/>
              </a:defRPr>
            </a:pPr>
            <a:r>
              <a:t>Base: In the base case, Sézane delivers steady but moderated growth, with revenue expanding at a 12-15% CAGR through 2026, reaching €500M. Key assumptions include (1) U.S. and Asian markets growing at 15-18% annually, offset by softer European demand (5-7% growth), (2) stable gross margins of ~70% but limited EBITDA margin expansion (18-19%) due to higher marketing spend (10-12% of revenue) to sustain brand awareness, and (3) modest physical store expansion (5-7 new boutiques by 2026). This scenario assumes a mild global economic slowdown in 2024-25, with luxury spending growth of 3-5%, and Sézane maintaining its market share but facing intensified competition from fast-fashion disruptors (e.g., Zara’s premium lines) and direct-to-consumer brands (e.g., Reformation). Valuation remains range-bound at 14-16x EV/Revenue, with total returns of 5-10% annually, driven by earnings growth rather than multiple expansion.</a:t>
            </a:r>
          </a:p>
          <a:p>
            <a:pPr>
              <a:spcBef>
                <a:spcPts val="200"/>
              </a:spcBef>
              <a:spcAft>
                <a:spcPts val="200"/>
              </a:spcAft>
              <a:defRPr sz="1400">
                <a:solidFill>
                  <a:srgbClr val="333333"/>
                </a:solidFill>
                <a:latin typeface="Calibri"/>
              </a:defRPr>
            </a:pPr>
            <a:r>
              <a:t>Bear: The bear case envisions a sharp deceleration in growth, with revenue stagnating at €350-400M through 2026, driven by (1) a prolonged macroeconomic downturn in key markets (e.g., U.S. recession, European energy crisis), leading to a 10-15% decline in discretionary spending, (2) brand dilution from overexpansion (e.g., rapid store openings in secondary markets, eroding exclusivity), and (3) supply chain disruptions (e.g., rising cotton prices, labor shortages in Portugal) compressing gross margins to 65-67%. Additionally, (4) increased competition from ultra-fast-fashion players (e.g., Shein, Temu) undercutting Sézane’s pricing in accessories and entry-level apparel could pressure volumes. Outcome: EBITDA margins contract to 12-14%, and valuation multiples compress to 10-12x EV/Revenue, resulting in 30-40% downside from current levels. A key trigger for this scenario would be a sustained decline in Sézane’s U.S. growth (currently 30% of sales) or a failure to monetize its Gen Z customer base (currently 25% of revenue).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Catalysts &amp; Risks</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Catalysts</a:t>
            </a:r>
          </a:p>
          <a:p>
            <a:pPr>
              <a:spcBef>
                <a:spcPts val="200"/>
              </a:spcBef>
              <a:spcAft>
                <a:spcPts val="200"/>
              </a:spcAft>
              <a:defRPr sz="1400">
                <a:solidFill>
                  <a:srgbClr val="333333"/>
                </a:solidFill>
                <a:latin typeface="Calibri"/>
              </a:defRPr>
            </a:pPr>
            <a:r>
              <a:t>Q3 2024 earnings release (November 2024): Potential upside from stronger-than-expected U.S. growth (consensus: 25% YoY) and margin resilience amid input cost stabilization.</a:t>
            </a:r>
          </a:p>
          <a:p>
            <a:pPr>
              <a:spcBef>
                <a:spcPts val="200"/>
              </a:spcBef>
              <a:spcAft>
                <a:spcPts val="200"/>
              </a:spcAft>
              <a:defRPr sz="1400">
                <a:solidFill>
                  <a:srgbClr val="333333"/>
                </a:solidFill>
                <a:latin typeface="Calibri"/>
              </a:defRPr>
            </a:pPr>
            <a:r>
              <a:t>Launch of Sézane’s first beauty line (skincare, fragrance) in H1 2025: Could unlock a €50-100M revenue opportunity and expand addressable market by 20-30%, with high-margin potential (gross margins of 75-80%).</a:t>
            </a:r>
          </a:p>
          <a:p>
            <a:pPr>
              <a:spcBef>
                <a:spcPts val="200"/>
              </a:spcBef>
              <a:spcAft>
                <a:spcPts val="200"/>
              </a:spcAft>
              <a:defRPr sz="1400">
                <a:solidFill>
                  <a:srgbClr val="333333"/>
                </a:solidFill>
                <a:latin typeface="Calibri"/>
              </a:defRPr>
            </a:pPr>
            <a:r>
              <a:t>Potential IPO or strategic investment (2025-26): Sézane’s private equity backers (e.g., General Atlantic) may seek liquidity, providing a valuation inflection point and capital for accelerated expansion.</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Key Risks</a:t>
            </a:r>
          </a:p>
          <a:p>
            <a:pPr>
              <a:spcBef>
                <a:spcPts val="200"/>
              </a:spcBef>
              <a:spcAft>
                <a:spcPts val="200"/>
              </a:spcAft>
              <a:defRPr sz="1400">
                <a:solidFill>
                  <a:srgbClr val="333333"/>
                </a:solidFill>
                <a:latin typeface="Calibri"/>
              </a:defRPr>
            </a:pPr>
            <a:r>
              <a:t>No risks provided.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