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Longchamp</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April 24, 2026 | Luxury Goods</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Longchamp is a French family-owned luxury goods company known for its high-quality leather goods, especially its iconic Pliage line of handbags. Founded in 1948, the company has grown into an international brand with a strong presence in over 80 countries.</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HOLD | Target: 1550000000 | Upside/Downside: +3.3% | Current: 1500000000_estimate_EUR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Longchamp operates a vertically integrated business model, designing, manufacturing, and distributing its products globally. The company generates revenue through direct-to-consumer sales via its own retail stores and e-commerce platform, as well as through wholesale partnerships with department stores and specialty retailers. A significant portion of Longchamp's income comes from its best-selling Pliage line, which is priced in the mid-to-high luxury segment. The brand also licenses its name for select accessories and apparel, further diversifying its revenue streams. Longchamp reinvests heavily in brand marketing, store design, and product innovation to maintain its premium positioning and customer loyalty.</a:t>
            </a:r>
          </a:p>
          <a:p>
            <a:pPr>
              <a:spcBef>
                <a:spcPts val="200"/>
              </a:spcBef>
              <a:spcAft>
                <a:spcPts val="200"/>
              </a:spcAft>
              <a:defRPr sz="1400">
                <a:solidFill>
                  <a:srgbClr val="333333"/>
                </a:solidFill>
                <a:latin typeface="Calibri"/>
              </a:defRPr>
            </a:pPr>
            <a:r>
              <a:t>Founded: 1948</a:t>
            </a:r>
          </a:p>
          <a:p>
            <a:pPr>
              <a:spcBef>
                <a:spcPts val="200"/>
              </a:spcBef>
              <a:spcAft>
                <a:spcPts val="200"/>
              </a:spcAft>
              <a:defRPr sz="1400">
                <a:solidFill>
                  <a:srgbClr val="333333"/>
                </a:solidFill>
                <a:latin typeface="Calibri"/>
              </a:defRPr>
            </a:pPr>
            <a:r>
              <a:t>HQ: Paris, France</a:t>
            </a:r>
          </a:p>
          <a:p>
            <a:pPr>
              <a:spcBef>
                <a:spcPts val="200"/>
              </a:spcBef>
              <a:spcAft>
                <a:spcPts val="200"/>
              </a:spcAft>
              <a:defRPr sz="1400">
                <a:solidFill>
                  <a:srgbClr val="333333"/>
                </a:solidFill>
                <a:latin typeface="Calibri"/>
              </a:defRPr>
            </a:pPr>
            <a:r>
              <a:t>Employees: approximately 3,500</a:t>
            </a:r>
          </a:p>
          <a:p>
            <a:pPr>
              <a:spcBef>
                <a:spcPts val="200"/>
              </a:spcBef>
              <a:spcAft>
                <a:spcPts val="200"/>
              </a:spcAft>
              <a:defRPr sz="1400">
                <a:solidFill>
                  <a:srgbClr val="333333"/>
                </a:solidFill>
                <a:latin typeface="Calibri"/>
              </a:defRPr>
            </a:pPr>
            <a:r>
              <a:t>Ticker: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Strong brand heritage and family ownership, enabling long-term strategic decisions</a:t>
            </a:r>
          </a:p>
          <a:p>
            <a:pPr>
              <a:spcBef>
                <a:spcPts val="200"/>
              </a:spcBef>
              <a:spcAft>
                <a:spcPts val="200"/>
              </a:spcAft>
              <a:defRPr sz="1400">
                <a:solidFill>
                  <a:srgbClr val="333333"/>
                </a:solidFill>
                <a:latin typeface="Calibri"/>
              </a:defRPr>
            </a:pPr>
            <a:r>
              <a:t>Iconic and recognizable product designs, especially the Pliage handbag line</a:t>
            </a:r>
          </a:p>
          <a:p>
            <a:pPr>
              <a:spcBef>
                <a:spcPts val="200"/>
              </a:spcBef>
              <a:spcAft>
                <a:spcPts val="200"/>
              </a:spcAft>
              <a:defRPr sz="1400">
                <a:solidFill>
                  <a:srgbClr val="333333"/>
                </a:solidFill>
                <a:latin typeface="Calibri"/>
              </a:defRPr>
            </a:pPr>
            <a:r>
              <a:t>Vertically integrated supply chain, ensuring quality control and cost efficiency</a:t>
            </a:r>
          </a:p>
          <a:p>
            <a:pPr>
              <a:spcBef>
                <a:spcPts val="200"/>
              </a:spcBef>
              <a:spcAft>
                <a:spcPts val="200"/>
              </a:spcAft>
              <a:defRPr sz="1400">
                <a:solidFill>
                  <a:srgbClr val="333333"/>
                </a:solidFill>
                <a:latin typeface="Calibri"/>
              </a:defRPr>
            </a:pPr>
            <a:r>
              <a:t>Global retail network with a focus on owned stores for brand control and customer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Approximately $350B (global luxury goods market, 2024 estimate)</a:t>
            </a:r>
          </a:p>
          <a:p>
            <a:pPr>
              <a:spcBef>
                <a:spcPts val="200"/>
              </a:spcBef>
              <a:spcAft>
                <a:spcPts val="200"/>
              </a:spcAft>
              <a:defRPr sz="1400">
                <a:solidFill>
                  <a:srgbClr val="333333"/>
                </a:solidFill>
                <a:latin typeface="Calibri"/>
              </a:defRPr>
            </a:pPr>
            <a:r>
              <a:t>Growth (CAGR): 6-8% CAGR (2024-2027, McKinsey &amp; Company)</a:t>
            </a:r>
          </a:p>
          <a:p>
            <a:pPr>
              <a:spcBef>
                <a:spcPts val="200"/>
              </a:spcBef>
              <a:spcAft>
                <a:spcPts val="200"/>
              </a:spcAft>
              <a:defRPr sz="1400">
                <a:solidFill>
                  <a:srgbClr val="333333"/>
                </a:solidFill>
                <a:latin typeface="Calibri"/>
              </a:defRPr>
            </a:pPr>
            <a:r>
              <a:t>Segment: Luxury leather goods, handbags, and accessories</a:t>
            </a:r>
          </a:p>
          <a:p>
            <a:pPr>
              <a:spcBef>
                <a:spcPts val="200"/>
              </a:spcBef>
              <a:spcAft>
                <a:spcPts val="200"/>
              </a:spcAft>
              <a:defRPr sz="1400">
                <a:solidFill>
                  <a:srgbClr val="333333"/>
                </a:solidFill>
                <a:latin typeface="Calibri"/>
              </a:defRPr>
            </a:pPr>
            <a:r>
              <a:t>Company share: 1-2% (estimated for Longchamp in luxury leather goods)</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Sustainability and ethical sourcing gaining importance</a:t>
            </a:r>
          </a:p>
          <a:p>
            <a:pPr>
              <a:spcBef>
                <a:spcPts val="200"/>
              </a:spcBef>
              <a:spcAft>
                <a:spcPts val="200"/>
              </a:spcAft>
              <a:defRPr sz="1400">
                <a:solidFill>
                  <a:srgbClr val="333333"/>
                </a:solidFill>
                <a:latin typeface="Calibri"/>
              </a:defRPr>
            </a:pPr>
            <a:r>
              <a:t>Digital transformation and e-commerce growth</a:t>
            </a:r>
          </a:p>
          <a:p>
            <a:pPr>
              <a:spcBef>
                <a:spcPts val="200"/>
              </a:spcBef>
              <a:spcAft>
                <a:spcPts val="200"/>
              </a:spcAft>
              <a:defRPr sz="1400">
                <a:solidFill>
                  <a:srgbClr val="333333"/>
                </a:solidFill>
                <a:latin typeface="Calibri"/>
              </a:defRPr>
            </a:pPr>
            <a:r>
              <a:t>Rise of 'quiet luxury' and understated branding</a:t>
            </a:r>
          </a:p>
          <a:p>
            <a:pPr>
              <a:spcBef>
                <a:spcPts val="200"/>
              </a:spcBef>
              <a:spcAft>
                <a:spcPts val="200"/>
              </a:spcAft>
              <a:defRPr sz="1400">
                <a:solidFill>
                  <a:srgbClr val="333333"/>
                </a:solidFill>
                <a:latin typeface="Calibri"/>
              </a:defRPr>
            </a:pPr>
            <a:r>
              <a:t>Increased demand for vintage and pre-owned luxury goods</a:t>
            </a:r>
          </a:p>
          <a:p>
            <a:pPr>
              <a:spcBef>
                <a:spcPts val="200"/>
              </a:spcBef>
              <a:spcAft>
                <a:spcPts val="200"/>
              </a:spcAft>
              <a:defRPr sz="1400">
                <a:solidFill>
                  <a:srgbClr val="333333"/>
                </a:solidFill>
                <a:latin typeface="Calibri"/>
              </a:defRPr>
            </a:pPr>
            <a:r>
              <a:t>Personalization and customization of luxury products</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Louis Vuitton (15-18%)</a:t>
            </a:r>
          </a:p>
          <a:p>
            <a:pPr>
              <a:spcBef>
                <a:spcPts val="200"/>
              </a:spcBef>
              <a:spcAft>
                <a:spcPts val="200"/>
              </a:spcAft>
              <a:defRPr sz="1400">
                <a:solidFill>
                  <a:srgbClr val="333333"/>
                </a:solidFill>
                <a:latin typeface="Calibri"/>
              </a:defRPr>
            </a:pPr>
            <a:r>
              <a:t>Hermès (10-12%)</a:t>
            </a:r>
          </a:p>
          <a:p>
            <a:pPr>
              <a:spcBef>
                <a:spcPts val="200"/>
              </a:spcBef>
              <a:spcAft>
                <a:spcPts val="200"/>
              </a:spcAft>
              <a:defRPr sz="1400">
                <a:solidFill>
                  <a:srgbClr val="333333"/>
                </a:solidFill>
                <a:latin typeface="Calibri"/>
              </a:defRPr>
            </a:pPr>
            <a:r>
              <a:t>Gucci (8-10%)</a:t>
            </a:r>
          </a:p>
          <a:p>
            <a:pPr>
              <a:spcBef>
                <a:spcPts val="200"/>
              </a:spcBef>
              <a:spcAft>
                <a:spcPts val="200"/>
              </a:spcAft>
              <a:defRPr sz="1400">
                <a:solidFill>
                  <a:srgbClr val="333333"/>
                </a:solidFill>
                <a:latin typeface="Calibri"/>
              </a:defRPr>
            </a:pPr>
            <a:r>
              <a:t>Chanel (7-9%)</a:t>
            </a:r>
          </a:p>
          <a:p>
            <a:pPr>
              <a:spcBef>
                <a:spcPts val="200"/>
              </a:spcBef>
              <a:spcAft>
                <a:spcPts val="200"/>
              </a:spcAft>
              <a:defRPr sz="1400">
                <a:solidFill>
                  <a:srgbClr val="333333"/>
                </a:solidFill>
                <a:latin typeface="Calibri"/>
              </a:defRPr>
            </a:pPr>
            <a:r>
              <a:t>Coach (4-6%)</a:t>
            </a:r>
          </a:p>
          <a:p>
            <a:pPr>
              <a:spcBef>
                <a:spcPts val="200"/>
              </a:spcBef>
              <a:spcAft>
                <a:spcPts val="200"/>
              </a:spcAft>
              <a:defRPr sz="1400">
                <a:solidFill>
                  <a:srgbClr val="333333"/>
                </a:solidFill>
                <a:latin typeface="Calibri"/>
              </a:defRPr>
            </a:pPr>
            <a:r>
              <a:t>Prada (4-6%)</a:t>
            </a:r>
          </a:p>
          <a:p>
            <a:pPr>
              <a:spcBef>
                <a:spcPts val="200"/>
              </a:spcBef>
              <a:spcAft>
                <a:spcPts val="200"/>
              </a:spcAft>
              <a:defRPr sz="1400">
                <a:solidFill>
                  <a:srgbClr val="333333"/>
                </a:solidFill>
                <a:latin typeface="Calibri"/>
              </a:defRPr>
            </a:pPr>
            <a:r>
              <a:t>Michael Kors (3-5%)</a:t>
            </a:r>
          </a:p>
          <a:p>
            <a:pPr>
              <a:spcBef>
                <a:spcPts val="200"/>
              </a:spcBef>
              <a:spcAft>
                <a:spcPts val="200"/>
              </a:spcAft>
              <a:defRPr sz="1400">
                <a:solidFill>
                  <a:srgbClr val="333333"/>
                </a:solidFill>
                <a:latin typeface="Calibri"/>
              </a:defRPr>
            </a:pPr>
            <a:r>
              <a:t>Furla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118872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1188720">
                <a:tc>
                  <a:txBody>
                    <a:bodyPr/>
                    <a:lstStyle/>
                    <a:p>
                      <a:pPr>
                        <a:defRPr sz="1100">
                          <a:solidFill>
                            <a:srgbClr val="333333"/>
                          </a:solidFill>
                          <a:latin typeface="Calibri"/>
                        </a:defRPr>
                      </a:pPr>
                      <a:r>
                        <a:t>2026</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1188720">
                <a:tc>
                  <a:txBody>
                    <a:bodyPr/>
                    <a:lstStyle/>
                    <a:p>
                      <a:pPr>
                        <a:defRPr sz="1100">
                          <a:solidFill>
                            <a:srgbClr val="333333"/>
                          </a:solidFill>
                          <a:latin typeface="Calibri"/>
                        </a:defRPr>
                      </a:pPr>
                      <a:r>
                        <a:t>2027</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1188720">
                <a:tc>
                  <a:txBody>
                    <a:bodyPr/>
                    <a:lstStyle/>
                    <a:p>
                      <a:pPr>
                        <a:defRPr sz="1100">
                          <a:solidFill>
                            <a:srgbClr val="333333"/>
                          </a:solidFill>
                          <a:latin typeface="Calibri"/>
                        </a:defRPr>
                      </a:pPr>
                      <a:r>
                        <a:t>2028</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value: 1550000000</a:t>
            </a:r>
          </a:p>
          <a:p>
            <a:pPr>
              <a:spcBef>
                <a:spcPts val="200"/>
              </a:spcBef>
              <a:spcAft>
                <a:spcPts val="200"/>
              </a:spcAft>
              <a:defRPr sz="1400">
                <a:solidFill>
                  <a:srgbClr val="333333"/>
                </a:solidFill>
                <a:latin typeface="Calibri"/>
              </a:defRPr>
            </a:pPr>
            <a:r>
              <a:t>Upside/Downside: +3.3%</a:t>
            </a:r>
          </a:p>
          <a:p>
            <a:pPr>
              <a:spcBef>
                <a:spcPts val="200"/>
              </a:spcBef>
              <a:spcAft>
                <a:spcPts val="200"/>
              </a:spcAft>
              <a:defRPr sz="1400">
                <a:solidFill>
                  <a:srgbClr val="333333"/>
                </a:solidFill>
                <a:latin typeface="Calibri"/>
              </a:defRPr>
            </a:pPr>
            <a:r>
              <a:t>Recommendation: HOLD</a:t>
            </a:r>
          </a:p>
          <a:p>
            <a:pPr>
              <a:spcBef>
                <a:spcPts val="200"/>
              </a:spcBef>
              <a:spcAft>
                <a:spcPts val="200"/>
              </a:spcAft>
              <a:defRPr sz="1400">
                <a:solidFill>
                  <a:srgbClr val="333333"/>
                </a:solidFill>
                <a:latin typeface="Calibri"/>
              </a:defRPr>
            </a:pPr>
            <a:r>
              <a:t>Currency: EUR</a:t>
            </a:r>
          </a:p>
          <a:p>
            <a:pPr>
              <a:spcBef>
                <a:spcPts val="200"/>
              </a:spcBef>
              <a:spcAft>
                <a:spcPts val="200"/>
              </a:spcAft>
              <a:defRPr sz="1400">
                <a:solidFill>
                  <a:srgbClr val="333333"/>
                </a:solidFill>
                <a:latin typeface="Calibri"/>
              </a:defRPr>
            </a:pPr>
            <a:r>
              <a:t>DCF: WACC 10%, TGR 2%</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950976">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950976">
                <a:tc>
                  <a:txBody>
                    <a:bodyPr/>
                    <a:lstStyle/>
                    <a:p>
                      <a:pPr>
                        <a:defRPr sz="1100">
                          <a:solidFill>
                            <a:srgbClr val="333333"/>
                          </a:solidFill>
                          <a:latin typeface="Calibri"/>
                        </a:defRPr>
                      </a:pPr>
                      <a:r>
                        <a:t>DCF (5Y)</a:t>
                      </a:r>
                    </a:p>
                  </a:txBody>
                  <a:tcPr>
                    <a:solidFill>
                      <a:srgbClr val="FFFFFF"/>
                    </a:solidFill>
                  </a:tcPr>
                </a:tc>
                <a:tc>
                  <a:txBody>
                    <a:bodyPr/>
                    <a:lstStyle/>
                    <a:p>
                      <a:pPr>
                        <a:defRPr sz="1100">
                          <a:solidFill>
                            <a:srgbClr val="333333"/>
                          </a:solidFill>
                          <a:latin typeface="Calibri"/>
                        </a:defRPr>
                      </a:pPr>
                      <a:r>
                        <a:t>1200000000</a:t>
                      </a:r>
                    </a:p>
                  </a:txBody>
                  <a:tcPr>
                    <a:solidFill>
                      <a:srgbClr val="FFFFFF"/>
                    </a:solidFill>
                  </a:tcPr>
                </a:tc>
                <a:tc>
                  <a:txBody>
                    <a:bodyPr/>
                    <a:lstStyle/>
                    <a:p>
                      <a:pPr>
                        <a:defRPr sz="1100">
                          <a:solidFill>
                            <a:srgbClr val="333333"/>
                          </a:solidFill>
                          <a:latin typeface="Calibri"/>
                        </a:defRPr>
                      </a:pPr>
                      <a:r>
                        <a:t>1500000000</a:t>
                      </a:r>
                    </a:p>
                  </a:txBody>
                  <a:tcPr>
                    <a:solidFill>
                      <a:srgbClr val="FFFFFF"/>
                    </a:solidFill>
                  </a:tcPr>
                </a:tc>
                <a:tc>
                  <a:txBody>
                    <a:bodyPr/>
                    <a:lstStyle/>
                    <a:p>
                      <a:pPr>
                        <a:defRPr sz="1100">
                          <a:solidFill>
                            <a:srgbClr val="333333"/>
                          </a:solidFill>
                          <a:latin typeface="Calibri"/>
                        </a:defRPr>
                      </a:pPr>
                      <a:r>
                        <a:t>1800000000</a:t>
                      </a:r>
                    </a:p>
                  </a:txBody>
                  <a:tcPr>
                    <a:solidFill>
                      <a:srgbClr val="FFFFFF"/>
                    </a:solidFill>
                  </a:tcPr>
                </a:tc>
                <a:tc>
                  <a:txBody>
                    <a:bodyPr/>
                    <a:lstStyle/>
                    <a:p>
                      <a:pPr>
                        <a:defRPr sz="1100">
                          <a:solidFill>
                            <a:srgbClr val="333333"/>
                          </a:solidFill>
                          <a:latin typeface="Calibri"/>
                        </a:defRPr>
                      </a:pPr>
                      <a:r>
                        <a:t>40%</a:t>
                      </a:r>
                    </a:p>
                  </a:txBody>
                  <a:tcPr>
                    <a:solidFill>
                      <a:srgbClr val="FFFFFF"/>
                    </a:solidFill>
                  </a:tcPr>
                </a:tc>
              </a:tr>
              <a:tr h="950976">
                <a:tc>
                  <a:txBody>
                    <a:bodyPr/>
                    <a:lstStyle/>
                    <a:p>
                      <a:pPr>
                        <a:defRPr sz="1100">
                          <a:solidFill>
                            <a:srgbClr val="333333"/>
                          </a:solidFill>
                          <a:latin typeface="Calibri"/>
                        </a:defRPr>
                      </a:pPr>
                      <a:r>
                        <a:t>EV/EBITDA Comps</a:t>
                      </a:r>
                    </a:p>
                  </a:txBody>
                  <a:tcPr>
                    <a:solidFill>
                      <a:srgbClr val="FAFAFA"/>
                    </a:solidFill>
                  </a:tcPr>
                </a:tc>
                <a:tc>
                  <a:txBody>
                    <a:bodyPr/>
                    <a:lstStyle/>
                    <a:p>
                      <a:pPr>
                        <a:defRPr sz="1100">
                          <a:solidFill>
                            <a:srgbClr val="333333"/>
                          </a:solidFill>
                          <a:latin typeface="Calibri"/>
                        </a:defRPr>
                      </a:pPr>
                      <a:r>
                        <a:t>1300000000</a:t>
                      </a:r>
                    </a:p>
                  </a:txBody>
                  <a:tcPr>
                    <a:solidFill>
                      <a:srgbClr val="FAFAFA"/>
                    </a:solidFill>
                  </a:tcPr>
                </a:tc>
                <a:tc>
                  <a:txBody>
                    <a:bodyPr/>
                    <a:lstStyle/>
                    <a:p>
                      <a:pPr>
                        <a:defRPr sz="1100">
                          <a:solidFill>
                            <a:srgbClr val="333333"/>
                          </a:solidFill>
                          <a:latin typeface="Calibri"/>
                        </a:defRPr>
                      </a:pPr>
                      <a:r>
                        <a:t>1600000000</a:t>
                      </a:r>
                    </a:p>
                  </a:txBody>
                  <a:tcPr>
                    <a:solidFill>
                      <a:srgbClr val="FAFAFA"/>
                    </a:solidFill>
                  </a:tcPr>
                </a:tc>
                <a:tc>
                  <a:txBody>
                    <a:bodyPr/>
                    <a:lstStyle/>
                    <a:p>
                      <a:pPr>
                        <a:defRPr sz="1100">
                          <a:solidFill>
                            <a:srgbClr val="333333"/>
                          </a:solidFill>
                          <a:latin typeface="Calibri"/>
                        </a:defRPr>
                      </a:pPr>
                      <a:r>
                        <a:t>1900000000</a:t>
                      </a:r>
                    </a:p>
                  </a:txBody>
                  <a:tcPr>
                    <a:solidFill>
                      <a:srgbClr val="FAFAFA"/>
                    </a:solidFill>
                  </a:tcPr>
                </a:tc>
                <a:tc>
                  <a:txBody>
                    <a:bodyPr/>
                    <a:lstStyle/>
                    <a:p>
                      <a:pPr>
                        <a:defRPr sz="1100">
                          <a:solidFill>
                            <a:srgbClr val="333333"/>
                          </a:solidFill>
                          <a:latin typeface="Calibri"/>
                        </a:defRPr>
                      </a:pPr>
                      <a:r>
                        <a:t>30%</a:t>
                      </a:r>
                    </a:p>
                  </a:txBody>
                  <a:tcPr>
                    <a:solidFill>
                      <a:srgbClr val="FAFAFA"/>
                    </a:solidFill>
                  </a:tcPr>
                </a:tc>
              </a:tr>
              <a:tr h="950976">
                <a:tc>
                  <a:txBody>
                    <a:bodyPr/>
                    <a:lstStyle/>
                    <a:p>
                      <a:pPr>
                        <a:defRPr sz="1100">
                          <a:solidFill>
                            <a:srgbClr val="333333"/>
                          </a:solidFill>
                          <a:latin typeface="Calibri"/>
                        </a:defRPr>
                      </a:pPr>
                      <a:r>
                        <a:t>EV/Revenue Comps</a:t>
                      </a:r>
                    </a:p>
                  </a:txBody>
                  <a:tcPr>
                    <a:solidFill>
                      <a:srgbClr val="FFFFFF"/>
                    </a:solidFill>
                  </a:tcPr>
                </a:tc>
                <a:tc>
                  <a:txBody>
                    <a:bodyPr/>
                    <a:lstStyle/>
                    <a:p>
                      <a:pPr>
                        <a:defRPr sz="1100">
                          <a:solidFill>
                            <a:srgbClr val="333333"/>
                          </a:solidFill>
                          <a:latin typeface="Calibri"/>
                        </a:defRPr>
                      </a:pPr>
                      <a:r>
                        <a:t>1400000000</a:t>
                      </a:r>
                    </a:p>
                  </a:txBody>
                  <a:tcPr>
                    <a:solidFill>
                      <a:srgbClr val="FFFFFF"/>
                    </a:solidFill>
                  </a:tcPr>
                </a:tc>
                <a:tc>
                  <a:txBody>
                    <a:bodyPr/>
                    <a:lstStyle/>
                    <a:p>
                      <a:pPr>
                        <a:defRPr sz="1100">
                          <a:solidFill>
                            <a:srgbClr val="333333"/>
                          </a:solidFill>
                          <a:latin typeface="Calibri"/>
                        </a:defRPr>
                      </a:pPr>
                      <a:r>
                        <a:t>1700000000</a:t>
                      </a:r>
                    </a:p>
                  </a:txBody>
                  <a:tcPr>
                    <a:solidFill>
                      <a:srgbClr val="FFFFFF"/>
                    </a:solidFill>
                  </a:tcPr>
                </a:tc>
                <a:tc>
                  <a:txBody>
                    <a:bodyPr/>
                    <a:lstStyle/>
                    <a:p>
                      <a:pPr>
                        <a:defRPr sz="1100">
                          <a:solidFill>
                            <a:srgbClr val="333333"/>
                          </a:solidFill>
                          <a:latin typeface="Calibri"/>
                        </a:defRPr>
                      </a:pPr>
                      <a:r>
                        <a:t>2000000000</a:t>
                      </a:r>
                    </a:p>
                  </a:txBody>
                  <a:tcPr>
                    <a:solidFill>
                      <a:srgbClr val="FFFFFF"/>
                    </a:solidFill>
                  </a:tcPr>
                </a:tc>
                <a:tc>
                  <a:txBody>
                    <a:bodyPr/>
                    <a:lstStyle/>
                    <a:p>
                      <a:pPr>
                        <a:defRPr sz="1100">
                          <a:solidFill>
                            <a:srgbClr val="333333"/>
                          </a:solidFill>
                          <a:latin typeface="Calibri"/>
                        </a:defRPr>
                      </a:pPr>
                      <a:r>
                        <a:t>20%</a:t>
                      </a:r>
                    </a:p>
                  </a:txBody>
                  <a:tcPr>
                    <a:solidFill>
                      <a:srgbClr val="FFFFFF"/>
                    </a:solidFill>
                  </a:tcPr>
                </a:tc>
              </a:tr>
              <a:tr h="950976">
                <a:tc>
                  <a:txBody>
                    <a:bodyPr/>
                    <a:lstStyle/>
                    <a:p>
                      <a:pPr>
                        <a:defRPr sz="1100">
                          <a:solidFill>
                            <a:srgbClr val="333333"/>
                          </a:solidFill>
                          <a:latin typeface="Calibri"/>
                        </a:defRPr>
                      </a:pPr>
                      <a:r>
                        <a:t>Precedent Transactions</a:t>
                      </a:r>
                    </a:p>
                  </a:txBody>
                  <a:tcPr>
                    <a:solidFill>
                      <a:srgbClr val="FAFAFA"/>
                    </a:solidFill>
                  </a:tcPr>
                </a:tc>
                <a:tc>
                  <a:txBody>
                    <a:bodyPr/>
                    <a:lstStyle/>
                    <a:p>
                      <a:pPr>
                        <a:defRPr sz="1100">
                          <a:solidFill>
                            <a:srgbClr val="333333"/>
                          </a:solidFill>
                          <a:latin typeface="Calibri"/>
                        </a:defRPr>
                      </a:pPr>
                      <a:r>
                        <a:t>1500000000</a:t>
                      </a:r>
                    </a:p>
                  </a:txBody>
                  <a:tcPr>
                    <a:solidFill>
                      <a:srgbClr val="FAFAFA"/>
                    </a:solidFill>
                  </a:tcPr>
                </a:tc>
                <a:tc>
                  <a:txBody>
                    <a:bodyPr/>
                    <a:lstStyle/>
                    <a:p>
                      <a:pPr>
                        <a:defRPr sz="1100">
                          <a:solidFill>
                            <a:srgbClr val="333333"/>
                          </a:solidFill>
                          <a:latin typeface="Calibri"/>
                        </a:defRPr>
                      </a:pPr>
                      <a:r>
                        <a:t>1800000000</a:t>
                      </a:r>
                    </a:p>
                  </a:txBody>
                  <a:tcPr>
                    <a:solidFill>
                      <a:srgbClr val="FAFAFA"/>
                    </a:solidFill>
                  </a:tcPr>
                </a:tc>
                <a:tc>
                  <a:txBody>
                    <a:bodyPr/>
                    <a:lstStyle/>
                    <a:p>
                      <a:pPr>
                        <a:defRPr sz="1100">
                          <a:solidFill>
                            <a:srgbClr val="333333"/>
                          </a:solidFill>
                          <a:latin typeface="Calibri"/>
                        </a:defRPr>
                      </a:pPr>
                      <a:r>
                        <a:t>2100000000</a:t>
                      </a:r>
                    </a:p>
                  </a:txBody>
                  <a:tcPr>
                    <a:solidFill>
                      <a:srgbClr val="FAFAFA"/>
                    </a:solidFill>
                  </a:tcPr>
                </a:tc>
                <a:tc>
                  <a:txBody>
                    <a:bodyPr/>
                    <a:lstStyle/>
                    <a:p>
                      <a:pPr>
                        <a:defRPr sz="1100">
                          <a:solidFill>
                            <a:srgbClr val="333333"/>
                          </a:solidFill>
                          <a:latin typeface="Calibri"/>
                        </a:defRPr>
                      </a:pPr>
                      <a:r>
                        <a:t>10%</a:t>
                      </a:r>
                    </a:p>
                  </a:txBody>
                  <a:tcPr>
                    <a:solidFill>
                      <a:srgbClr val="FAFAF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Longchamp, a privately held French luxury leather goods brand, remains a compelling niche player in the global accessories market, distinguished by its heritage, strong brand equity, and focus on accessible luxury. With a history spanning over 75 years, Longchamp has cultivated a loyal customer base, particularly in Europe and Asia, driven by its iconic Le Pliage tote, which accounts for a significant portion of its revenue. While precise financials are not publicly disclosed, industry estimates suggest Longchamp generates approximately €600–700 million in annual revenue, with EBITDA margins in the mid-teens, reflecting its efficient operational model and premium pricing power. The brand’s competitive moat is underpinned by its vertically integrated supply chain, enabling high-quality production at scale, and a direct-to-consumer (DTC) strategy that has seen e-commerce sales grow to nearly 30% of total revenue, a critical lever in the post-pandemic retail landscape. However, Longchamp’s growth trajectory has been modest compared to peers like Coach or Michael Kors, with revenue growth estimated at 3–5% annually, constrained by its limited product diversification and underpenetrated markets such as the U.S. and China. Valuation support for a HOLD recommendation stems from its stable cash flows, low leverage, and private ownership structure, which insulates it from short-term public market volatility but also limits liquidity and transparency for investors. The brand’s valuation is likely in line with mid-tier luxury peers, trading at 8–10x EV/EBITDA, reflecting its niche positioning and growth constraints. While Longchamp’s financial trajectory is steady, its ability to accelerate growth hinges on successful market expansion and product innovation, particularly in categories beyond leather goods, such as ready-to-wear and footwear, where it has yet to establish a strong foothold.</a:t>
            </a:r>
          </a:p>
          <a:p>
            <a:pPr>
              <a:spcBef>
                <a:spcPts val="200"/>
              </a:spcBef>
              <a:spcAft>
                <a:spcPts val="200"/>
              </a:spcAft>
              <a:defRPr sz="1400">
                <a:solidFill>
                  <a:srgbClr val="333333"/>
                </a:solidFill>
                <a:latin typeface="Calibri"/>
              </a:defRPr>
            </a:pPr>
            <a:r>
              <a:t>Bull: The bull case for Longchamp centers on three concrete drivers: (1) **Accelerated international expansion**, particularly in the U.S. and China, where the brand’s market share remains below potential. A targeted push into these regions, leveraging localized marketing and strategic retail partnerships, could unlock 10–15% annual revenue growth. (2) **Product diversification and innovation**, with a focus on elevating its ready-to-wear and footwear lines to complement its core leather goods. Successful execution could expand its addressable market by 20–30% and improve gross margins through higher-margin categories. (3) **Digital and DTC growth**, with e-commerce and omnichannel initiatives driving a 5–7% uplift in same-store sales. If Longchamp achieves these milestones, revenue could surpass €800 million within three years, with EBITDA margins expanding to 18–20%, justifying a valuation multiple of 12–14x EV/EBITDA and delivering significant upside to stakeholders.</a:t>
            </a:r>
          </a:p>
          <a:p>
            <a:pPr>
              <a:spcBef>
                <a:spcPts val="200"/>
              </a:spcBef>
              <a:spcAft>
                <a:spcPts val="200"/>
              </a:spcAft>
              <a:defRPr sz="1400">
                <a:solidFill>
                  <a:srgbClr val="333333"/>
                </a:solidFill>
                <a:latin typeface="Calibri"/>
              </a:defRPr>
            </a:pPr>
            <a:r>
              <a:t>Base: In the base case, Longchamp continues to deliver steady, low-single-digit revenue growth, supported by organic expansion in its core European and Asian markets and modest gains in the U.S. The brand maintains its focus on the Le Pliage franchise, which remains a cash cow but limits upside from product innovation. E-commerce growth stabilizes at 5–7% annually, while brick-and-mortar retail sees flat to slightly negative same-store sales due to ongoing retail headwinds. EBITDA margins remain in the 14–16% range, as cost efficiencies are offset by investments in marketing and digital capabilities. Longchamp’s valuation remains anchored at 8–10x EV/EBITDA, reflecting its niche positioning and limited growth acceleration. The most likely outcome is a 3–5% annual revenue increase, with stable profitability and no material change in its competitive dynamics. This scenario supports a HOLD recommendation, with upside/downside of +3.3% based on modest multiple expansion or contraction.</a:t>
            </a:r>
          </a:p>
          <a:p>
            <a:pPr>
              <a:spcBef>
                <a:spcPts val="200"/>
              </a:spcBef>
              <a:spcAft>
                <a:spcPts val="200"/>
              </a:spcAft>
              <a:defRPr sz="1400">
                <a:solidFill>
                  <a:srgbClr val="333333"/>
                </a:solidFill>
                <a:latin typeface="Calibri"/>
              </a:defRPr>
            </a:pPr>
            <a:r>
              <a:t>Bear: The bear case for Longchamp is triggered by (1) **intensifying competition** from both accessible luxury peers (e.g., Coach, Furla) and fast-fashion brands (e.g., Zara, &amp; Other Stories) encroaching on its core leather goods segment, leading to market share erosion and pricing pressure. (2) **Failed expansion efforts**, particularly in the U.S. and China, where the brand struggles to resonate with local consumers, resulting in store closures and inventory write-downs. (3) **Supply chain disruptions or rising input costs**, which could compress margins if Longchamp is unable to pass on price increases to consumers. In this scenario, revenue growth stagnates or declines by 1–3% annually, with EBITDA margins falling to 10–12% due to higher promotional activity and lower full-price sell-through. Valuation multiples could contract to 6–8x EV/EBITDA, reflecting diminished growth prospects and increased risk, leading to a 10–15% downside for stakeholders.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Q4 2024 earnings and full-year results, which will provide insight into the success of Longchamp’s U.S. and China expansion efforts and the performance of its non-leather goods categories</a:t>
            </a:r>
          </a:p>
          <a:p>
            <a:pPr>
              <a:spcBef>
                <a:spcPts val="200"/>
              </a:spcBef>
              <a:spcAft>
                <a:spcPts val="200"/>
              </a:spcAft>
              <a:defRPr sz="1400">
                <a:solidFill>
                  <a:srgbClr val="333333"/>
                </a:solidFill>
                <a:latin typeface="Calibri"/>
              </a:defRPr>
            </a:pPr>
            <a:r>
              <a:t>Launch of a new ready-to-wear or footwear collection, which could signal the brand’s ability to diversify beyond its core leather goods segment and attract a broader customer base</a:t>
            </a:r>
          </a:p>
          <a:p>
            <a:pPr>
              <a:spcBef>
                <a:spcPts val="200"/>
              </a:spcBef>
              <a:spcAft>
                <a:spcPts val="200"/>
              </a:spcAft>
              <a:defRPr sz="1400">
                <a:solidFill>
                  <a:srgbClr val="333333"/>
                </a:solidFill>
                <a:latin typeface="Calibri"/>
              </a:defRPr>
            </a:pPr>
            <a:r>
              <a:t>Strategic retail partnerships or flagship store openings in key markets (e.g., New York, Shanghai), which could serve as a catalyst for accelerated international growth and brand visibility</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MED: Dependence on the Pliage line for a significant portion of revenue, making the brand vulnerable to shifts in consumer preferences for this product.</a:t>
            </a:r>
          </a:p>
          <a:p>
            <a:pPr>
              <a:spcBef>
                <a:spcPts val="200"/>
              </a:spcBef>
              <a:spcAft>
                <a:spcPts val="200"/>
              </a:spcAft>
              <a:defRPr sz="1400">
                <a:solidFill>
                  <a:srgbClr val="333333"/>
                </a:solidFill>
                <a:latin typeface="Calibri"/>
              </a:defRPr>
            </a:pPr>
            <a:r>
              <a:t>HIGH: Intense competition in the luxury goods sector from both heritage brands and fast-fashion disruptors, requiring continuous investment in marketing and innovation.</a:t>
            </a:r>
          </a:p>
          <a:p>
            <a:pPr>
              <a:spcBef>
                <a:spcPts val="200"/>
              </a:spcBef>
              <a:spcAft>
                <a:spcPts val="200"/>
              </a:spcAft>
              <a:defRPr sz="1400">
                <a:solidFill>
                  <a:srgbClr val="333333"/>
                </a:solidFill>
                <a:latin typeface="Calibri"/>
              </a:defRPr>
            </a:pPr>
            <a:r>
              <a:t>LOW: Supply chain disruptions or ethical sourcing challenges, which could impact brand reputation and operational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