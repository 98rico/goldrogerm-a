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APPLE</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28, 2026 | Technology</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Apple Inc. is a multinational technology company that designs, manufactures, and markets consumer electronics, software, and online services. Known for products like the iPhone, iPad, Mac, and Apple Watch.</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BUY | Target: 4972432.2 | Upside/Downside: +24.9% | Current: 269.869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Apple generates revenue primarily through the sale of hardware products, digital content, and services. This includes iPhones, Macs, iPads, wearables, and subscriptions like Apple Music, iCloud, and the App Store.</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AAPL</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N/A</a:t>
            </a:r>
          </a:p>
          <a:p>
            <a:pPr>
              <a:spcBef>
                <a:spcPts val="200"/>
              </a:spcBef>
              <a:spcAft>
                <a:spcPts val="200"/>
              </a:spcAft>
              <a:defRPr sz="1400">
                <a:solidFill>
                  <a:srgbClr val="333333"/>
                </a:solidFill>
                <a:latin typeface="Calibri"/>
              </a:defRPr>
            </a:pPr>
            <a:r>
              <a:t>Growth (CAGR): N/A</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trends provided.</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435617.005568</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0.47325</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0.35099998</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0.27037</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106312.753152</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0.022847533846684868</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4972432.2</a:t>
            </a:r>
          </a:p>
          <a:p>
            <a:pPr>
              <a:spcBef>
                <a:spcPts val="200"/>
              </a:spcBef>
              <a:spcAft>
                <a:spcPts val="200"/>
              </a:spcAft>
              <a:defRPr sz="1400">
                <a:solidFill>
                  <a:srgbClr val="333333"/>
                </a:solidFill>
                <a:latin typeface="Calibri"/>
              </a:defRPr>
            </a:pPr>
            <a:r>
              <a:t>Upside/Downside: +24.9%</a:t>
            </a:r>
          </a:p>
          <a:p>
            <a:pPr>
              <a:spcBef>
                <a:spcPts val="200"/>
              </a:spcBef>
              <a:spcAft>
                <a:spcPts val="200"/>
              </a:spcAft>
              <a:defRPr sz="1400">
                <a:solidFill>
                  <a:srgbClr val="333333"/>
                </a:solidFill>
                <a:latin typeface="Calibri"/>
              </a:defRPr>
            </a:pPr>
            <a:r>
              <a:t>Recommendation: BUY</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10.55%,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1954797.6</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3460291.8</a:t>
                      </a:r>
                    </a:p>
                  </a:txBody>
                  <a:tcPr>
                    <a:solidFill>
                      <a:srgbClr val="FAFAFA"/>
                    </a:solidFill>
                  </a:tcPr>
                </a:tc>
                <a:tc>
                  <a:txBody>
                    <a:bodyPr/>
                    <a:lstStyle/>
                    <a:p>
                      <a:pPr>
                        <a:defRPr sz="1100">
                          <a:solidFill>
                            <a:srgbClr val="333333"/>
                          </a:solidFill>
                          <a:latin typeface="Calibri"/>
                        </a:defRPr>
                      </a:pPr>
                      <a:r>
                        <a:t>4835902.4</a:t>
                      </a:r>
                    </a:p>
                  </a:txBody>
                  <a:tcPr>
                    <a:solidFill>
                      <a:srgbClr val="FAFAFA"/>
                    </a:solidFill>
                  </a:tcPr>
                </a:tc>
                <a:tc>
                  <a:txBody>
                    <a:bodyPr/>
                    <a:lstStyle/>
                    <a:p>
                      <a:pPr>
                        <a:defRPr sz="1100">
                          <a:solidFill>
                            <a:srgbClr val="333333"/>
                          </a:solidFill>
                          <a:latin typeface="Calibri"/>
                        </a:defRPr>
                      </a:pPr>
                      <a:r>
                        <a:t>6211513.0</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12721313.5</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sp>
        <p:nvSpPr>
          <p:cNvPr id="5" name="TextBox 4"/>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Scenario Analysis</a:t>
            </a:r>
          </a:p>
        </p:txBody>
      </p:sp>
      <p:graphicFrame>
        <p:nvGraphicFramePr>
          <p:cNvPr id="6" name="Table 5"/>
          <p:cNvGraphicFramePr>
            <a:graphicFrameLocks noGrp="1"/>
          </p:cNvGraphicFramePr>
          <p:nvPr/>
        </p:nvGraphicFramePr>
        <p:xfrm>
          <a:off x="685800" y="1645920"/>
          <a:ext cx="11064240" cy="27432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85800">
                <a:tc>
                  <a:txBody>
                    <a:bodyPr/>
                    <a:lstStyle/>
                    <a:p>
                      <a:pPr>
                        <a:defRPr b="1" sz="1200">
                          <a:solidFill>
                            <a:srgbClr val="FFFFFF"/>
                          </a:solidFill>
                          <a:latin typeface="Calibri"/>
                        </a:defRPr>
                      </a:pPr>
                      <a:r>
                        <a:t>Scenario</a:t>
                      </a:r>
                    </a:p>
                  </a:txBody>
                  <a:tcPr>
                    <a:solidFill>
                      <a:srgbClr val="1B2A4A"/>
                    </a:solidFill>
                  </a:tcPr>
                </a:tc>
                <a:tc>
                  <a:txBody>
                    <a:bodyPr/>
                    <a:lstStyle/>
                    <a:p>
                      <a:pPr>
                        <a:defRPr b="1" sz="1200">
                          <a:solidFill>
                            <a:srgbClr val="FFFFFF"/>
                          </a:solidFill>
                          <a:latin typeface="Calibri"/>
                        </a:defRPr>
                      </a:pPr>
                      <a:r>
                        <a:t>DCF EV</a:t>
                      </a:r>
                    </a:p>
                  </a:txBody>
                  <a:tcPr>
                    <a:solidFill>
                      <a:srgbClr val="1B2A4A"/>
                    </a:solidFill>
                  </a:tcPr>
                </a:tc>
                <a:tc>
                  <a:txBody>
                    <a:bodyPr/>
                    <a:lstStyle/>
                    <a:p>
                      <a:pPr>
                        <a:defRPr b="1" sz="1200">
                          <a:solidFill>
                            <a:srgbClr val="FFFFFF"/>
                          </a:solidFill>
                          <a:latin typeface="Calibri"/>
                        </a:defRPr>
                      </a:pPr>
                      <a:r>
                        <a:t>Comps EV</a:t>
                      </a:r>
                    </a:p>
                  </a:txBody>
                  <a:tcPr>
                    <a:solidFill>
                      <a:srgbClr val="1B2A4A"/>
                    </a:solidFill>
                  </a:tcPr>
                </a:tc>
                <a:tc>
                  <a:txBody>
                    <a:bodyPr/>
                    <a:lstStyle/>
                    <a:p>
                      <a:pPr>
                        <a:defRPr b="1" sz="1200">
                          <a:solidFill>
                            <a:srgbClr val="FFFFFF"/>
                          </a:solidFill>
                          <a:latin typeface="Calibri"/>
                        </a:defRPr>
                      </a:pPr>
                      <a:r>
                        <a:t>Blended EV</a:t>
                      </a:r>
                    </a:p>
                  </a:txBody>
                  <a:tcPr>
                    <a:solidFill>
                      <a:srgbClr val="1B2A4A"/>
                    </a:solidFill>
                  </a:tcPr>
                </a:tc>
                <a:tc>
                  <a:txBody>
                    <a:bodyPr/>
                    <a:lstStyle/>
                    <a:p>
                      <a:pPr>
                        <a:defRPr b="1" sz="1200">
                          <a:solidFill>
                            <a:srgbClr val="FFFFFF"/>
                          </a:solidFill>
                          <a:latin typeface="Calibri"/>
                        </a:defRPr>
                      </a:pPr>
                      <a:r>
                        <a:t>WACC</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r>
              <a:tr h="685800">
                <a:tc>
                  <a:txBody>
                    <a:bodyPr/>
                    <a:lstStyle/>
                    <a:p>
                      <a:pPr>
                        <a:defRPr sz="1100">
                          <a:solidFill>
                            <a:srgbClr val="333333"/>
                          </a:solidFill>
                          <a:latin typeface="Calibri"/>
                        </a:defRPr>
                      </a:pPr>
                      <a:r>
                        <a:t>Bear</a:t>
                      </a:r>
                    </a:p>
                  </a:txBody>
                  <a:tcPr>
                    <a:solidFill>
                      <a:srgbClr val="FFFFFF"/>
                    </a:solidFill>
                  </a:tcPr>
                </a:tc>
                <a:tc>
                  <a:txBody>
                    <a:bodyPr/>
                    <a:lstStyle/>
                    <a:p>
                      <a:pPr>
                        <a:defRPr sz="1100">
                          <a:solidFill>
                            <a:srgbClr val="333333"/>
                          </a:solidFill>
                          <a:latin typeface="Calibri"/>
                        </a:defRPr>
                      </a:pPr>
                      <a:r>
                        <a:t>$1288.6B</a:t>
                      </a:r>
                    </a:p>
                  </a:txBody>
                  <a:tcPr>
                    <a:solidFill>
                      <a:srgbClr val="FFFFFF"/>
                    </a:solidFill>
                  </a:tcPr>
                </a:tc>
                <a:tc>
                  <a:txBody>
                    <a:bodyPr/>
                    <a:lstStyle/>
                    <a:p>
                      <a:pPr>
                        <a:defRPr sz="1100">
                          <a:solidFill>
                            <a:srgbClr val="333333"/>
                          </a:solidFill>
                          <a:latin typeface="Calibri"/>
                        </a:defRPr>
                      </a:pPr>
                      <a:r>
                        <a:t>$3059.1B</a:t>
                      </a:r>
                    </a:p>
                  </a:txBody>
                  <a:tcPr>
                    <a:solidFill>
                      <a:srgbClr val="FFFFFF"/>
                    </a:solidFill>
                  </a:tcPr>
                </a:tc>
                <a:tc>
                  <a:txBody>
                    <a:bodyPr/>
                    <a:lstStyle/>
                    <a:p>
                      <a:pPr>
                        <a:defRPr sz="1100">
                          <a:solidFill>
                            <a:srgbClr val="333333"/>
                          </a:solidFill>
                          <a:latin typeface="Calibri"/>
                        </a:defRPr>
                      </a:pPr>
                      <a:r>
                        <a:t>$3268.8B</a:t>
                      </a:r>
                    </a:p>
                  </a:txBody>
                  <a:tcPr>
                    <a:solidFill>
                      <a:srgbClr val="FFFFFF"/>
                    </a:solidFill>
                  </a:tcPr>
                </a:tc>
                <a:tc>
                  <a:txBody>
                    <a:bodyPr/>
                    <a:lstStyle/>
                    <a:p>
                      <a:pPr>
                        <a:defRPr sz="1100">
                          <a:solidFill>
                            <a:srgbClr val="333333"/>
                          </a:solidFill>
                          <a:latin typeface="Calibri"/>
                        </a:defRPr>
                      </a:pPr>
                      <a:r>
                        <a:t>12.0%</a:t>
                      </a:r>
                    </a:p>
                  </a:txBody>
                  <a:tcPr>
                    <a:solidFill>
                      <a:srgbClr val="FFFFFF"/>
                    </a:solidFill>
                  </a:tcPr>
                </a:tc>
                <a:tc>
                  <a:txBody>
                    <a:bodyPr/>
                    <a:lstStyle/>
                    <a:p>
                      <a:pPr>
                        <a:defRPr sz="1100">
                          <a:solidFill>
                            <a:srgbClr val="333333"/>
                          </a:solidFill>
                          <a:latin typeface="Calibri"/>
                        </a:defRPr>
                      </a:pPr>
                      <a:r>
                        <a:t>33.1%</a:t>
                      </a:r>
                    </a:p>
                  </a:txBody>
                  <a:tcPr>
                    <a:solidFill>
                      <a:srgbClr val="FFFFFF"/>
                    </a:solidFill>
                  </a:tcPr>
                </a:tc>
              </a:tr>
              <a:tr h="685800">
                <a:tc>
                  <a:txBody>
                    <a:bodyPr/>
                    <a:lstStyle/>
                    <a:p>
                      <a:pPr>
                        <a:defRPr sz="1100">
                          <a:solidFill>
                            <a:srgbClr val="333333"/>
                          </a:solidFill>
                          <a:latin typeface="Calibri"/>
                        </a:defRPr>
                      </a:pPr>
                      <a:r>
                        <a:t>Base</a:t>
                      </a:r>
                    </a:p>
                  </a:txBody>
                  <a:tcPr>
                    <a:solidFill>
                      <a:srgbClr val="FAFAFA"/>
                    </a:solidFill>
                  </a:tcPr>
                </a:tc>
                <a:tc>
                  <a:txBody>
                    <a:bodyPr/>
                    <a:lstStyle/>
                    <a:p>
                      <a:pPr>
                        <a:defRPr sz="1100">
                          <a:solidFill>
                            <a:srgbClr val="333333"/>
                          </a:solidFill>
                          <a:latin typeface="Calibri"/>
                        </a:defRPr>
                      </a:pPr>
                      <a:r>
                        <a:t>$2068.7B</a:t>
                      </a:r>
                    </a:p>
                  </a:txBody>
                  <a:tcPr>
                    <a:solidFill>
                      <a:srgbClr val="FAFAFA"/>
                    </a:solidFill>
                  </a:tcPr>
                </a:tc>
                <a:tc>
                  <a:txBody>
                    <a:bodyPr/>
                    <a:lstStyle/>
                    <a:p>
                      <a:pPr>
                        <a:defRPr sz="1100">
                          <a:solidFill>
                            <a:srgbClr val="333333"/>
                          </a:solidFill>
                          <a:latin typeface="Calibri"/>
                        </a:defRPr>
                      </a:pPr>
                      <a:r>
                        <a:t>$5155.7B</a:t>
                      </a:r>
                    </a:p>
                  </a:txBody>
                  <a:tcPr>
                    <a:solidFill>
                      <a:srgbClr val="FAFAFA"/>
                    </a:solidFill>
                  </a:tcPr>
                </a:tc>
                <a:tc>
                  <a:txBody>
                    <a:bodyPr/>
                    <a:lstStyle/>
                    <a:p>
                      <a:pPr>
                        <a:defRPr sz="1100">
                          <a:solidFill>
                            <a:srgbClr val="333333"/>
                          </a:solidFill>
                          <a:latin typeface="Calibri"/>
                        </a:defRPr>
                      </a:pPr>
                      <a:r>
                        <a:t>$5293.6B</a:t>
                      </a:r>
                    </a:p>
                  </a:txBody>
                  <a:tcPr>
                    <a:solidFill>
                      <a:srgbClr val="FAFAFA"/>
                    </a:solidFill>
                  </a:tcPr>
                </a:tc>
                <a:tc>
                  <a:txBody>
                    <a:bodyPr/>
                    <a:lstStyle/>
                    <a:p>
                      <a:pPr>
                        <a:defRPr sz="1100">
                          <a:solidFill>
                            <a:srgbClr val="333333"/>
                          </a:solidFill>
                          <a:latin typeface="Calibri"/>
                        </a:defRPr>
                      </a:pPr>
                      <a:r>
                        <a:t>10.5%</a:t>
                      </a:r>
                    </a:p>
                  </a:txBody>
                  <a:tcPr>
                    <a:solidFill>
                      <a:srgbClr val="FAFAFA"/>
                    </a:solidFill>
                  </a:tcPr>
                </a:tc>
                <a:tc>
                  <a:txBody>
                    <a:bodyPr/>
                    <a:lstStyle/>
                    <a:p>
                      <a:pPr>
                        <a:defRPr sz="1100">
                          <a:solidFill>
                            <a:srgbClr val="333333"/>
                          </a:solidFill>
                          <a:latin typeface="Calibri"/>
                        </a:defRPr>
                      </a:pPr>
                      <a:r>
                        <a:t>35.1%</a:t>
                      </a:r>
                    </a:p>
                  </a:txBody>
                  <a:tcPr>
                    <a:solidFill>
                      <a:srgbClr val="FAFAFA"/>
                    </a:solidFill>
                  </a:tcPr>
                </a:tc>
              </a:tr>
              <a:tr h="685800">
                <a:tc>
                  <a:txBody>
                    <a:bodyPr/>
                    <a:lstStyle/>
                    <a:p>
                      <a:pPr>
                        <a:defRPr sz="1100">
                          <a:solidFill>
                            <a:srgbClr val="333333"/>
                          </a:solidFill>
                          <a:latin typeface="Calibri"/>
                        </a:defRPr>
                      </a:pPr>
                      <a:r>
                        <a:t>Bull</a:t>
                      </a:r>
                    </a:p>
                  </a:txBody>
                  <a:tcPr>
                    <a:solidFill>
                      <a:srgbClr val="FFFFFF"/>
                    </a:solidFill>
                  </a:tcPr>
                </a:tc>
                <a:tc>
                  <a:txBody>
                    <a:bodyPr/>
                    <a:lstStyle/>
                    <a:p>
                      <a:pPr>
                        <a:defRPr sz="1100">
                          <a:solidFill>
                            <a:srgbClr val="333333"/>
                          </a:solidFill>
                          <a:latin typeface="Calibri"/>
                        </a:defRPr>
                      </a:pPr>
                      <a:r>
                        <a:t>$3265.9B</a:t>
                      </a:r>
                    </a:p>
                  </a:txBody>
                  <a:tcPr>
                    <a:solidFill>
                      <a:srgbClr val="FFFFFF"/>
                    </a:solidFill>
                  </a:tcPr>
                </a:tc>
                <a:tc>
                  <a:txBody>
                    <a:bodyPr/>
                    <a:lstStyle/>
                    <a:p>
                      <a:pPr>
                        <a:defRPr sz="1100">
                          <a:solidFill>
                            <a:srgbClr val="333333"/>
                          </a:solidFill>
                          <a:latin typeface="Calibri"/>
                        </a:defRPr>
                      </a:pPr>
                      <a:r>
                        <a:t>$8223.6B</a:t>
                      </a:r>
                    </a:p>
                  </a:txBody>
                  <a:tcPr>
                    <a:solidFill>
                      <a:srgbClr val="FFFFFF"/>
                    </a:solidFill>
                  </a:tcPr>
                </a:tc>
                <a:tc>
                  <a:txBody>
                    <a:bodyPr/>
                    <a:lstStyle/>
                    <a:p>
                      <a:pPr>
                        <a:defRPr sz="1100">
                          <a:solidFill>
                            <a:srgbClr val="333333"/>
                          </a:solidFill>
                          <a:latin typeface="Calibri"/>
                        </a:defRPr>
                      </a:pPr>
                      <a:r>
                        <a:t>$8193.4B</a:t>
                      </a:r>
                    </a:p>
                  </a:txBody>
                  <a:tcPr>
                    <a:solidFill>
                      <a:srgbClr val="FFFFFF"/>
                    </a:solidFill>
                  </a:tcPr>
                </a:tc>
                <a:tc>
                  <a:txBody>
                    <a:bodyPr/>
                    <a:lstStyle/>
                    <a:p>
                      <a:pPr>
                        <a:defRPr sz="1100">
                          <a:solidFill>
                            <a:srgbClr val="333333"/>
                          </a:solidFill>
                          <a:latin typeface="Calibri"/>
                        </a:defRPr>
                      </a:pPr>
                      <a:r>
                        <a:t>9.5%</a:t>
                      </a:r>
                    </a:p>
                  </a:txBody>
                  <a:tcPr>
                    <a:solidFill>
                      <a:srgbClr val="FFFFFF"/>
                    </a:solidFill>
                  </a:tcPr>
                </a:tc>
                <a:tc>
                  <a:txBody>
                    <a:bodyPr/>
                    <a:lstStyle/>
                    <a:p>
                      <a:pPr>
                        <a:defRPr sz="1100">
                          <a:solidFill>
                            <a:srgbClr val="333333"/>
                          </a:solidFill>
                          <a:latin typeface="Calibri"/>
                        </a:defRPr>
                      </a:pPr>
                      <a:r>
                        <a:t>37.1%</a:t>
                      </a:r>
                    </a:p>
                  </a:txBody>
                  <a:tcPr>
                    <a:solidFill>
                      <a:srgbClr val="FFFFFF"/>
                    </a:solidFill>
                  </a:tcPr>
                </a:tc>
              </a:tr>
            </a:tbl>
          </a:graphicData>
        </a:graphic>
      </p:graphicFrame>
      <p:sp>
        <p:nvSpPr>
          <p:cNvPr id="7" name="TextBox 6"/>
          <p:cNvSpPr txBox="1"/>
          <p:nvPr/>
        </p:nvSpPr>
        <p:spPr>
          <a:xfrm>
            <a:off x="685800" y="4572000"/>
            <a:ext cx="11155680" cy="2011680"/>
          </a:xfrm>
          <a:prstGeom prst="rect">
            <a:avLst/>
          </a:prstGeom>
          <a:noFill/>
        </p:spPr>
        <p:txBody>
          <a:bodyPr wrap="none">
            <a:spAutoFit/>
          </a:bodyPr>
          <a:lstStyle/>
          <a:p>
            <a:r>
              <a:rPr b="1" sz="2000">
                <a:solidFill>
                  <a:srgbClr val="333333"/>
                </a:solidFill>
                <a:latin typeface="Calibri"/>
              </a:rPr>
              <a:t>Ranges</a:t>
            </a:r>
          </a:p>
          <a:p>
            <a:pPr>
              <a:spcBef>
                <a:spcPts val="200"/>
              </a:spcBef>
              <a:spcAft>
                <a:spcPts val="200"/>
              </a:spcAft>
              <a:defRPr sz="1400">
                <a:solidFill>
                  <a:srgbClr val="333333"/>
                </a:solidFill>
                <a:latin typeface="Calibri"/>
              </a:defRPr>
            </a:pPr>
            <a:r>
              <a:t>DCF range:     $1288.6B — $3265.9B</a:t>
            </a:r>
          </a:p>
          <a:p>
            <a:pPr>
              <a:spcBef>
                <a:spcPts val="200"/>
              </a:spcBef>
              <a:spcAft>
                <a:spcPts val="200"/>
              </a:spcAft>
              <a:defRPr sz="1400">
                <a:solidFill>
                  <a:srgbClr val="333333"/>
                </a:solidFill>
                <a:latin typeface="Calibri"/>
              </a:defRPr>
            </a:pPr>
            <a:r>
              <a:t>Comps range:   $3059.1B — $8223.6B</a:t>
            </a:r>
          </a:p>
          <a:p>
            <a:pPr>
              <a:spcBef>
                <a:spcPts val="200"/>
              </a:spcBef>
              <a:spcAft>
                <a:spcPts val="200"/>
              </a:spcAft>
              <a:defRPr sz="1400">
                <a:solidFill>
                  <a:srgbClr val="333333"/>
                </a:solidFill>
                <a:latin typeface="Calibri"/>
              </a:defRPr>
            </a:pPr>
            <a:r>
              <a:t>Blended range: $3268.8B — $8193.4B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4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807720">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807720">
                <a:tc>
                  <a:txBody>
                    <a:bodyPr/>
                    <a:lstStyle/>
                    <a:p>
                      <a:pPr>
                        <a:defRPr sz="1100">
                          <a:solidFill>
                            <a:srgbClr val="333333"/>
                          </a:solidFill>
                          <a:latin typeface="Calibri"/>
                        </a:defRPr>
                      </a:pPr>
                      <a:r>
                        <a:t>Microsoft Corporation</a:t>
                      </a:r>
                    </a:p>
                  </a:txBody>
                  <a:tcPr>
                    <a:solidFill>
                      <a:srgbClr val="FFFFFF"/>
                    </a:solidFill>
                  </a:tcPr>
                </a:tc>
                <a:tc>
                  <a:txBody>
                    <a:bodyPr/>
                    <a:lstStyle/>
                    <a:p>
                      <a:pPr>
                        <a:defRPr sz="1100">
                          <a:solidFill>
                            <a:srgbClr val="333333"/>
                          </a:solidFill>
                          <a:latin typeface="Calibri"/>
                        </a:defRPr>
                      </a:pPr>
                      <a:r>
                        <a:t>MSFT</a:t>
                      </a:r>
                    </a:p>
                  </a:txBody>
                  <a:tcPr>
                    <a:solidFill>
                      <a:srgbClr val="FFFFFF"/>
                    </a:solidFill>
                  </a:tcPr>
                </a:tc>
                <a:tc>
                  <a:txBody>
                    <a:bodyPr/>
                    <a:lstStyle/>
                    <a:p>
                      <a:pPr>
                        <a:defRPr sz="1100">
                          <a:solidFill>
                            <a:srgbClr val="333333"/>
                          </a:solidFill>
                          <a:latin typeface="Calibri"/>
                        </a:defRPr>
                      </a:pPr>
                      <a:r>
                        <a:t>18.2x</a:t>
                      </a:r>
                    </a:p>
                  </a:txBody>
                  <a:tcPr>
                    <a:solidFill>
                      <a:srgbClr val="FFFFFF"/>
                    </a:solidFill>
                  </a:tcPr>
                </a:tc>
                <a:tc>
                  <a:txBody>
                    <a:bodyPr/>
                    <a:lstStyle/>
                    <a:p>
                      <a:pPr>
                        <a:defRPr sz="1100">
                          <a:solidFill>
                            <a:srgbClr val="333333"/>
                          </a:solidFill>
                          <a:latin typeface="Calibri"/>
                        </a:defRPr>
                      </a:pPr>
                      <a:r>
                        <a:t>10.4x</a:t>
                      </a:r>
                    </a:p>
                  </a:txBody>
                  <a:tcPr>
                    <a:solidFill>
                      <a:srgbClr val="FFFFFF"/>
                    </a:solidFill>
                  </a:tcPr>
                </a:tc>
                <a:tc>
                  <a:txBody>
                    <a:bodyPr/>
                    <a:lstStyle/>
                    <a:p>
                      <a:pPr>
                        <a:defRPr sz="1100">
                          <a:solidFill>
                            <a:srgbClr val="333333"/>
                          </a:solidFill>
                          <a:latin typeface="Calibri"/>
                        </a:defRPr>
                      </a:pPr>
                      <a:r>
                        <a:t>57.4%</a:t>
                      </a:r>
                    </a:p>
                  </a:txBody>
                  <a:tcPr>
                    <a:solidFill>
                      <a:srgbClr val="FFFFFF"/>
                    </a:solidFill>
                  </a:tcPr>
                </a:tc>
                <a:tc>
                  <a:txBody>
                    <a:bodyPr/>
                    <a:lstStyle/>
                    <a:p>
                      <a:pPr>
                        <a:defRPr sz="1100">
                          <a:solidFill>
                            <a:srgbClr val="333333"/>
                          </a:solidFill>
                          <a:latin typeface="Calibri"/>
                        </a:defRPr>
                      </a:pPr>
                      <a:r>
                        <a:t>+59.8%</a:t>
                      </a:r>
                    </a:p>
                  </a:txBody>
                  <a:tcPr>
                    <a:solidFill>
                      <a:srgbClr val="FFFFFF"/>
                    </a:solidFill>
                  </a:tcPr>
                </a:tc>
              </a:tr>
              <a:tr h="807720">
                <a:tc>
                  <a:txBody>
                    <a:bodyPr/>
                    <a:lstStyle/>
                    <a:p>
                      <a:pPr>
                        <a:defRPr sz="1100">
                          <a:solidFill>
                            <a:srgbClr val="333333"/>
                          </a:solidFill>
                          <a:latin typeface="Calibri"/>
                        </a:defRPr>
                      </a:pPr>
                      <a:r>
                        <a:t>Samsung Electronics Co., Ltd.</a:t>
                      </a:r>
                    </a:p>
                  </a:txBody>
                  <a:tcPr>
                    <a:solidFill>
                      <a:srgbClr val="FAFAFA"/>
                    </a:solidFill>
                  </a:tcPr>
                </a:tc>
                <a:tc>
                  <a:txBody>
                    <a:bodyPr/>
                    <a:lstStyle/>
                    <a:p>
                      <a:pPr>
                        <a:defRPr sz="1100">
                          <a:solidFill>
                            <a:srgbClr val="333333"/>
                          </a:solidFill>
                          <a:latin typeface="Calibri"/>
                        </a:defRPr>
                      </a:pPr>
                      <a:r>
                        <a:t>005930.KS</a:t>
                      </a:r>
                    </a:p>
                  </a:txBody>
                  <a:tcPr>
                    <a:solidFill>
                      <a:srgbClr val="FAFAFA"/>
                    </a:solidFill>
                  </a:tcPr>
                </a:tc>
                <a:tc>
                  <a:txBody>
                    <a:bodyPr/>
                    <a:lstStyle/>
                    <a:p>
                      <a:pPr>
                        <a:defRPr sz="1100">
                          <a:solidFill>
                            <a:srgbClr val="333333"/>
                          </a:solidFill>
                          <a:latin typeface="Calibri"/>
                        </a:defRPr>
                      </a:pPr>
                      <a:r>
                        <a:t>15.5x</a:t>
                      </a:r>
                    </a:p>
                  </a:txBody>
                  <a:tcPr>
                    <a:solidFill>
                      <a:srgbClr val="FAFAFA"/>
                    </a:solidFill>
                  </a:tcPr>
                </a:tc>
                <a:tc>
                  <a:txBody>
                    <a:bodyPr/>
                    <a:lstStyle/>
                    <a:p>
                      <a:pPr>
                        <a:defRPr sz="1100">
                          <a:solidFill>
                            <a:srgbClr val="333333"/>
                          </a:solidFill>
                          <a:latin typeface="Calibri"/>
                        </a:defRPr>
                      </a:pPr>
                      <a:r>
                        <a:t>4.1x</a:t>
                      </a:r>
                    </a:p>
                  </a:txBody>
                  <a:tcPr>
                    <a:solidFill>
                      <a:srgbClr val="FAFAFA"/>
                    </a:solidFill>
                  </a:tcPr>
                </a:tc>
                <a:tc>
                  <a:txBody>
                    <a:bodyPr/>
                    <a:lstStyle/>
                    <a:p>
                      <a:pPr>
                        <a:defRPr sz="1100">
                          <a:solidFill>
                            <a:srgbClr val="333333"/>
                          </a:solidFill>
                          <a:latin typeface="Calibri"/>
                        </a:defRPr>
                      </a:pPr>
                      <a:r>
                        <a:t>26.8%</a:t>
                      </a:r>
                    </a:p>
                  </a:txBody>
                  <a:tcPr>
                    <a:solidFill>
                      <a:srgbClr val="FAFAFA"/>
                    </a:solidFill>
                  </a:tcPr>
                </a:tc>
                <a:tc>
                  <a:txBody>
                    <a:bodyPr/>
                    <a:lstStyle/>
                    <a:p>
                      <a:pPr>
                        <a:defRPr sz="1100">
                          <a:solidFill>
                            <a:srgbClr val="333333"/>
                          </a:solidFill>
                          <a:latin typeface="Calibri"/>
                        </a:defRPr>
                      </a:pPr>
                      <a:r>
                        <a:t>+162.2%</a:t>
                      </a:r>
                    </a:p>
                  </a:txBody>
                  <a:tcPr>
                    <a:solidFill>
                      <a:srgbClr val="FAFAFA"/>
                    </a:solidFill>
                  </a:tcPr>
                </a:tc>
              </a:tr>
              <a:tr h="807720">
                <a:tc>
                  <a:txBody>
                    <a:bodyPr/>
                    <a:lstStyle/>
                    <a:p>
                      <a:pPr>
                        <a:defRPr sz="1100">
                          <a:solidFill>
                            <a:srgbClr val="333333"/>
                          </a:solidFill>
                          <a:latin typeface="Calibri"/>
                        </a:defRPr>
                      </a:pPr>
                      <a:r>
                        <a:t>Alphabet Inc.</a:t>
                      </a:r>
                    </a:p>
                  </a:txBody>
                  <a:tcPr>
                    <a:solidFill>
                      <a:srgbClr val="FFFFFF"/>
                    </a:solidFill>
                  </a:tcPr>
                </a:tc>
                <a:tc>
                  <a:txBody>
                    <a:bodyPr/>
                    <a:lstStyle/>
                    <a:p>
                      <a:pPr>
                        <a:defRPr sz="1100">
                          <a:solidFill>
                            <a:srgbClr val="333333"/>
                          </a:solidFill>
                          <a:latin typeface="Calibri"/>
                        </a:defRPr>
                      </a:pPr>
                      <a:r>
                        <a:t>GOOGL</a:t>
                      </a:r>
                    </a:p>
                  </a:txBody>
                  <a:tcPr>
                    <a:solidFill>
                      <a:srgbClr val="FFFFFF"/>
                    </a:solidFill>
                  </a:tcPr>
                </a:tc>
                <a:tc>
                  <a:txBody>
                    <a:bodyPr/>
                    <a:lstStyle/>
                    <a:p>
                      <a:pPr>
                        <a:defRPr sz="1100">
                          <a:solidFill>
                            <a:srgbClr val="333333"/>
                          </a:solidFill>
                          <a:latin typeface="Calibri"/>
                        </a:defRPr>
                      </a:pPr>
                      <a:r>
                        <a:t>27.8x</a:t>
                      </a:r>
                    </a:p>
                  </a:txBody>
                  <a:tcPr>
                    <a:solidFill>
                      <a:srgbClr val="FFFFFF"/>
                    </a:solidFill>
                  </a:tcPr>
                </a:tc>
                <a:tc>
                  <a:txBody>
                    <a:bodyPr/>
                    <a:lstStyle/>
                    <a:p>
                      <a:pPr>
                        <a:defRPr sz="1100">
                          <a:solidFill>
                            <a:srgbClr val="333333"/>
                          </a:solidFill>
                          <a:latin typeface="Calibri"/>
                        </a:defRPr>
                      </a:pPr>
                      <a:r>
                        <a:t>10.4x</a:t>
                      </a:r>
                    </a:p>
                  </a:txBody>
                  <a:tcPr>
                    <a:solidFill>
                      <a:srgbClr val="FFFFFF"/>
                    </a:solidFill>
                  </a:tcPr>
                </a:tc>
                <a:tc>
                  <a:txBody>
                    <a:bodyPr/>
                    <a:lstStyle/>
                    <a:p>
                      <a:pPr>
                        <a:defRPr sz="1100">
                          <a:solidFill>
                            <a:srgbClr val="333333"/>
                          </a:solidFill>
                          <a:latin typeface="Calibri"/>
                        </a:defRPr>
                      </a:pPr>
                      <a:r>
                        <a:t>37.3%</a:t>
                      </a:r>
                    </a:p>
                  </a:txBody>
                  <a:tcPr>
                    <a:solidFill>
                      <a:srgbClr val="FFFFFF"/>
                    </a:solidFill>
                  </a:tcPr>
                </a:tc>
                <a:tc>
                  <a:txBody>
                    <a:bodyPr/>
                    <a:lstStyle/>
                    <a:p>
                      <a:pPr>
                        <a:defRPr sz="1100">
                          <a:solidFill>
                            <a:srgbClr val="333333"/>
                          </a:solidFill>
                          <a:latin typeface="Calibri"/>
                        </a:defRPr>
                      </a:pPr>
                      <a:r>
                        <a:t>+31.1%</a:t>
                      </a:r>
                    </a:p>
                  </a:txBody>
                  <a:tcPr>
                    <a:solidFill>
                      <a:srgbClr val="FFFFFF"/>
                    </a:solidFill>
                  </a:tcPr>
                </a:tc>
              </a:tr>
              <a:tr h="807720">
                <a:tc>
                  <a:txBody>
                    <a:bodyPr/>
                    <a:lstStyle/>
                    <a:p>
                      <a:pPr>
                        <a:defRPr sz="1100">
                          <a:solidFill>
                            <a:srgbClr val="333333"/>
                          </a:solidFill>
                          <a:latin typeface="Calibri"/>
                        </a:defRPr>
                      </a:pPr>
                      <a:r>
                        <a:t>Dell Technologies Inc.</a:t>
                      </a:r>
                    </a:p>
                  </a:txBody>
                  <a:tcPr>
                    <a:solidFill>
                      <a:srgbClr val="FAFAFA"/>
                    </a:solidFill>
                  </a:tcPr>
                </a:tc>
                <a:tc>
                  <a:txBody>
                    <a:bodyPr/>
                    <a:lstStyle/>
                    <a:p>
                      <a:pPr>
                        <a:defRPr sz="1100">
                          <a:solidFill>
                            <a:srgbClr val="333333"/>
                          </a:solidFill>
                          <a:latin typeface="Calibri"/>
                        </a:defRPr>
                      </a:pPr>
                      <a:r>
                        <a:t>DELL</a:t>
                      </a:r>
                    </a:p>
                  </a:txBody>
                  <a:tcPr>
                    <a:solidFill>
                      <a:srgbClr val="FAFAFA"/>
                    </a:solidFill>
                  </a:tcPr>
                </a:tc>
                <a:tc>
                  <a:txBody>
                    <a:bodyPr/>
                    <a:lstStyle/>
                    <a:p>
                      <a:pPr>
                        <a:defRPr sz="1100">
                          <a:solidFill>
                            <a:srgbClr val="333333"/>
                          </a:solidFill>
                          <a:latin typeface="Calibri"/>
                        </a:defRPr>
                      </a:pPr>
                      <a:r>
                        <a:t>14.0x</a:t>
                      </a:r>
                    </a:p>
                  </a:txBody>
                  <a:tcPr>
                    <a:solidFill>
                      <a:srgbClr val="FAFAFA"/>
                    </a:solidFill>
                  </a:tcPr>
                </a:tc>
                <a:tc>
                  <a:txBody>
                    <a:bodyPr/>
                    <a:lstStyle/>
                    <a:p>
                      <a:pPr>
                        <a:defRPr sz="1100">
                          <a:solidFill>
                            <a:srgbClr val="333333"/>
                          </a:solidFill>
                          <a:latin typeface="Calibri"/>
                        </a:defRPr>
                      </a:pPr>
                      <a:r>
                        <a:t>1.4x</a:t>
                      </a:r>
                    </a:p>
                  </a:txBody>
                  <a:tcPr>
                    <a:solidFill>
                      <a:srgbClr val="FAFAFA"/>
                    </a:solidFill>
                  </a:tcPr>
                </a:tc>
                <a:tc>
                  <a:txBody>
                    <a:bodyPr/>
                    <a:lstStyle/>
                    <a:p>
                      <a:pPr>
                        <a:defRPr sz="1100">
                          <a:solidFill>
                            <a:srgbClr val="333333"/>
                          </a:solidFill>
                          <a:latin typeface="Calibri"/>
                        </a:defRPr>
                      </a:pPr>
                      <a:r>
                        <a:t>10.1%</a:t>
                      </a:r>
                    </a:p>
                  </a:txBody>
                  <a:tcPr>
                    <a:solidFill>
                      <a:srgbClr val="FAFAFA"/>
                    </a:solidFill>
                  </a:tcPr>
                </a:tc>
                <a:tc>
                  <a:txBody>
                    <a:bodyPr/>
                    <a:lstStyle/>
                    <a:p>
                      <a:pPr>
                        <a:defRPr sz="1100">
                          <a:solidFill>
                            <a:srgbClr val="333333"/>
                          </a:solidFill>
                          <a:latin typeface="Calibri"/>
                        </a:defRPr>
                      </a:pPr>
                      <a:r>
                        <a:t>+57.3%</a:t>
                      </a:r>
                    </a:p>
                  </a:txBody>
                  <a:tcPr>
                    <a:solidFill>
                      <a:srgbClr val="FAFAFA"/>
                    </a:solidFill>
                  </a:tcPr>
                </a:tc>
              </a:tr>
              <a:tr h="807720">
                <a:tc>
                  <a:txBody>
                    <a:bodyPr/>
                    <a:lstStyle/>
                    <a:p>
                      <a:pPr>
                        <a:defRPr sz="1100">
                          <a:solidFill>
                            <a:srgbClr val="333333"/>
                          </a:solidFill>
                          <a:latin typeface="Calibri"/>
                        </a:defRPr>
                      </a:pPr>
                      <a:r>
                        <a:t>MEDIAN</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16.8x</a:t>
                      </a:r>
                    </a:p>
                  </a:txBody>
                  <a:tcPr>
                    <a:solidFill>
                      <a:srgbClr val="FFFFFF"/>
                    </a:solidFill>
                  </a:tcPr>
                </a:tc>
                <a:tc>
                  <a:txBody>
                    <a:bodyPr/>
                    <a:lstStyle/>
                    <a:p>
                      <a:pPr>
                        <a:defRPr sz="1100">
                          <a:solidFill>
                            <a:srgbClr val="333333"/>
                          </a:solidFill>
                          <a:latin typeface="Calibri"/>
                        </a:defRPr>
                      </a:pPr>
                      <a:r>
                        <a:t>7.3x</a:t>
                      </a:r>
                    </a:p>
                  </a:txBody>
                  <a:tcPr>
                    <a:solidFill>
                      <a:srgbClr val="FFFFFF"/>
                    </a:solidFill>
                  </a:tcPr>
                </a:tc>
                <a:tc>
                  <a:txBody>
                    <a:bodyPr/>
                    <a:lstStyle/>
                    <a:p>
                      <a:pPr>
                        <a:defRPr sz="1100">
                          <a:solidFill>
                            <a:srgbClr val="333333"/>
                          </a:solidFill>
                          <a:latin typeface="Calibri"/>
                        </a:defRPr>
                      </a:pPr>
                      <a:r>
                        <a:t>32.0%</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7.5/10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55/100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APPLE IC score 55/100. Strengths: financial (8/10), strategy (5/10). Risks: strategy (5/10), synergies (5/10). Equity upside: +24.9%.</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Apple Inc. (AAPL) remains a core holding in global equity portfolios, underpinned by its unparalleled ecosystem moat, resilient financial trajectory, and compelling valuation relative to its growth profile. The company’s competitive advantage stems from its integrated hardware-software-services model, which drives high customer retention (92% iPhone retention rate in the U.S.) and recurring revenue streams (Services segment now accounts for ~22% of total revenue, growing at 14% YoY in FY23). Apple’s installed base of 2.2 billion active devices provides a powerful network effect, enabling cross-selling of high-margin services like Apple Pay, iCloud, and the App Store, which collectively generate gross margins north of 70%. Financially, Apple has demonstrated remarkable resilience, with FY23 revenue of $383 billion (+3% YoY) and EPS of $6.16 (+7% YoY), despite macroeconomic headwinds. The company’s fortress balance sheet ($166 billion in net cash as of Q4 FY23) and shareholder-friendly capital return program ($93 billion returned in FY23 via buybacks and dividends) further bolster its investment appeal. Valuation remains supportive, with AAPL trading at ~28x forward P/E, a premium to the S&amp;P 500 but justified by its superior ROIC (~35%) and consistent double-digit EPS growth. With structural tailwinds in wearables, services, and emerging markets (Greater China revenue grew 13% YoY in Q4), Apple is well-positioned to deliver mid-to-high single-digit revenue growth and low-double-digit EPS growth over the next three years, making it a compelling BUY for long-term investors.</a:t>
            </a:r>
          </a:p>
          <a:p>
            <a:pPr>
              <a:spcBef>
                <a:spcPts val="200"/>
              </a:spcBef>
              <a:spcAft>
                <a:spcPts val="200"/>
              </a:spcAft>
              <a:defRPr sz="1400">
                <a:solidFill>
                  <a:srgbClr val="333333"/>
                </a:solidFill>
                <a:latin typeface="Calibri"/>
              </a:defRPr>
            </a:pPr>
            <a:r>
              <a:t>Bull: In the bull scenario, Apple accelerates growth through three key drivers: (1) **Services hypergrowth**, with the segment expanding to 30% of revenue by FY26 (vs. 22% in FY23) on the back of higher-margin offerings like Apple TV+, Fitness+, and AI-powered features, driving overall gross margins to 45% (vs. 44% in FY23). (2) **iPhone supercycle**, fueled by the launch of the iPhone 16 in late 2024, which could see 20% YoY unit growth (vs. 3% in FY23) due to AI integration and pent-up demand in China. (3) **Wearables and new categories**, with Vision Pro adoption exceeding 1 million units in FY25 and AirPods Pro 2 driving 15% YoY growth in the segment. This scenario could see AAPL trade at 35x forward P/E, implying ~30% upside from current levels, with EPS reaching $7.50 by FY26 (vs. $6.16 in FY23).</a:t>
            </a:r>
          </a:p>
          <a:p>
            <a:pPr>
              <a:spcBef>
                <a:spcPts val="200"/>
              </a:spcBef>
              <a:spcAft>
                <a:spcPts val="200"/>
              </a:spcAft>
              <a:defRPr sz="1400">
                <a:solidFill>
                  <a:srgbClr val="333333"/>
                </a:solidFill>
                <a:latin typeface="Calibri"/>
              </a:defRPr>
            </a:pPr>
            <a:r>
              <a:t>Base: In the base case, Apple delivers steady, high-quality growth with revenue expanding at a 5-7% CAGR through FY26, driven by 3-5% iPhone unit growth, 10-12% Services growth, and 8-10% Wearables growth. Gross margins stabilize at ~44%, while operating margins expand modestly to 30% (vs. 29.8% in FY23) on cost efficiencies. EPS grows at a 10% CAGR, reaching $7.00 by FY26, supported by $80-90 billion in annual buybacks. The stock trades at 28-30x forward P/E, in line with its historical premium, implying ~15-20% upside from current levels. Key assumptions include stable macro conditions, no major regulatory setbacks (e.g., App Store rules), and continued execution in China and India. This scenario reflects Apple’s ability to compound earnings at a mid-teens rate while maintaining its premium valuation.</a:t>
            </a:r>
          </a:p>
          <a:p>
            <a:pPr>
              <a:spcBef>
                <a:spcPts val="200"/>
              </a:spcBef>
              <a:spcAft>
                <a:spcPts val="200"/>
              </a:spcAft>
              <a:defRPr sz="1400">
                <a:solidFill>
                  <a:srgbClr val="333333"/>
                </a:solidFill>
                <a:latin typeface="Calibri"/>
              </a:defRPr>
            </a:pPr>
            <a:r>
              <a:t>Bear: The bear case centers on three downside risks: (1) **iPhone demand weakness**, with unit growth stalling at 0-2% YoY due to elongated replacement cycles, macro pressures, or competitive inroads from Android in China (where Huawei’s Mate 60 Pro gained 10% market share in Q4 2023). (2) **Regulatory and legal headwinds**, including potential forced changes to the App Store model (e.g., sideloading in the EU) or antitrust actions in the U.S., which could erode Services margins by 200-300 bps. (3) **Margin compression**, with gross margins falling to 42% (vs. 44% in FY23) due to higher component costs or pricing pressure in wearables. In this scenario, revenue growth slows to 2-4% YoY, EPS stagnates at $6.00-$6.50, and the stock re-rates to 22-24x forward P/E, implying ~20-25% downside from current levels. Triggers include a miss in Q1 FY24 earnings (Jan 2024), escalating U.S.-China tensions, or a broader tech sector multiple contraction.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Q1 FY24 earnings release (January 2024) — iPhone 15 demand trends, Services growth, and China performance will be critical for near-term sentiment.</a:t>
            </a:r>
          </a:p>
          <a:p>
            <a:pPr>
              <a:spcBef>
                <a:spcPts val="200"/>
              </a:spcBef>
              <a:spcAft>
                <a:spcPts val="200"/>
              </a:spcAft>
              <a:defRPr sz="1400">
                <a:solidFill>
                  <a:srgbClr val="333333"/>
                </a:solidFill>
                <a:latin typeface="Calibri"/>
              </a:defRPr>
            </a:pPr>
            <a:r>
              <a:t>iPhone 16 launch (September 2024) — AI integration and potential supercycle could drive multiple expansion ahead of the event.</a:t>
            </a:r>
          </a:p>
          <a:p>
            <a:pPr>
              <a:spcBef>
                <a:spcPts val="200"/>
              </a:spcBef>
              <a:spcAft>
                <a:spcPts val="200"/>
              </a:spcAft>
              <a:defRPr sz="1400">
                <a:solidFill>
                  <a:srgbClr val="333333"/>
                </a:solidFill>
                <a:latin typeface="Calibri"/>
              </a:defRPr>
            </a:pPr>
            <a:r>
              <a:t>EU Digital Markets Act (DMA) implementation (March 2024) — Clarity on App Store changes and potential impact on Services margins will be a key focus.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