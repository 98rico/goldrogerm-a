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Valuation Football Field  ($M EV)</a:t>
            </a:r>
          </a:p>
        </c:rich>
      </c:tx>
      <c:layout/>
      <c:overlay val="0"/>
    </c:title>
    <c:autoTitleDeleted val="0"/>
    <c:plotArea>
      <c:barChart>
        <c:barDir val="bar"/>
        <c:grouping val="clustered"/>
        <c:ser>
          <c:idx val="0"/>
          <c:order val="0"/>
          <c:tx>
            <c:strRef>
              <c:f>Sheet1!$B$1</c:f>
              <c:strCache>
                <c:ptCount val="1"/>
                <c:pt idx="0">
                  <c:v>Bear</c:v>
                </c:pt>
              </c:strCache>
            </c:strRef>
          </c:tx>
          <c:spPr>
            <a:solidFill>
              <a:srgbClr val="C00000"/>
            </a:solidFill>
          </c:spPr>
          <c:cat>
            <c:strRef>
              <c:f>Sheet1!$A$2:$A$4</c:f>
              <c:strCache>
                <c:ptCount val="3"/>
                <c:pt idx="0">
                  <c:v>DCF EV</c:v>
                </c:pt>
                <c:pt idx="1">
                  <c:v>Comps EV</c:v>
                </c:pt>
                <c:pt idx="2">
                  <c:v>Blended EV</c:v>
                </c:pt>
              </c:strCache>
            </c:strRef>
          </c:cat>
          <c:val>
            <c:numRef>
              <c:f>Sheet1!$B$2:$B$4</c:f>
              <c:numCache>
                <c:formatCode>General</c:formatCode>
                <c:ptCount val="3"/>
                <c:pt idx="0">
                  <c:v>1461900.0</c:v>
                </c:pt>
                <c:pt idx="1">
                  <c:v>3137000.0</c:v>
                </c:pt>
                <c:pt idx="2">
                  <c:v>2131900.0</c:v>
                </c:pt>
              </c:numCache>
            </c:numRef>
          </c:val>
        </c:ser>
        <c:ser>
          <c:idx val="1"/>
          <c:order val="1"/>
          <c:tx>
            <c:strRef>
              <c:f>Sheet1!$C$1</c:f>
              <c:strCache>
                <c:ptCount val="1"/>
                <c:pt idx="0">
                  <c:v>Base</c:v>
                </c:pt>
              </c:strCache>
            </c:strRef>
          </c:tx>
          <c:spPr>
            <a:solidFill>
              <a:srgbClr val="FFC000"/>
            </a:solidFill>
          </c:spPr>
          <c:cat>
            <c:strRef>
              <c:f>Sheet1!$A$2:$A$4</c:f>
              <c:strCache>
                <c:ptCount val="3"/>
                <c:pt idx="0">
                  <c:v>DCF EV</c:v>
                </c:pt>
                <c:pt idx="1">
                  <c:v>Comps EV</c:v>
                </c:pt>
                <c:pt idx="2">
                  <c:v>Blended EV</c:v>
                </c:pt>
              </c:strCache>
            </c:strRef>
          </c:cat>
          <c:val>
            <c:numRef>
              <c:f>Sheet1!$C$2:$C$4</c:f>
              <c:numCache>
                <c:formatCode>General</c:formatCode>
                <c:ptCount val="3"/>
                <c:pt idx="0">
                  <c:v>2038000.0</c:v>
                </c:pt>
                <c:pt idx="1">
                  <c:v>4931200.0</c:v>
                </c:pt>
                <c:pt idx="2">
                  <c:v>3195300.0</c:v>
                </c:pt>
              </c:numCache>
            </c:numRef>
          </c:val>
        </c:ser>
        <c:ser>
          <c:idx val="2"/>
          <c:order val="2"/>
          <c:tx>
            <c:strRef>
              <c:f>Sheet1!$D$1</c:f>
              <c:strCache>
                <c:ptCount val="1"/>
                <c:pt idx="0">
                  <c:v>Bull</c:v>
                </c:pt>
              </c:strCache>
            </c:strRef>
          </c:tx>
          <c:spPr>
            <a:solidFill>
              <a:srgbClr val="00B050"/>
            </a:solidFill>
          </c:spPr>
          <c:cat>
            <c:strRef>
              <c:f>Sheet1!$A$2:$A$4</c:f>
              <c:strCache>
                <c:ptCount val="3"/>
                <c:pt idx="0">
                  <c:v>DCF EV</c:v>
                </c:pt>
                <c:pt idx="1">
                  <c:v>Comps EV</c:v>
                </c:pt>
                <c:pt idx="2">
                  <c:v>Blended EV</c:v>
                </c:pt>
              </c:strCache>
            </c:strRef>
          </c:cat>
          <c:val>
            <c:numRef>
              <c:f>Sheet1!$D$2:$D$4</c:f>
              <c:numCache>
                <c:formatCode>General</c:formatCode>
                <c:ptCount val="3"/>
                <c:pt idx="0">
                  <c:v>2769500.0</c:v>
                </c:pt>
                <c:pt idx="1">
                  <c:v>7378900.0</c:v>
                </c:pt>
                <c:pt idx="2">
                  <c:v>4613300.0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6.0</c:v>
                </c:pt>
                <c:pt idx="3">
                  <c:v>5.0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NVIDIA</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Information Technology  |  Public</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HOLD</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$4.89T     |     Revenue: $215938.00704M     |     EBITDA Margin: 0.61698     |     Upside/Downside: +2.6%</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52/100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NVIDIA delivers steady, albeit moderating, growth as the AI infrastructure market matures. Key assumptions i</a:t>
            </a:r>
          </a:p>
          <a:p>
            <a:pPr>
              <a:spcBef>
                <a:spcPts val="200"/>
              </a:spcBef>
              <a:spcAft>
                <a:spcPts val="200"/>
              </a:spcAft>
              <a:defRPr sz="1400">
                <a:solidFill>
                  <a:srgbClr val="333333"/>
                </a:solidFill>
                <a:latin typeface="Calibri"/>
              </a:defRPr>
            </a:pPr>
            <a:r>
              <a:t>Bull: The bull case centers on NVIDIA’s ability to sustain its AI leadership through relentless innovation and ecosystem expansion. Key</a:t>
            </a:r>
          </a:p>
          <a:p>
            <a:pPr>
              <a:spcBef>
                <a:spcPts val="200"/>
              </a:spcBef>
              <a:spcAft>
                <a:spcPts val="200"/>
              </a:spcAft>
              <a:defRPr sz="1400">
                <a:solidFill>
                  <a:srgbClr val="333333"/>
                </a:solidFill>
                <a:latin typeface="Calibri"/>
              </a:defRPr>
            </a:pPr>
            <a:r>
              <a:t>Bear: The bear case materializes if NVIDIA’s AI leadership erodes due to competitive, demand, or execution risks. Key downside triggers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NVIDIA</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May 04, 2026 | Information Technology</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leading technology company specializing in graphics processing units (GPUs) for gaming, professional visualization, data centers, and artificial intelligence.</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$203.52 | Implied EV: $4.89T | Upside/Downside: +2.6% | Current: $198.45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NVIDIA generates revenue primarily through the sale of GPUs, AI computing platforms, and related software and services. Key revenue streams include gaming GPUs, data center solutions, professional visualization, and automotive AI technologies.</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NVDA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+12.0%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215938.00704</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+12.0%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0.71068</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0.61698</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0.55603004</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58128.9984</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0.002366001455186311</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$4.89T</a:t>
            </a:r>
          </a:p>
          <a:p>
            <a:pPr>
              <a:spcBef>
                <a:spcPts val="200"/>
              </a:spcBef>
              <a:spcAft>
                <a:spcPts val="200"/>
              </a:spcAft>
              <a:defRPr sz="1400">
                <a:solidFill>
                  <a:srgbClr val="333333"/>
                </a:solidFill>
                <a:latin typeface="Calibri"/>
              </a:defRPr>
            </a:pPr>
            <a:r>
              <a:t>Target price (per share): $203.52</a:t>
            </a:r>
          </a:p>
          <a:p>
            <a:pPr>
              <a:spcBef>
                <a:spcPts val="200"/>
              </a:spcBef>
              <a:spcAft>
                <a:spcPts val="200"/>
              </a:spcAft>
              <a:defRPr sz="1400">
                <a:solidFill>
                  <a:srgbClr val="333333"/>
                </a:solidFill>
                <a:latin typeface="Calibri"/>
              </a:defRPr>
            </a:pPr>
            <a:r>
              <a:t>Upside/Downside: +2.6%</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Current price: $198.45</a:t>
            </a:r>
          </a:p>
          <a:p>
            <a:pPr>
              <a:spcBef>
                <a:spcPts val="200"/>
              </a:spcBef>
              <a:spcAft>
                <a:spcPts val="200"/>
              </a:spcAft>
              <a:defRPr sz="1400">
                <a:solidFill>
                  <a:srgbClr val="333333"/>
                </a:solidFill>
                <a:latin typeface="Calibri"/>
              </a:defRPr>
            </a:pPr>
            <a:r>
              <a:t>DCF: WACC 17.34%,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118872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1188720">
                <a:tc>
                  <a:txBody>
                    <a:bodyPr/>
                    <a:lstStyle/>
                    <a:p>
                      <a:pPr>
                        <a:defRPr sz="1100">
                          <a:solidFill>
                            <a:srgbClr val="333333"/>
                          </a:solidFill>
                          <a:latin typeface="Calibri"/>
                        </a:defRPr>
                      </a:pPr>
                      <a:r>
                        <a:t>DCF</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3207710.1</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60%</a:t>
                      </a:r>
                    </a:p>
                  </a:txBody>
                  <a:tcPr>
                    <a:solidFill>
                      <a:srgbClr val="FFFFFF"/>
                    </a:solidFill>
                  </a:tcPr>
                </a:tc>
              </a:tr>
              <a:tr h="1188720">
                <a:tc>
                  <a:txBody>
                    <a:bodyPr/>
                    <a:lstStyle/>
                    <a:p>
                      <a:pPr>
                        <a:defRPr sz="1100">
                          <a:solidFill>
                            <a:srgbClr val="333333"/>
                          </a:solidFill>
                          <a:latin typeface="Calibri"/>
                        </a:defRPr>
                      </a:pPr>
                      <a:r>
                        <a:t>Trading Comps (EV_EBITDA)</a:t>
                      </a:r>
                    </a:p>
                  </a:txBody>
                  <a:tcPr>
                    <a:solidFill>
                      <a:srgbClr val="FAFAFA"/>
                    </a:solidFill>
                  </a:tcPr>
                </a:tc>
                <a:tc>
                  <a:txBody>
                    <a:bodyPr/>
                    <a:lstStyle/>
                    <a:p>
                      <a:pPr>
                        <a:defRPr sz="1100">
                          <a:solidFill>
                            <a:srgbClr val="333333"/>
                          </a:solidFill>
                          <a:latin typeface="Calibri"/>
                        </a:defRPr>
                      </a:pPr>
                      <a:r>
                        <a:t>5939380.0</a:t>
                      </a:r>
                    </a:p>
                  </a:txBody>
                  <a:tcPr>
                    <a:solidFill>
                      <a:srgbClr val="FAFAFA"/>
                    </a:solidFill>
                  </a:tcPr>
                </a:tc>
                <a:tc>
                  <a:txBody>
                    <a:bodyPr/>
                    <a:lstStyle/>
                    <a:p>
                      <a:pPr>
                        <a:defRPr sz="1100">
                          <a:solidFill>
                            <a:srgbClr val="333333"/>
                          </a:solidFill>
                          <a:latin typeface="Calibri"/>
                        </a:defRPr>
                      </a:pPr>
                      <a:r>
                        <a:t>7424225.0</a:t>
                      </a:r>
                    </a:p>
                  </a:txBody>
                  <a:tcPr>
                    <a:solidFill>
                      <a:srgbClr val="FAFAFA"/>
                    </a:solidFill>
                  </a:tcPr>
                </a:tc>
                <a:tc>
                  <a:txBody>
                    <a:bodyPr/>
                    <a:lstStyle/>
                    <a:p>
                      <a:pPr>
                        <a:defRPr sz="1100">
                          <a:solidFill>
                            <a:srgbClr val="333333"/>
                          </a:solidFill>
                          <a:latin typeface="Calibri"/>
                        </a:defRPr>
                      </a:pPr>
                      <a:r>
                        <a:t>8909070.0</a:t>
                      </a:r>
                    </a:p>
                  </a:txBody>
                  <a:tcPr>
                    <a:solidFill>
                      <a:srgbClr val="FAFAFA"/>
                    </a:solidFill>
                  </a:tcPr>
                </a:tc>
                <a:tc>
                  <a:txBody>
                    <a:bodyPr/>
                    <a:lstStyle/>
                    <a:p>
                      <a:pPr>
                        <a:defRPr sz="1100">
                          <a:solidFill>
                            <a:srgbClr val="333333"/>
                          </a:solidFill>
                          <a:latin typeface="Calibri"/>
                        </a:defRPr>
                      </a:pPr>
                      <a:r>
                        <a:t>40%</a:t>
                      </a:r>
                    </a:p>
                  </a:txBody>
                  <a:tcPr>
                    <a:solidFill>
                      <a:srgbClr val="FAFAFA"/>
                    </a:solidFill>
                  </a:tcPr>
                </a:tc>
              </a:tr>
              <a:tr h="1188720">
                <a:tc>
                  <a:txBody>
                    <a:bodyPr/>
                    <a:lstStyle/>
                    <a:p>
                      <a:pPr>
                        <a:defRPr sz="1100">
                          <a:solidFill>
                            <a:srgbClr val="333333"/>
                          </a:solidFill>
                          <a:latin typeface="Calibri"/>
                        </a:defRPr>
                      </a:pPr>
                      <a:r>
                        <a:t>Transaction Comps</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3008292.4</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Football Field — Bear / Base / Bull</a:t>
            </a:r>
          </a:p>
        </p:txBody>
      </p:sp>
      <p:graphicFrame>
        <p:nvGraphicFramePr>
          <p:cNvPr id="5" name="Chart 4"/>
          <p:cNvGraphicFramePr>
            <a:graphicFrameLocks noGrp="1"/>
          </p:cNvGraphicFramePr>
          <p:nvPr/>
        </p:nvGraphicFramePr>
        <p:xfrm>
          <a:off x="457200" y="1097280"/>
          <a:ext cx="11430000" cy="5303520"/>
        </p:xfrm>
        <a:graphic>
          <a:graphicData uri="http://schemas.openxmlformats.org/drawingml/2006/chart">
            <c:chart xmlns:c="http://schemas.openxmlformats.org/drawingml/2006/chart" r:id="rId2"/>
          </a:graphicData>
        </a:graphic>
      </p:graphicFrame>
      <p:sp>
        <p:nvSpPr>
          <p:cNvPr id="6" name="TextBox 5"/>
          <p:cNvSpPr txBox="1"/>
          <p:nvPr/>
        </p:nvSpPr>
        <p:spPr>
          <a:xfrm>
            <a:off x="457200" y="6492240"/>
            <a:ext cx="11247120" cy="274320"/>
          </a:xfrm>
          <a:prstGeom prst="rect">
            <a:avLst/>
          </a:prstGeom>
          <a:noFill/>
        </p:spPr>
        <p:txBody>
          <a:bodyPr wrap="none">
            <a:spAutoFit/>
          </a:bodyPr>
          <a:lstStyle/>
          <a:p>
            <a:r>
              <a:rPr b="1" sz="2000">
                <a:solidFill>
                  <a:srgbClr val="333333"/>
                </a:solidFill>
                <a:latin typeface="Calibri"/>
              </a:rPr>
              <a:t/>
            </a:r>
          </a:p>
          <a:p>
            <a:pPr>
              <a:spcBef>
                <a:spcPts val="200"/>
              </a:spcBef>
              <a:spcAft>
                <a:spcPts val="200"/>
              </a:spcAft>
              <a:defRPr sz="1400">
                <a:solidFill>
                  <a:srgbClr val="333333"/>
                </a:solidFill>
                <a:latin typeface="Calibri"/>
              </a:defRPr>
            </a:pPr>
            <a:r>
              <a:t>Blended range: $2131.9B — $4613.3B   DCF: $1461.9B — $2769.5B   Comps: $3137.0B — $7378.9B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6.0/10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52/100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NVIDIA IC score 52/100. Strengths: financial (6/10), strategy (5/10). Risks: strategy (5/10), synergies (5/10). Equity upside: +2.6%.</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NVIDIA remains the undisputed leader in accelerated computing, underpinned by its dominant position in AI infrastructure and a multi-year secular tailwind from enterprise and hyperscale adoption of generative AI. The company’s competitive moat is anchored in its full-stack ecosystem—spanning proprietary GPUs, CUDA software, and vertical integration—enabling unmatched performance and developer lock-in. Recent product cycles, including the Hopper and Blackwell architectures, have demonstrated sustained leadership in AI training and inference, with Blackwell’s anticipated ramp expected to drive another leg of growth in data center revenue. While near-term demand normalization in AI-capable GPUs has led to modest inventory digestion, the structural shift toward AI-driven workloads across cloud, enterprise, and edge computing underpins a durable revenue trajectory. Margins remain best-in-class, reflecting pricing power and operational leverage, though incremental investments in R&amp;D and supply chain capacity may temper near-term expansion. Valuation, while elevated, is supported by NVIDIA’s role as the primary enabler of the AI revolution, though execution risks around supply chain bottlenecks and competitive encroachment from AMD and custom ASICs warrant close monitoring.</a:t>
            </a:r>
          </a:p>
          <a:p>
            <a:pPr>
              <a:spcBef>
                <a:spcPts val="200"/>
              </a:spcBef>
              <a:spcAft>
                <a:spcPts val="200"/>
              </a:spcAft>
              <a:defRPr sz="1400">
                <a:solidFill>
                  <a:srgbClr val="333333"/>
                </a:solidFill>
                <a:latin typeface="Calibri"/>
              </a:defRPr>
            </a:pPr>
            <a:r>
              <a:t>Bull: The bull case centers on NVIDIA’s ability to sustain its AI leadership through relentless innovation and ecosystem expansion. Key drivers include: (1) Blackwell’s ramp accelerating data center revenue growth beyond current expectations, fueled by hyperscalers’ AI capex commitments and enterprise adoption of AI inference workloads; (2) CUDA’s entrenched position as the de facto standard for AI development, creating a virtuous cycle of hardware-software synergy and customer stickiness; and (3) diversification into adjacent markets such as automotive, robotics, and edge AI, which could unlock incremental revenue streams. In this scenario, NVIDIA’s revenue growth reaccelerates, margins expand modestly, and the company cements its role as the foundational layer of the AI economy, justifying a premium multiple.</a:t>
            </a:r>
          </a:p>
          <a:p>
            <a:pPr>
              <a:spcBef>
                <a:spcPts val="200"/>
              </a:spcBef>
              <a:spcAft>
                <a:spcPts val="200"/>
              </a:spcAft>
              <a:defRPr sz="1400">
                <a:solidFill>
                  <a:srgbClr val="333333"/>
                </a:solidFill>
                <a:latin typeface="Calibri"/>
              </a:defRPr>
            </a:pPr>
            <a:r>
              <a:t>Base: The base case assumes NVIDIA delivers steady, albeit moderating, growth as the AI infrastructure market matures. Key assumptions include: (1) data center revenue growth normalizes to a high-single-digit to low-double-digit sequential pace post-Blackwell ramp, as hyperscalers absorb existing capacity and new demand scales linearly; (2) gaming and professional visualization segments remain stable, benefiting from seasonal refresh cycles and workstation upgrades; and (3) gross margins remain resilient, supported by pricing power and cost efficiencies, though operating margins face pressure from elevated R&amp;D and SG&amp;A spend. Competitive threats from AMD and custom ASICs (e.g., Google’s TPUs) remain contained, with NVIDIA retaining &gt;80% market share in AI training. Valuation reflects a balanced risk-reward, with limited near-term upside absent a reacceleration in AI capex or a breakthrough in new end-markets.</a:t>
            </a:r>
          </a:p>
          <a:p>
            <a:pPr>
              <a:spcBef>
                <a:spcPts val="200"/>
              </a:spcBef>
              <a:spcAft>
                <a:spcPts val="200"/>
              </a:spcAft>
              <a:defRPr sz="1400">
                <a:solidFill>
                  <a:srgbClr val="333333"/>
                </a:solidFill>
                <a:latin typeface="Calibri"/>
              </a:defRPr>
            </a:pPr>
            <a:r>
              <a:t>Bear: The bear case materializes if NVIDIA’s AI leadership erodes due to competitive, demand, or execution risks. Key downside triggers include: (1) hyperscalers pivoting to in-house or alternative AI chips (e.g., Amazon’s Trainium, Microsoft’s Athena) to reduce dependency on NVIDIA, leading to share loss in training and inference; (2) a broader slowdown in AI capex, as enterprises delay or scale back generative AI projects due to ROI uncertainty or macroeconomic headwinds; and (3) supply chain disruptions or yield issues with Blackwell, delaying ramp and ceding market share to AMD’s MI300X. In this scenario, revenue growth decelerates sharply, margins compress due to pricing pressure, and valuation multiples contract, reflecting diminished long-term growth expectations.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Q2 FY25 earnings release (August 2024), which will provide visibility into Blackwell’s early adoption, data center demand trends, and inventory levels across the supply chain</a:t>
            </a:r>
          </a:p>
          <a:p>
            <a:pPr>
              <a:spcBef>
                <a:spcPts val="200"/>
              </a:spcBef>
              <a:spcAft>
                <a:spcPts val="200"/>
              </a:spcAft>
              <a:defRPr sz="1400">
                <a:solidFill>
                  <a:srgbClr val="333333"/>
                </a:solidFill>
                <a:latin typeface="Calibri"/>
              </a:defRPr>
            </a:pPr>
            <a:r>
              <a:t>NVIDIA’s GTC 2025 conference (March 2025), where the company is expected to unveil next-generation AI architectures and ecosystem updates, potentially reigniting investor enthusiasm</a:t>
            </a:r>
          </a:p>
          <a:p>
            <a:pPr>
              <a:spcBef>
                <a:spcPts val="200"/>
              </a:spcBef>
              <a:spcAft>
                <a:spcPts val="200"/>
              </a:spcAft>
              <a:defRPr sz="1400">
                <a:solidFill>
                  <a:srgbClr val="333333"/>
                </a:solidFill>
                <a:latin typeface="Calibri"/>
              </a:defRPr>
            </a:pPr>
            <a:r>
              <a:t>Regulatory developments in the U.S. and China, including potential export restrictions on advanced AI chips, which could disrupt NVIDIA’s supply chain or limit access to key markets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