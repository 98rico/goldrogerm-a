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Acquisition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1200">
                <a:solidFill>
                  <a:srgbClr val="666666"/>
                </a:solidFill>
                <a:latin typeface="Calibri"/>
              </a:rPr>
              <a:t>Generated April 27, 2026 | Buyer: Carlyle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1155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Thesis / Focus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European B2B SaaS presents a fragmented but high-quality landscape with founder-led companies offering sticky, high-margin recurring revenue. Targets with premium positioning, strong brand loyalty, and scalable digital infrastructure are ideal for Carlyle’s buy-and-build strategy, enabling rapid international expansion and margin expansion through operational synergies.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European B2B SaaS, ARR €5M–€50M, founder-led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111556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Screening Criteria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European headquarters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B2B SaaS model with recurring revenue (ARR €5M–€50M)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Founder-led or founder-controlled management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Premium positioning, strong brand loyalty, and digital-first go-to-market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Scalable international expansion potential (EU + UK/US)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Target Shortlist (with valuation estimates)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Shortlist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5448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13258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HQ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 (wk.)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EBITDA 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Implied EV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Teamleader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Ghent, Belgium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B2B SaaS (CRM, project management, invoicing for SMEs)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€40m (est.)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22–28% (est.)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€140m–€180m (est.)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Planday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Copenhagen, Denmark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B2B SaaS (workforce management for retail, hospitality, healthcare)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€30m (est.)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18–24% (est.)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€100m–€140m (est.)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Uppler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Paris, France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B2B SaaS (procurement automation for SMEs and mid-market)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€16m (est.)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20–26% (est.)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€60m–€90m (est.)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Teamleader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Investment Case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Leader in European SME business software with 15+ years of track record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High customer retention (NPS &gt;60) and low churn (&lt;5%)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Scalable product-led growth with strong integrations (Xero, QuickBooks, Zapier)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Founder Steven De Schrijver remains active as CEO, aligning incentives with Carlyle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Strategic value: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Platform extensibility into adjacent workflows (HR, finance, ops) for upsell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Cross-border expansion runway in DACH and Nordics via bolt-on acquisitions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Synergies / Risks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Synergies: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Cross-selling Teamleader’s CRM into Carlyle’s portfolio companies for operational efficiency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Leveraging Carlyle’s global footprint to accelerate US expansion (currently &lt;10% of ARR)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Cost synergies via shared GTM playbook and centralized customer success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Risks: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Competition from global incumbents (Salesforce, Microsoft Dynamics) in enterprise segment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Currency risk (€-denominated revenue, USD/EUR volatility)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Talent retention in competitive European tech labor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3212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Valuation (est.)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Revenue range: €35m–€45m (est.) | Working: €40m (est.) | EBITDA: 22–28% (est.) | EV: €140m–€180m (est.)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Rationale: Public comp: Teamleader listed on Euronext Brussels (TEAM BB) — EV/Revenue ~3.5x, EV/EBITDA ~12x (2023); Peer comp: German SME SaaS Peer (e.g., Seismic) — EV/Revenue ~4.5x, EV/EBITDA ~15x (2023); Growth-adjusted: 25% ARR growth (est.), margin expansion via operational leverage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Planday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Investment Case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Market leader in European workforce management SaaS with 10,000+ customers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High retention (90%+ logo retention) and strong unit economics (Gross Margin ~85%)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AI-driven scheduling and compliance features create sticky, high-margin revenue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Founder Mads Peter Teilmann remains as Executive Chairman, ensuring strategic alignment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Strategic value: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Platform extensibility into adjacent verticals (healthcare, logistics) for upsell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Cross-border expansion runway in UK and DACH via bolt-on acquisitions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Synergies / Risks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Synergies: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Integration with Carlyle’s portfolio companies in retail/hospitality for workforce optimization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Leveraging Carlyle’s global footprint to accelerate US expansion (currently &lt;5% of ARR)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Cost synergies via shared R&amp;D and customer success functions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Risks: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Regulatory risk (labor laws, GDPR compliance across jurisdictions)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Competition from global incumbents (UKG, ADP) in enterprise segment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Talent retention in competitive Nordic tech labor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3212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Valuation (est.)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Revenue range: €25m–€35m (est.) | Working: €30m (est.) | EBITDA: 18–24% (est.) | EV: €100m–€140m (est.)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Rationale: Peer comp: UKG (Ultimate Kronos Group) — EV/Revenue ~6x, EV/EBITDA ~20x (2023); Peer comp: Quinyx (Nordic workforce management) — EV/Revenue ~5x (2022, acquired by Summa Equity); Growth-adjusted: 30% ARR growth (est.), margin expansion via AI-driven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Uppler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Investment Case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Leader in French procurement automation with 500+ customers and 40% YoY growth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High retention (95%+ logo retention) and strong unit economics (Gross Margin ~80%)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AI-driven spend analytics and supplier management create sticky, high-margin revenue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Founders remain deeply involved in product and go-to-market strategy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Strategic value: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Platform extensibility into adjacent procurement workflows (contract lifecycle management, supplier risk)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Cross-border expansion runway in UK and DACH via bolt-on acquisitions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Synergies / Risks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Synergies: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Integration with Carlyle’s portfolio companies for procurement cost optimization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Leveraging Carlyle’s global footprint to accelerate US expansion (currently &lt;5% of ARR)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Cost synergies via shared GTM playbook and centralized customer success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Risks: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Competition from global incumbents (Coupa, Ivalua) in enterprise segment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Regulatory risk (GDPR, French data sovereignty requirements)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Talent retention in competitive French tech labor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3212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Valuation (est.)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Revenue range: €12m–€20m (est.) | Working: €16m (est.) | EBITDA: 20–26% (est.) | EV: €60m–€90m (est.)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Rationale: Peer comp: Ivalua (French procurement SaaS) — EV/Revenue ~5x, EV/EBITDA ~18x (2023); Peer comp: Procurify (US procurement SaaS) — EV/Revenue ~6x (2023); Growth-adjusted: 40% ARR growth (est.), margin expansion via AI-driven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