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Sézane</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April 28, 2026 | Fashion and Apparel</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A French fashion brand specializing in ready-to-wear clothing, accessories, and leather goods with a focus on timeless design and sustainability.</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HOLD | Target: 1539.3 | Upside/Downside: N/A | Current: 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Direct-to-consumer sales through e-commerce and physical boutiques, with revenue generated from premium-priced apparel, accessories, and limited-edition collections.</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No advantages provided.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N/A</a:t>
            </a:r>
          </a:p>
          <a:p>
            <a:pPr>
              <a:spcBef>
                <a:spcPts val="200"/>
              </a:spcBef>
              <a:spcAft>
                <a:spcPts val="200"/>
              </a:spcAft>
              <a:defRPr sz="1400">
                <a:solidFill>
                  <a:srgbClr val="333333"/>
                </a:solidFill>
                <a:latin typeface="Calibri"/>
              </a:defRPr>
            </a:pPr>
            <a:r>
              <a:t>Growth (CAGR): N/A</a:t>
            </a:r>
          </a:p>
          <a:p>
            <a:pPr>
              <a:spcBef>
                <a:spcPts val="200"/>
              </a:spcBef>
              <a:spcAft>
                <a:spcPts val="200"/>
              </a:spcAft>
              <a:defRPr sz="1400">
                <a:solidFill>
                  <a:srgbClr val="333333"/>
                </a:solidFill>
                <a:latin typeface="Calibri"/>
              </a:defRPr>
            </a:pPr>
            <a:r>
              <a:t>Segment: premium sustainable ready-to-wear, accessories, and leather goods (French/European market focus)</a:t>
            </a:r>
          </a:p>
          <a:p>
            <a:pPr>
              <a:spcBef>
                <a:spcPts val="200"/>
              </a:spcBef>
              <a:spcAft>
                <a:spcPts val="200"/>
              </a:spcAft>
              <a:defRPr sz="1400">
                <a:solidFill>
                  <a:srgbClr val="333333"/>
                </a:solidFill>
                <a:latin typeface="Calibri"/>
              </a:defRPr>
            </a:pPr>
            <a:r>
              <a:t>Company share: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Rising consumer preference for sustainable and ethically produced fashion</a:t>
            </a:r>
          </a:p>
          <a:p>
            <a:pPr>
              <a:spcBef>
                <a:spcPts val="200"/>
              </a:spcBef>
              <a:spcAft>
                <a:spcPts val="200"/>
              </a:spcAft>
              <a:defRPr sz="1400">
                <a:solidFill>
                  <a:srgbClr val="333333"/>
                </a:solidFill>
                <a:latin typeface="Calibri"/>
              </a:defRPr>
            </a:pPr>
            <a:r>
              <a:t>Growth in direct-to-consumer (DTC) and e-commerce channels</a:t>
            </a:r>
          </a:p>
          <a:p>
            <a:pPr>
              <a:spcBef>
                <a:spcPts val="200"/>
              </a:spcBef>
              <a:spcAft>
                <a:spcPts val="200"/>
              </a:spcAft>
              <a:defRPr sz="1400">
                <a:solidFill>
                  <a:srgbClr val="333333"/>
                </a:solidFill>
                <a:latin typeface="Calibri"/>
              </a:defRPr>
            </a:pPr>
            <a:r>
              <a:t>Increased demand for timeless, high-quality wardrobe staples over fast fashion</a:t>
            </a:r>
          </a:p>
          <a:p>
            <a:pPr>
              <a:spcBef>
                <a:spcPts val="200"/>
              </a:spcBef>
              <a:spcAft>
                <a:spcPts val="200"/>
              </a:spcAft>
              <a:defRPr sz="1400">
                <a:solidFill>
                  <a:srgbClr val="333333"/>
                </a:solidFill>
                <a:latin typeface="Calibri"/>
              </a:defRPr>
            </a:pPr>
            <a:r>
              <a:t>Expansion of brand storytelling and community-driven marketing (e.g., purpose-driven branding)</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A.P.C. (n/a)</a:t>
            </a:r>
          </a:p>
          <a:p>
            <a:pPr>
              <a:spcBef>
                <a:spcPts val="200"/>
              </a:spcBef>
              <a:spcAft>
                <a:spcPts val="200"/>
              </a:spcAft>
              <a:defRPr sz="1400">
                <a:solidFill>
                  <a:srgbClr val="333333"/>
                </a:solidFill>
                <a:latin typeface="Calibri"/>
              </a:defRPr>
            </a:pPr>
            <a:r>
              <a:t>Isabel Marant (n/a)</a:t>
            </a:r>
          </a:p>
          <a:p>
            <a:pPr>
              <a:spcBef>
                <a:spcPts val="200"/>
              </a:spcBef>
              <a:spcAft>
                <a:spcPts val="200"/>
              </a:spcAft>
              <a:defRPr sz="1400">
                <a:solidFill>
                  <a:srgbClr val="333333"/>
                </a:solidFill>
                <a:latin typeface="Calibri"/>
              </a:defRPr>
            </a:pPr>
            <a:r>
              <a:t>Ba&amp;sh (n/a)</a:t>
            </a:r>
          </a:p>
          <a:p>
            <a:pPr>
              <a:spcBef>
                <a:spcPts val="200"/>
              </a:spcBef>
              <a:spcAft>
                <a:spcPts val="200"/>
              </a:spcAft>
              <a:defRPr sz="1400">
                <a:solidFill>
                  <a:srgbClr val="333333"/>
                </a:solidFill>
                <a:latin typeface="Calibri"/>
              </a:defRPr>
            </a:pPr>
            <a:r>
              <a:t>The Kooples (n/a)</a:t>
            </a:r>
          </a:p>
          <a:p>
            <a:pPr>
              <a:spcBef>
                <a:spcPts val="200"/>
              </a:spcBef>
              <a:spcAft>
                <a:spcPts val="200"/>
              </a:spcAft>
              <a:defRPr sz="1400">
                <a:solidFill>
                  <a:srgbClr val="333333"/>
                </a:solidFill>
                <a:latin typeface="Calibri"/>
              </a:defRPr>
            </a:pPr>
            <a:r>
              <a:t>Sandro (n/a)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250.0</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value: 1539.3</a:t>
            </a:r>
          </a:p>
          <a:p>
            <a:pPr>
              <a:spcBef>
                <a:spcPts val="200"/>
              </a:spcBef>
              <a:spcAft>
                <a:spcPts val="200"/>
              </a:spcAft>
              <a:defRPr sz="1400">
                <a:solidFill>
                  <a:srgbClr val="333333"/>
                </a:solidFill>
                <a:latin typeface="Calibri"/>
              </a:defRPr>
            </a:pPr>
            <a:r>
              <a:t>Upside/Downside: N/A</a:t>
            </a:r>
          </a:p>
          <a:p>
            <a:pPr>
              <a:spcBef>
                <a:spcPts val="200"/>
              </a:spcBef>
              <a:spcAft>
                <a:spcPts val="200"/>
              </a:spcAft>
              <a:defRPr sz="1400">
                <a:solidFill>
                  <a:srgbClr val="333333"/>
                </a:solidFill>
                <a:latin typeface="Calibri"/>
              </a:defRPr>
            </a:pPr>
            <a:r>
              <a:t>Recommendation: HOLD</a:t>
            </a:r>
          </a:p>
          <a:p>
            <a:pPr>
              <a:spcBef>
                <a:spcPts val="200"/>
              </a:spcBef>
              <a:spcAft>
                <a:spcPts val="200"/>
              </a:spcAft>
              <a:defRPr sz="1400">
                <a:solidFill>
                  <a:srgbClr val="333333"/>
                </a:solidFill>
                <a:latin typeface="Calibri"/>
              </a:defRPr>
            </a:pPr>
            <a:r>
              <a:t>Currency: USD</a:t>
            </a:r>
          </a:p>
          <a:p>
            <a:pPr>
              <a:spcBef>
                <a:spcPts val="200"/>
              </a:spcBef>
              <a:spcAft>
                <a:spcPts val="200"/>
              </a:spcAft>
              <a:defRPr sz="1400">
                <a:solidFill>
                  <a:srgbClr val="333333"/>
                </a:solidFill>
                <a:latin typeface="Calibri"/>
              </a:defRPr>
            </a:pPr>
            <a:r>
              <a:t>DCF: WACC 10.00%, TGR 2.00%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118872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1188720">
                <a:tc>
                  <a:txBody>
                    <a:bodyPr/>
                    <a:lstStyle/>
                    <a:p>
                      <a:pPr>
                        <a:defRPr sz="1100">
                          <a:solidFill>
                            <a:srgbClr val="333333"/>
                          </a:solidFill>
                          <a:latin typeface="Calibri"/>
                        </a:defRPr>
                      </a:pPr>
                      <a:r>
                        <a:t>DCF</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444.4</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50%</a:t>
                      </a:r>
                    </a:p>
                  </a:txBody>
                  <a:tcPr>
                    <a:solidFill>
                      <a:srgbClr val="FFFFFF"/>
                    </a:solidFill>
                  </a:tcPr>
                </a:tc>
              </a:tr>
              <a:tr h="1188720">
                <a:tc>
                  <a:txBody>
                    <a:bodyPr/>
                    <a:lstStyle/>
                    <a:p>
                      <a:pPr>
                        <a:defRPr sz="1100">
                          <a:solidFill>
                            <a:srgbClr val="333333"/>
                          </a:solidFill>
                          <a:latin typeface="Calibri"/>
                        </a:defRPr>
                      </a:pPr>
                      <a:r>
                        <a:t>Trading Comps (EV_EBITDA)</a:t>
                      </a:r>
                    </a:p>
                  </a:txBody>
                  <a:tcPr>
                    <a:solidFill>
                      <a:srgbClr val="FAFAFA"/>
                    </a:solidFill>
                  </a:tcPr>
                </a:tc>
                <a:tc>
                  <a:txBody>
                    <a:bodyPr/>
                    <a:lstStyle/>
                    <a:p>
                      <a:pPr>
                        <a:defRPr sz="1100">
                          <a:solidFill>
                            <a:srgbClr val="333333"/>
                          </a:solidFill>
                          <a:latin typeface="Calibri"/>
                        </a:defRPr>
                      </a:pPr>
                      <a:r>
                        <a:t>1193.1</a:t>
                      </a:r>
                    </a:p>
                  </a:txBody>
                  <a:tcPr>
                    <a:solidFill>
                      <a:srgbClr val="FAFAFA"/>
                    </a:solidFill>
                  </a:tcPr>
                </a:tc>
                <a:tc>
                  <a:txBody>
                    <a:bodyPr/>
                    <a:lstStyle/>
                    <a:p>
                      <a:pPr>
                        <a:defRPr sz="1100">
                          <a:solidFill>
                            <a:srgbClr val="333333"/>
                          </a:solidFill>
                          <a:latin typeface="Calibri"/>
                        </a:defRPr>
                      </a:pPr>
                      <a:r>
                        <a:t>1451.6</a:t>
                      </a:r>
                    </a:p>
                  </a:txBody>
                  <a:tcPr>
                    <a:solidFill>
                      <a:srgbClr val="FAFAFA"/>
                    </a:solidFill>
                  </a:tcPr>
                </a:tc>
                <a:tc>
                  <a:txBody>
                    <a:bodyPr/>
                    <a:lstStyle/>
                    <a:p>
                      <a:pPr>
                        <a:defRPr sz="1100">
                          <a:solidFill>
                            <a:srgbClr val="333333"/>
                          </a:solidFill>
                          <a:latin typeface="Calibri"/>
                        </a:defRPr>
                      </a:pPr>
                      <a:r>
                        <a:t>1710.1</a:t>
                      </a:r>
                    </a:p>
                  </a:txBody>
                  <a:tcPr>
                    <a:solidFill>
                      <a:srgbClr val="FAFAFA"/>
                    </a:solidFill>
                  </a:tcPr>
                </a:tc>
                <a:tc>
                  <a:txBody>
                    <a:bodyPr/>
                    <a:lstStyle/>
                    <a:p>
                      <a:pPr>
                        <a:defRPr sz="1100">
                          <a:solidFill>
                            <a:srgbClr val="333333"/>
                          </a:solidFill>
                          <a:latin typeface="Calibri"/>
                        </a:defRPr>
                      </a:pPr>
                      <a:r>
                        <a:t>30%</a:t>
                      </a:r>
                    </a:p>
                  </a:txBody>
                  <a:tcPr>
                    <a:solidFill>
                      <a:srgbClr val="FAFAFA"/>
                    </a:solidFill>
                  </a:tcPr>
                </a:tc>
              </a:tr>
              <a:tr h="1188720">
                <a:tc>
                  <a:txBody>
                    <a:bodyPr/>
                    <a:lstStyle/>
                    <a:p>
                      <a:pPr>
                        <a:defRPr sz="1100">
                          <a:solidFill>
                            <a:srgbClr val="333333"/>
                          </a:solidFill>
                          <a:latin typeface="Calibri"/>
                        </a:defRPr>
                      </a:pPr>
                      <a:r>
                        <a:t>Transaction Comps</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4408.0</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20%</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Football Field — Bear / Base / Bull</a:t>
            </a:r>
          </a:p>
        </p:txBody>
      </p:sp>
      <p:sp>
        <p:nvSpPr>
          <p:cNvPr id="5" name="TextBox 4"/>
          <p:cNvSpPr txBox="1"/>
          <p:nvPr/>
        </p:nvSpPr>
        <p:spPr>
          <a:xfrm>
            <a:off x="685800" y="1188720"/>
            <a:ext cx="11064240" cy="457200"/>
          </a:xfrm>
          <a:prstGeom prst="rect">
            <a:avLst/>
          </a:prstGeom>
          <a:noFill/>
        </p:spPr>
        <p:txBody>
          <a:bodyPr wrap="none">
            <a:spAutoFit/>
          </a:bodyPr>
          <a:lstStyle/>
          <a:p>
            <a:r>
              <a:rPr b="1" sz="2000">
                <a:solidFill>
                  <a:srgbClr val="333333"/>
                </a:solidFill>
                <a:latin typeface="Calibri"/>
              </a:rPr>
              <a:t>Scenario Analysis</a:t>
            </a:r>
          </a:p>
        </p:txBody>
      </p:sp>
      <p:graphicFrame>
        <p:nvGraphicFramePr>
          <p:cNvPr id="6" name="Table 5"/>
          <p:cNvGraphicFramePr>
            <a:graphicFrameLocks noGrp="1"/>
          </p:cNvGraphicFramePr>
          <p:nvPr/>
        </p:nvGraphicFramePr>
        <p:xfrm>
          <a:off x="685800" y="1645920"/>
          <a:ext cx="11064240" cy="274320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685800">
                <a:tc>
                  <a:txBody>
                    <a:bodyPr/>
                    <a:lstStyle/>
                    <a:p>
                      <a:pPr>
                        <a:defRPr b="1" sz="1200">
                          <a:solidFill>
                            <a:srgbClr val="FFFFFF"/>
                          </a:solidFill>
                          <a:latin typeface="Calibri"/>
                        </a:defRPr>
                      </a:pPr>
                      <a:r>
                        <a:t>Scenario</a:t>
                      </a:r>
                    </a:p>
                  </a:txBody>
                  <a:tcPr>
                    <a:solidFill>
                      <a:srgbClr val="1B2A4A"/>
                    </a:solidFill>
                  </a:tcPr>
                </a:tc>
                <a:tc>
                  <a:txBody>
                    <a:bodyPr/>
                    <a:lstStyle/>
                    <a:p>
                      <a:pPr>
                        <a:defRPr b="1" sz="1200">
                          <a:solidFill>
                            <a:srgbClr val="FFFFFF"/>
                          </a:solidFill>
                          <a:latin typeface="Calibri"/>
                        </a:defRPr>
                      </a:pPr>
                      <a:r>
                        <a:t>DCF EV</a:t>
                      </a:r>
                    </a:p>
                  </a:txBody>
                  <a:tcPr>
                    <a:solidFill>
                      <a:srgbClr val="1B2A4A"/>
                    </a:solidFill>
                  </a:tcPr>
                </a:tc>
                <a:tc>
                  <a:txBody>
                    <a:bodyPr/>
                    <a:lstStyle/>
                    <a:p>
                      <a:pPr>
                        <a:defRPr b="1" sz="1200">
                          <a:solidFill>
                            <a:srgbClr val="FFFFFF"/>
                          </a:solidFill>
                          <a:latin typeface="Calibri"/>
                        </a:defRPr>
                      </a:pPr>
                      <a:r>
                        <a:t>Comps EV</a:t>
                      </a:r>
                    </a:p>
                  </a:txBody>
                  <a:tcPr>
                    <a:solidFill>
                      <a:srgbClr val="1B2A4A"/>
                    </a:solidFill>
                  </a:tcPr>
                </a:tc>
                <a:tc>
                  <a:txBody>
                    <a:bodyPr/>
                    <a:lstStyle/>
                    <a:p>
                      <a:pPr>
                        <a:defRPr b="1" sz="1200">
                          <a:solidFill>
                            <a:srgbClr val="FFFFFF"/>
                          </a:solidFill>
                          <a:latin typeface="Calibri"/>
                        </a:defRPr>
                      </a:pPr>
                      <a:r>
                        <a:t>Blended EV</a:t>
                      </a:r>
                    </a:p>
                  </a:txBody>
                  <a:tcPr>
                    <a:solidFill>
                      <a:srgbClr val="1B2A4A"/>
                    </a:solidFill>
                  </a:tcPr>
                </a:tc>
                <a:tc>
                  <a:txBody>
                    <a:bodyPr/>
                    <a:lstStyle/>
                    <a:p>
                      <a:pPr>
                        <a:defRPr b="1" sz="1200">
                          <a:solidFill>
                            <a:srgbClr val="FFFFFF"/>
                          </a:solidFill>
                          <a:latin typeface="Calibri"/>
                        </a:defRPr>
                      </a:pPr>
                      <a:r>
                        <a:t>WACC</a:t>
                      </a:r>
                    </a:p>
                  </a:txBody>
                  <a:tcPr>
                    <a:solidFill>
                      <a:srgbClr val="1B2A4A"/>
                    </a:solidFill>
                  </a:tcPr>
                </a:tc>
                <a:tc>
                  <a:txBody>
                    <a:bodyPr/>
                    <a:lstStyle/>
                    <a:p>
                      <a:pPr>
                        <a:defRPr b="1" sz="1200">
                          <a:solidFill>
                            <a:srgbClr val="FFFFFF"/>
                          </a:solidFill>
                          <a:latin typeface="Calibri"/>
                        </a:defRPr>
                      </a:pPr>
                      <a:r>
                        <a:t>EBITDA Margin</a:t>
                      </a:r>
                    </a:p>
                  </a:txBody>
                  <a:tcPr>
                    <a:solidFill>
                      <a:srgbClr val="1B2A4A"/>
                    </a:solidFill>
                  </a:tcPr>
                </a:tc>
              </a:tr>
              <a:tr h="685800">
                <a:tc>
                  <a:txBody>
                    <a:bodyPr/>
                    <a:lstStyle/>
                    <a:p>
                      <a:pPr>
                        <a:defRPr sz="1100">
                          <a:solidFill>
                            <a:srgbClr val="333333"/>
                          </a:solidFill>
                          <a:latin typeface="Calibri"/>
                        </a:defRPr>
                      </a:pPr>
                      <a:r>
                        <a:t>Bear</a:t>
                      </a:r>
                    </a:p>
                  </a:txBody>
                  <a:tcPr>
                    <a:solidFill>
                      <a:srgbClr val="FFFFFF"/>
                    </a:solidFill>
                  </a:tcPr>
                </a:tc>
                <a:tc>
                  <a:txBody>
                    <a:bodyPr/>
                    <a:lstStyle/>
                    <a:p>
                      <a:pPr>
                        <a:defRPr sz="1100">
                          <a:solidFill>
                            <a:srgbClr val="333333"/>
                          </a:solidFill>
                          <a:latin typeface="Calibri"/>
                        </a:defRPr>
                      </a:pPr>
                      <a:r>
                        <a:t>$275M</a:t>
                      </a:r>
                    </a:p>
                  </a:txBody>
                  <a:tcPr>
                    <a:solidFill>
                      <a:srgbClr val="FFFFFF"/>
                    </a:solidFill>
                  </a:tcPr>
                </a:tc>
                <a:tc>
                  <a:txBody>
                    <a:bodyPr/>
                    <a:lstStyle/>
                    <a:p>
                      <a:pPr>
                        <a:defRPr sz="1100">
                          <a:solidFill>
                            <a:srgbClr val="333333"/>
                          </a:solidFill>
                          <a:latin typeface="Calibri"/>
                        </a:defRPr>
                      </a:pPr>
                      <a:r>
                        <a:t>$891M</a:t>
                      </a:r>
                    </a:p>
                  </a:txBody>
                  <a:tcPr>
                    <a:solidFill>
                      <a:srgbClr val="FFFFFF"/>
                    </a:solidFill>
                  </a:tcPr>
                </a:tc>
                <a:tc>
                  <a:txBody>
                    <a:bodyPr/>
                    <a:lstStyle/>
                    <a:p>
                      <a:pPr>
                        <a:defRPr sz="1100">
                          <a:solidFill>
                            <a:srgbClr val="333333"/>
                          </a:solidFill>
                          <a:latin typeface="Calibri"/>
                        </a:defRPr>
                      </a:pPr>
                      <a:r>
                        <a:t>$1.0B</a:t>
                      </a:r>
                    </a:p>
                  </a:txBody>
                  <a:tcPr>
                    <a:solidFill>
                      <a:srgbClr val="FFFFFF"/>
                    </a:solidFill>
                  </a:tcPr>
                </a:tc>
                <a:tc>
                  <a:txBody>
                    <a:bodyPr/>
                    <a:lstStyle/>
                    <a:p>
                      <a:pPr>
                        <a:defRPr sz="1100">
                          <a:solidFill>
                            <a:srgbClr val="333333"/>
                          </a:solidFill>
                          <a:latin typeface="Calibri"/>
                        </a:defRPr>
                      </a:pPr>
                      <a:r>
                        <a:t>11.5%</a:t>
                      </a:r>
                    </a:p>
                  </a:txBody>
                  <a:tcPr>
                    <a:solidFill>
                      <a:srgbClr val="FFFFFF"/>
                    </a:solidFill>
                  </a:tcPr>
                </a:tc>
                <a:tc>
                  <a:txBody>
                    <a:bodyPr/>
                    <a:lstStyle/>
                    <a:p>
                      <a:pPr>
                        <a:defRPr sz="1100">
                          <a:solidFill>
                            <a:srgbClr val="333333"/>
                          </a:solidFill>
                          <a:latin typeface="Calibri"/>
                        </a:defRPr>
                      </a:pPr>
                      <a:r>
                        <a:t>18.0%</a:t>
                      </a:r>
                    </a:p>
                  </a:txBody>
                  <a:tcPr>
                    <a:solidFill>
                      <a:srgbClr val="FFFFFF"/>
                    </a:solidFill>
                  </a:tcPr>
                </a:tc>
              </a:tr>
              <a:tr h="685800">
                <a:tc>
                  <a:txBody>
                    <a:bodyPr/>
                    <a:lstStyle/>
                    <a:p>
                      <a:pPr>
                        <a:defRPr sz="1100">
                          <a:solidFill>
                            <a:srgbClr val="333333"/>
                          </a:solidFill>
                          <a:latin typeface="Calibri"/>
                        </a:defRPr>
                      </a:pPr>
                      <a:r>
                        <a:t>Base</a:t>
                      </a:r>
                    </a:p>
                  </a:txBody>
                  <a:tcPr>
                    <a:solidFill>
                      <a:srgbClr val="FAFAFA"/>
                    </a:solidFill>
                  </a:tcPr>
                </a:tc>
                <a:tc>
                  <a:txBody>
                    <a:bodyPr/>
                    <a:lstStyle/>
                    <a:p>
                      <a:pPr>
                        <a:defRPr sz="1100">
                          <a:solidFill>
                            <a:srgbClr val="333333"/>
                          </a:solidFill>
                          <a:latin typeface="Calibri"/>
                        </a:defRPr>
                      </a:pPr>
                      <a:r>
                        <a:t>$480M</a:t>
                      </a:r>
                    </a:p>
                  </a:txBody>
                  <a:tcPr>
                    <a:solidFill>
                      <a:srgbClr val="FAFAFA"/>
                    </a:solidFill>
                  </a:tcPr>
                </a:tc>
                <a:tc>
                  <a:txBody>
                    <a:bodyPr/>
                    <a:lstStyle/>
                    <a:p>
                      <a:pPr>
                        <a:defRPr sz="1100">
                          <a:solidFill>
                            <a:srgbClr val="333333"/>
                          </a:solidFill>
                          <a:latin typeface="Calibri"/>
                        </a:defRPr>
                      </a:pPr>
                      <a:r>
                        <a:t>$1.6B</a:t>
                      </a:r>
                    </a:p>
                  </a:txBody>
                  <a:tcPr>
                    <a:solidFill>
                      <a:srgbClr val="FAFAFA"/>
                    </a:solidFill>
                  </a:tcPr>
                </a:tc>
                <a:tc>
                  <a:txBody>
                    <a:bodyPr/>
                    <a:lstStyle/>
                    <a:p>
                      <a:pPr>
                        <a:defRPr sz="1100">
                          <a:solidFill>
                            <a:srgbClr val="333333"/>
                          </a:solidFill>
                          <a:latin typeface="Calibri"/>
                        </a:defRPr>
                      </a:pPr>
                      <a:r>
                        <a:t>$1.7B</a:t>
                      </a:r>
                    </a:p>
                  </a:txBody>
                  <a:tcPr>
                    <a:solidFill>
                      <a:srgbClr val="FAFAFA"/>
                    </a:solidFill>
                  </a:tcPr>
                </a:tc>
                <a:tc>
                  <a:txBody>
                    <a:bodyPr/>
                    <a:lstStyle/>
                    <a:p>
                      <a:pPr>
                        <a:defRPr sz="1100">
                          <a:solidFill>
                            <a:srgbClr val="333333"/>
                          </a:solidFill>
                          <a:latin typeface="Calibri"/>
                        </a:defRPr>
                      </a:pPr>
                      <a:r>
                        <a:t>10.0%</a:t>
                      </a:r>
                    </a:p>
                  </a:txBody>
                  <a:tcPr>
                    <a:solidFill>
                      <a:srgbClr val="FAFAFA"/>
                    </a:solidFill>
                  </a:tcPr>
                </a:tc>
                <a:tc>
                  <a:txBody>
                    <a:bodyPr/>
                    <a:lstStyle/>
                    <a:p>
                      <a:pPr>
                        <a:defRPr sz="1100">
                          <a:solidFill>
                            <a:srgbClr val="333333"/>
                          </a:solidFill>
                          <a:latin typeface="Calibri"/>
                        </a:defRPr>
                      </a:pPr>
                      <a:r>
                        <a:t>20.0%</a:t>
                      </a:r>
                    </a:p>
                  </a:txBody>
                  <a:tcPr>
                    <a:solidFill>
                      <a:srgbClr val="FAFAFA"/>
                    </a:solidFill>
                  </a:tcPr>
                </a:tc>
              </a:tr>
              <a:tr h="685800">
                <a:tc>
                  <a:txBody>
                    <a:bodyPr/>
                    <a:lstStyle/>
                    <a:p>
                      <a:pPr>
                        <a:defRPr sz="1100">
                          <a:solidFill>
                            <a:srgbClr val="333333"/>
                          </a:solidFill>
                          <a:latin typeface="Calibri"/>
                        </a:defRPr>
                      </a:pPr>
                      <a:r>
                        <a:t>Bull</a:t>
                      </a:r>
                    </a:p>
                  </a:txBody>
                  <a:tcPr>
                    <a:solidFill>
                      <a:srgbClr val="FFFFFF"/>
                    </a:solidFill>
                  </a:tcPr>
                </a:tc>
                <a:tc>
                  <a:txBody>
                    <a:bodyPr/>
                    <a:lstStyle/>
                    <a:p>
                      <a:pPr>
                        <a:defRPr sz="1100">
                          <a:solidFill>
                            <a:srgbClr val="333333"/>
                          </a:solidFill>
                          <a:latin typeface="Calibri"/>
                        </a:defRPr>
                      </a:pPr>
                      <a:r>
                        <a:t>$811M</a:t>
                      </a:r>
                    </a:p>
                  </a:txBody>
                  <a:tcPr>
                    <a:solidFill>
                      <a:srgbClr val="FFFFFF"/>
                    </a:solidFill>
                  </a:tcPr>
                </a:tc>
                <a:tc>
                  <a:txBody>
                    <a:bodyPr/>
                    <a:lstStyle/>
                    <a:p>
                      <a:pPr>
                        <a:defRPr sz="1100">
                          <a:solidFill>
                            <a:srgbClr val="333333"/>
                          </a:solidFill>
                          <a:latin typeface="Calibri"/>
                        </a:defRPr>
                      </a:pPr>
                      <a:r>
                        <a:t>$2.6B</a:t>
                      </a:r>
                    </a:p>
                  </a:txBody>
                  <a:tcPr>
                    <a:solidFill>
                      <a:srgbClr val="FFFFFF"/>
                    </a:solidFill>
                  </a:tcPr>
                </a:tc>
                <a:tc>
                  <a:txBody>
                    <a:bodyPr/>
                    <a:lstStyle/>
                    <a:p>
                      <a:pPr>
                        <a:defRPr sz="1100">
                          <a:solidFill>
                            <a:srgbClr val="333333"/>
                          </a:solidFill>
                          <a:latin typeface="Calibri"/>
                        </a:defRPr>
                      </a:pPr>
                      <a:r>
                        <a:t>$2.6B</a:t>
                      </a:r>
                    </a:p>
                  </a:txBody>
                  <a:tcPr>
                    <a:solidFill>
                      <a:srgbClr val="FFFFFF"/>
                    </a:solidFill>
                  </a:tcPr>
                </a:tc>
                <a:tc>
                  <a:txBody>
                    <a:bodyPr/>
                    <a:lstStyle/>
                    <a:p>
                      <a:pPr>
                        <a:defRPr sz="1100">
                          <a:solidFill>
                            <a:srgbClr val="333333"/>
                          </a:solidFill>
                          <a:latin typeface="Calibri"/>
                        </a:defRPr>
                      </a:pPr>
                      <a:r>
                        <a:t>9.0%</a:t>
                      </a:r>
                    </a:p>
                  </a:txBody>
                  <a:tcPr>
                    <a:solidFill>
                      <a:srgbClr val="FFFFFF"/>
                    </a:solidFill>
                  </a:tcPr>
                </a:tc>
                <a:tc>
                  <a:txBody>
                    <a:bodyPr/>
                    <a:lstStyle/>
                    <a:p>
                      <a:pPr>
                        <a:defRPr sz="1100">
                          <a:solidFill>
                            <a:srgbClr val="333333"/>
                          </a:solidFill>
                          <a:latin typeface="Calibri"/>
                        </a:defRPr>
                      </a:pPr>
                      <a:r>
                        <a:t>22.0%</a:t>
                      </a:r>
                    </a:p>
                  </a:txBody>
                  <a:tcPr>
                    <a:solidFill>
                      <a:srgbClr val="FFFFFF"/>
                    </a:solidFill>
                  </a:tcPr>
                </a:tc>
              </a:tr>
            </a:tbl>
          </a:graphicData>
        </a:graphic>
      </p:graphicFrame>
      <p:sp>
        <p:nvSpPr>
          <p:cNvPr id="7" name="TextBox 6"/>
          <p:cNvSpPr txBox="1"/>
          <p:nvPr/>
        </p:nvSpPr>
        <p:spPr>
          <a:xfrm>
            <a:off x="685800" y="4572000"/>
            <a:ext cx="11155680" cy="2011680"/>
          </a:xfrm>
          <a:prstGeom prst="rect">
            <a:avLst/>
          </a:prstGeom>
          <a:noFill/>
        </p:spPr>
        <p:txBody>
          <a:bodyPr wrap="none">
            <a:spAutoFit/>
          </a:bodyPr>
          <a:lstStyle/>
          <a:p>
            <a:r>
              <a:rPr b="1" sz="2000">
                <a:solidFill>
                  <a:srgbClr val="333333"/>
                </a:solidFill>
                <a:latin typeface="Calibri"/>
              </a:rPr>
              <a:t>Ranges</a:t>
            </a:r>
          </a:p>
          <a:p>
            <a:pPr>
              <a:spcBef>
                <a:spcPts val="200"/>
              </a:spcBef>
              <a:spcAft>
                <a:spcPts val="200"/>
              </a:spcAft>
              <a:defRPr sz="1400">
                <a:solidFill>
                  <a:srgbClr val="333333"/>
                </a:solidFill>
                <a:latin typeface="Calibri"/>
              </a:defRPr>
            </a:pPr>
            <a:r>
              <a:t>DCF range:     $275M — $811M</a:t>
            </a:r>
          </a:p>
          <a:p>
            <a:pPr>
              <a:spcBef>
                <a:spcPts val="200"/>
              </a:spcBef>
              <a:spcAft>
                <a:spcPts val="200"/>
              </a:spcAft>
              <a:defRPr sz="1400">
                <a:solidFill>
                  <a:srgbClr val="333333"/>
                </a:solidFill>
                <a:latin typeface="Calibri"/>
              </a:defRPr>
            </a:pPr>
            <a:r>
              <a:t>Comps range:   $891M — $2.6B</a:t>
            </a:r>
          </a:p>
          <a:p>
            <a:pPr>
              <a:spcBef>
                <a:spcPts val="200"/>
              </a:spcBef>
              <a:spcAft>
                <a:spcPts val="200"/>
              </a:spcAft>
              <a:defRPr sz="1400">
                <a:solidFill>
                  <a:srgbClr val="333333"/>
                </a:solidFill>
                <a:latin typeface="Calibri"/>
              </a:defRPr>
            </a:pPr>
            <a:r>
              <a:t>Blended range: $1.0B — $2.6B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Peer Comparables</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5 listed peers — real market data via yfinance</a:t>
            </a:r>
          </a:p>
        </p:txBody>
      </p:sp>
      <p:sp>
        <p:nvSpPr>
          <p:cNvPr id="6" name="TextBox 5"/>
          <p:cNvSpPr txBox="1"/>
          <p:nvPr/>
        </p:nvSpPr>
        <p:spPr>
          <a:xfrm>
            <a:off x="685800" y="1188720"/>
            <a:ext cx="11064240" cy="457200"/>
          </a:xfrm>
          <a:prstGeom prst="rect">
            <a:avLst/>
          </a:prstGeom>
          <a:noFill/>
        </p:spPr>
        <p:txBody>
          <a:bodyPr wrap="none">
            <a:spAutoFit/>
          </a:bodyPr>
          <a:lstStyle/>
          <a:p>
            <a:r>
              <a:rPr b="1" sz="2000">
                <a:solidFill>
                  <a:srgbClr val="333333"/>
                </a:solidFill>
                <a:latin typeface="Calibri"/>
              </a:rPr>
              <a:t>Trading Comps</a:t>
            </a:r>
          </a:p>
        </p:txBody>
      </p:sp>
      <p:graphicFrame>
        <p:nvGraphicFramePr>
          <p:cNvPr id="7" name="Table 6"/>
          <p:cNvGraphicFramePr>
            <a:graphicFrameLocks noGrp="1"/>
          </p:cNvGraphicFramePr>
          <p:nvPr/>
        </p:nvGraphicFramePr>
        <p:xfrm>
          <a:off x="685800" y="1645920"/>
          <a:ext cx="11064240" cy="484632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692331">
                <a:tc>
                  <a:txBody>
                    <a:bodyPr/>
                    <a:lstStyle/>
                    <a:p>
                      <a:pPr>
                        <a:defRPr b="1" sz="1200">
                          <a:solidFill>
                            <a:srgbClr val="FFFFFF"/>
                          </a:solidFill>
                          <a:latin typeface="Calibri"/>
                        </a:defRPr>
                      </a:pPr>
                      <a:r>
                        <a:t>Company</a:t>
                      </a:r>
                    </a:p>
                  </a:txBody>
                  <a:tcPr>
                    <a:solidFill>
                      <a:srgbClr val="1B2A4A"/>
                    </a:solidFill>
                  </a:tcPr>
                </a:tc>
                <a:tc>
                  <a:txBody>
                    <a:bodyPr/>
                    <a:lstStyle/>
                    <a:p>
                      <a:pPr>
                        <a:defRPr b="1" sz="1200">
                          <a:solidFill>
                            <a:srgbClr val="FFFFFF"/>
                          </a:solidFill>
                          <a:latin typeface="Calibri"/>
                        </a:defRPr>
                      </a:pPr>
                      <a:r>
                        <a:t>Ticker</a:t>
                      </a:r>
                    </a:p>
                  </a:txBody>
                  <a:tcPr>
                    <a:solidFill>
                      <a:srgbClr val="1B2A4A"/>
                    </a:solidFill>
                  </a:tcPr>
                </a:tc>
                <a:tc>
                  <a:txBody>
                    <a:bodyPr/>
                    <a:lstStyle/>
                    <a:p>
                      <a:pPr>
                        <a:defRPr b="1" sz="1200">
                          <a:solidFill>
                            <a:srgbClr val="FFFFFF"/>
                          </a:solidFill>
                          <a:latin typeface="Calibri"/>
                        </a:defRPr>
                      </a:pPr>
                      <a:r>
                        <a:t>EV/EBITDA</a:t>
                      </a:r>
                    </a:p>
                  </a:txBody>
                  <a:tcPr>
                    <a:solidFill>
                      <a:srgbClr val="1B2A4A"/>
                    </a:solidFill>
                  </a:tcPr>
                </a:tc>
                <a:tc>
                  <a:txBody>
                    <a:bodyPr/>
                    <a:lstStyle/>
                    <a:p>
                      <a:pPr>
                        <a:defRPr b="1" sz="1200">
                          <a:solidFill>
                            <a:srgbClr val="FFFFFF"/>
                          </a:solidFill>
                          <a:latin typeface="Calibri"/>
                        </a:defRPr>
                      </a:pPr>
                      <a:r>
                        <a:t>EV/Revenue</a:t>
                      </a:r>
                    </a:p>
                  </a:txBody>
                  <a:tcPr>
                    <a:solidFill>
                      <a:srgbClr val="1B2A4A"/>
                    </a:solidFill>
                  </a:tcPr>
                </a:tc>
                <a:tc>
                  <a:txBody>
                    <a:bodyPr/>
                    <a:lstStyle/>
                    <a:p>
                      <a:pPr>
                        <a:defRPr b="1" sz="1200">
                          <a:solidFill>
                            <a:srgbClr val="FFFFFF"/>
                          </a:solidFill>
                          <a:latin typeface="Calibri"/>
                        </a:defRPr>
                      </a:pPr>
                      <a:r>
                        <a:t>EBITDA Margin</a:t>
                      </a:r>
                    </a:p>
                  </a:txBody>
                  <a:tcPr>
                    <a:solidFill>
                      <a:srgbClr val="1B2A4A"/>
                    </a:solidFill>
                  </a:tcPr>
                </a:tc>
                <a:tc>
                  <a:txBody>
                    <a:bodyPr/>
                    <a:lstStyle/>
                    <a:p>
                      <a:pPr>
                        <a:defRPr b="1" sz="1200">
                          <a:solidFill>
                            <a:srgbClr val="FFFFFF"/>
                          </a:solidFill>
                          <a:latin typeface="Calibri"/>
                        </a:defRPr>
                      </a:pPr>
                      <a:r>
                        <a:t>Rev Growth</a:t>
                      </a:r>
                    </a:p>
                  </a:txBody>
                  <a:tcPr>
                    <a:solidFill>
                      <a:srgbClr val="1B2A4A"/>
                    </a:solidFill>
                  </a:tcPr>
                </a:tc>
              </a:tr>
              <a:tr h="692331">
                <a:tc>
                  <a:txBody>
                    <a:bodyPr/>
                    <a:lstStyle/>
                    <a:p>
                      <a:pPr>
                        <a:defRPr sz="1100">
                          <a:solidFill>
                            <a:srgbClr val="333333"/>
                          </a:solidFill>
                          <a:latin typeface="Calibri"/>
                        </a:defRPr>
                      </a:pPr>
                      <a:r>
                        <a:t>Hermès International Société en commandite par actions</a:t>
                      </a:r>
                    </a:p>
                  </a:txBody>
                  <a:tcPr>
                    <a:solidFill>
                      <a:srgbClr val="FFFFFF"/>
                    </a:solidFill>
                  </a:tcPr>
                </a:tc>
                <a:tc>
                  <a:txBody>
                    <a:bodyPr/>
                    <a:lstStyle/>
                    <a:p>
                      <a:pPr>
                        <a:defRPr sz="1100">
                          <a:solidFill>
                            <a:srgbClr val="333333"/>
                          </a:solidFill>
                          <a:latin typeface="Calibri"/>
                        </a:defRPr>
                      </a:pPr>
                      <a:r>
                        <a:t>RMS.PA</a:t>
                      </a:r>
                    </a:p>
                  </a:txBody>
                  <a:tcPr>
                    <a:solidFill>
                      <a:srgbClr val="FFFFFF"/>
                    </a:solidFill>
                  </a:tcPr>
                </a:tc>
                <a:tc>
                  <a:txBody>
                    <a:bodyPr/>
                    <a:lstStyle/>
                    <a:p>
                      <a:pPr>
                        <a:defRPr sz="1100">
                          <a:solidFill>
                            <a:srgbClr val="333333"/>
                          </a:solidFill>
                          <a:latin typeface="Calibri"/>
                        </a:defRPr>
                      </a:pPr>
                      <a:r>
                        <a:t>23.3x</a:t>
                      </a:r>
                    </a:p>
                  </a:txBody>
                  <a:tcPr>
                    <a:solidFill>
                      <a:srgbClr val="FFFFFF"/>
                    </a:solidFill>
                  </a:tcPr>
                </a:tc>
                <a:tc>
                  <a:txBody>
                    <a:bodyPr/>
                    <a:lstStyle/>
                    <a:p>
                      <a:pPr>
                        <a:defRPr sz="1100">
                          <a:solidFill>
                            <a:srgbClr val="333333"/>
                          </a:solidFill>
                          <a:latin typeface="Calibri"/>
                        </a:defRPr>
                      </a:pPr>
                      <a:r>
                        <a:t>10.2x</a:t>
                      </a:r>
                    </a:p>
                  </a:txBody>
                  <a:tcPr>
                    <a:solidFill>
                      <a:srgbClr val="FFFFFF"/>
                    </a:solidFill>
                  </a:tcPr>
                </a:tc>
                <a:tc>
                  <a:txBody>
                    <a:bodyPr/>
                    <a:lstStyle/>
                    <a:p>
                      <a:pPr>
                        <a:defRPr sz="1100">
                          <a:solidFill>
                            <a:srgbClr val="333333"/>
                          </a:solidFill>
                          <a:latin typeface="Calibri"/>
                        </a:defRPr>
                      </a:pPr>
                      <a:r>
                        <a:t>44.0%</a:t>
                      </a:r>
                    </a:p>
                  </a:txBody>
                  <a:tcPr>
                    <a:solidFill>
                      <a:srgbClr val="FFFFFF"/>
                    </a:solidFill>
                  </a:tcPr>
                </a:tc>
                <a:tc>
                  <a:txBody>
                    <a:bodyPr/>
                    <a:lstStyle/>
                    <a:p>
                      <a:pPr>
                        <a:defRPr sz="1100">
                          <a:solidFill>
                            <a:srgbClr val="333333"/>
                          </a:solidFill>
                          <a:latin typeface="Calibri"/>
                        </a:defRPr>
                      </a:pPr>
                      <a:r>
                        <a:t>+1.8%</a:t>
                      </a:r>
                    </a:p>
                  </a:txBody>
                  <a:tcPr>
                    <a:solidFill>
                      <a:srgbClr val="FFFFFF"/>
                    </a:solidFill>
                  </a:tcPr>
                </a:tc>
              </a:tr>
              <a:tr h="692331">
                <a:tc>
                  <a:txBody>
                    <a:bodyPr/>
                    <a:lstStyle/>
                    <a:p>
                      <a:pPr>
                        <a:defRPr sz="1100">
                          <a:solidFill>
                            <a:srgbClr val="333333"/>
                          </a:solidFill>
                          <a:latin typeface="Calibri"/>
                        </a:defRPr>
                      </a:pPr>
                      <a:r>
                        <a:t>Kering SA</a:t>
                      </a:r>
                    </a:p>
                  </a:txBody>
                  <a:tcPr>
                    <a:solidFill>
                      <a:srgbClr val="FAFAFA"/>
                    </a:solidFill>
                  </a:tcPr>
                </a:tc>
                <a:tc>
                  <a:txBody>
                    <a:bodyPr/>
                    <a:lstStyle/>
                    <a:p>
                      <a:pPr>
                        <a:defRPr sz="1100">
                          <a:solidFill>
                            <a:srgbClr val="333333"/>
                          </a:solidFill>
                          <a:latin typeface="Calibri"/>
                        </a:defRPr>
                      </a:pPr>
                      <a:r>
                        <a:t>KER.PA</a:t>
                      </a:r>
                    </a:p>
                  </a:txBody>
                  <a:tcPr>
                    <a:solidFill>
                      <a:srgbClr val="FAFAFA"/>
                    </a:solidFill>
                  </a:tcPr>
                </a:tc>
                <a:tc>
                  <a:txBody>
                    <a:bodyPr/>
                    <a:lstStyle/>
                    <a:p>
                      <a:pPr>
                        <a:defRPr sz="1100">
                          <a:solidFill>
                            <a:srgbClr val="333333"/>
                          </a:solidFill>
                          <a:latin typeface="Calibri"/>
                        </a:defRPr>
                      </a:pPr>
                      <a:r>
                        <a:t>17.7x</a:t>
                      </a:r>
                    </a:p>
                  </a:txBody>
                  <a:tcPr>
                    <a:solidFill>
                      <a:srgbClr val="FAFAFA"/>
                    </a:solidFill>
                  </a:tcPr>
                </a:tc>
                <a:tc>
                  <a:txBody>
                    <a:bodyPr/>
                    <a:lstStyle/>
                    <a:p>
                      <a:pPr>
                        <a:defRPr sz="1100">
                          <a:solidFill>
                            <a:srgbClr val="333333"/>
                          </a:solidFill>
                          <a:latin typeface="Calibri"/>
                        </a:defRPr>
                      </a:pPr>
                      <a:r>
                        <a:t>3.1x</a:t>
                      </a:r>
                    </a:p>
                  </a:txBody>
                  <a:tcPr>
                    <a:solidFill>
                      <a:srgbClr val="FAFAFA"/>
                    </a:solidFill>
                  </a:tcPr>
                </a:tc>
                <a:tc>
                  <a:txBody>
                    <a:bodyPr/>
                    <a:lstStyle/>
                    <a:p>
                      <a:pPr>
                        <a:defRPr sz="1100">
                          <a:solidFill>
                            <a:srgbClr val="333333"/>
                          </a:solidFill>
                          <a:latin typeface="Calibri"/>
                        </a:defRPr>
                      </a:pPr>
                      <a:r>
                        <a:t>17.3%</a:t>
                      </a:r>
                    </a:p>
                  </a:txBody>
                  <a:tcPr>
                    <a:solidFill>
                      <a:srgbClr val="FAFAFA"/>
                    </a:solidFill>
                  </a:tcPr>
                </a:tc>
                <a:tc>
                  <a:txBody>
                    <a:bodyPr/>
                    <a:lstStyle/>
                    <a:p>
                      <a:pPr>
                        <a:defRPr sz="1100">
                          <a:solidFill>
                            <a:srgbClr val="333333"/>
                          </a:solidFill>
                          <a:latin typeface="Calibri"/>
                        </a:defRPr>
                      </a:pPr>
                      <a:r>
                        <a:t>—</a:t>
                      </a:r>
                    </a:p>
                  </a:txBody>
                  <a:tcPr>
                    <a:solidFill>
                      <a:srgbClr val="FAFAFA"/>
                    </a:solidFill>
                  </a:tcPr>
                </a:tc>
              </a:tr>
              <a:tr h="692331">
                <a:tc>
                  <a:txBody>
                    <a:bodyPr/>
                    <a:lstStyle/>
                    <a:p>
                      <a:pPr>
                        <a:defRPr sz="1100">
                          <a:solidFill>
                            <a:srgbClr val="333333"/>
                          </a:solidFill>
                          <a:latin typeface="Calibri"/>
                        </a:defRPr>
                      </a:pPr>
                      <a:r>
                        <a:t>LVMH Moët Hennessy - Louis Vuitton, Société Européenne</a:t>
                      </a:r>
                    </a:p>
                  </a:txBody>
                  <a:tcPr>
                    <a:solidFill>
                      <a:srgbClr val="FFFFFF"/>
                    </a:solidFill>
                  </a:tcPr>
                </a:tc>
                <a:tc>
                  <a:txBody>
                    <a:bodyPr/>
                    <a:lstStyle/>
                    <a:p>
                      <a:pPr>
                        <a:defRPr sz="1100">
                          <a:solidFill>
                            <a:srgbClr val="333333"/>
                          </a:solidFill>
                          <a:latin typeface="Calibri"/>
                        </a:defRPr>
                      </a:pPr>
                      <a:r>
                        <a:t>MC.PA</a:t>
                      </a:r>
                    </a:p>
                  </a:txBody>
                  <a:tcPr>
                    <a:solidFill>
                      <a:srgbClr val="FFFFFF"/>
                    </a:solidFill>
                  </a:tcPr>
                </a:tc>
                <a:tc>
                  <a:txBody>
                    <a:bodyPr/>
                    <a:lstStyle/>
                    <a:p>
                      <a:pPr>
                        <a:defRPr sz="1100">
                          <a:solidFill>
                            <a:srgbClr val="333333"/>
                          </a:solidFill>
                          <a:latin typeface="Calibri"/>
                        </a:defRPr>
                      </a:pPr>
                      <a:r>
                        <a:t>12.5x</a:t>
                      </a:r>
                    </a:p>
                  </a:txBody>
                  <a:tcPr>
                    <a:solidFill>
                      <a:srgbClr val="FFFFFF"/>
                    </a:solidFill>
                  </a:tcPr>
                </a:tc>
                <a:tc>
                  <a:txBody>
                    <a:bodyPr/>
                    <a:lstStyle/>
                    <a:p>
                      <a:pPr>
                        <a:defRPr sz="1100">
                          <a:solidFill>
                            <a:srgbClr val="333333"/>
                          </a:solidFill>
                          <a:latin typeface="Calibri"/>
                        </a:defRPr>
                      </a:pPr>
                      <a:r>
                        <a:t>3.2x</a:t>
                      </a:r>
                    </a:p>
                  </a:txBody>
                  <a:tcPr>
                    <a:solidFill>
                      <a:srgbClr val="FFFFFF"/>
                    </a:solidFill>
                  </a:tcPr>
                </a:tc>
                <a:tc>
                  <a:txBody>
                    <a:bodyPr/>
                    <a:lstStyle/>
                    <a:p>
                      <a:pPr>
                        <a:defRPr sz="1100">
                          <a:solidFill>
                            <a:srgbClr val="333333"/>
                          </a:solidFill>
                          <a:latin typeface="Calibri"/>
                        </a:defRPr>
                      </a:pPr>
                      <a:r>
                        <a:t>25.5%</a:t>
                      </a:r>
                    </a:p>
                  </a:txBody>
                  <a:tcPr>
                    <a:solidFill>
                      <a:srgbClr val="FFFFFF"/>
                    </a:solidFill>
                  </a:tcPr>
                </a:tc>
                <a:tc>
                  <a:txBody>
                    <a:bodyPr/>
                    <a:lstStyle/>
                    <a:p>
                      <a:pPr>
                        <a:defRPr sz="1100">
                          <a:solidFill>
                            <a:srgbClr val="333333"/>
                          </a:solidFill>
                          <a:latin typeface="Calibri"/>
                        </a:defRPr>
                      </a:pPr>
                      <a:r>
                        <a:t>-1.4%</a:t>
                      </a:r>
                    </a:p>
                  </a:txBody>
                  <a:tcPr>
                    <a:solidFill>
                      <a:srgbClr val="FFFFFF"/>
                    </a:solidFill>
                  </a:tcPr>
                </a:tc>
              </a:tr>
              <a:tr h="692331">
                <a:tc>
                  <a:txBody>
                    <a:bodyPr/>
                    <a:lstStyle/>
                    <a:p>
                      <a:pPr>
                        <a:defRPr sz="1100">
                          <a:solidFill>
                            <a:srgbClr val="333333"/>
                          </a:solidFill>
                          <a:latin typeface="Calibri"/>
                        </a:defRPr>
                      </a:pPr>
                      <a:r>
                        <a:t>Compagnie Financière Richemont SA</a:t>
                      </a:r>
                    </a:p>
                  </a:txBody>
                  <a:tcPr>
                    <a:solidFill>
                      <a:srgbClr val="FAFAFA"/>
                    </a:solidFill>
                  </a:tcPr>
                </a:tc>
                <a:tc>
                  <a:txBody>
                    <a:bodyPr/>
                    <a:lstStyle/>
                    <a:p>
                      <a:pPr>
                        <a:defRPr sz="1100">
                          <a:solidFill>
                            <a:srgbClr val="333333"/>
                          </a:solidFill>
                          <a:latin typeface="Calibri"/>
                        </a:defRPr>
                      </a:pPr>
                      <a:r>
                        <a:t>CFR.SW</a:t>
                      </a:r>
                    </a:p>
                  </a:txBody>
                  <a:tcPr>
                    <a:solidFill>
                      <a:srgbClr val="FAFAFA"/>
                    </a:solidFill>
                  </a:tcPr>
                </a:tc>
                <a:tc>
                  <a:txBody>
                    <a:bodyPr/>
                    <a:lstStyle/>
                    <a:p>
                      <a:pPr>
                        <a:defRPr sz="1100">
                          <a:solidFill>
                            <a:srgbClr val="333333"/>
                          </a:solidFill>
                          <a:latin typeface="Calibri"/>
                        </a:defRPr>
                      </a:pPr>
                      <a:r>
                        <a:t>16.2x</a:t>
                      </a:r>
                    </a:p>
                  </a:txBody>
                  <a:tcPr>
                    <a:solidFill>
                      <a:srgbClr val="FAFAFA"/>
                    </a:solidFill>
                  </a:tcPr>
                </a:tc>
                <a:tc>
                  <a:txBody>
                    <a:bodyPr/>
                    <a:lstStyle/>
                    <a:p>
                      <a:pPr>
                        <a:defRPr sz="1100">
                          <a:solidFill>
                            <a:srgbClr val="333333"/>
                          </a:solidFill>
                          <a:latin typeface="Calibri"/>
                        </a:defRPr>
                      </a:pPr>
                      <a:r>
                        <a:t>4.0x</a:t>
                      </a:r>
                    </a:p>
                  </a:txBody>
                  <a:tcPr>
                    <a:solidFill>
                      <a:srgbClr val="FAFAFA"/>
                    </a:solidFill>
                  </a:tcPr>
                </a:tc>
                <a:tc>
                  <a:txBody>
                    <a:bodyPr/>
                    <a:lstStyle/>
                    <a:p>
                      <a:pPr>
                        <a:defRPr sz="1100">
                          <a:solidFill>
                            <a:srgbClr val="333333"/>
                          </a:solidFill>
                          <a:latin typeface="Calibri"/>
                        </a:defRPr>
                      </a:pPr>
                      <a:r>
                        <a:t>24.4%</a:t>
                      </a:r>
                    </a:p>
                  </a:txBody>
                  <a:tcPr>
                    <a:solidFill>
                      <a:srgbClr val="FAFAFA"/>
                    </a:solidFill>
                  </a:tcPr>
                </a:tc>
                <a:tc>
                  <a:txBody>
                    <a:bodyPr/>
                    <a:lstStyle/>
                    <a:p>
                      <a:pPr>
                        <a:defRPr sz="1100">
                          <a:solidFill>
                            <a:srgbClr val="333333"/>
                          </a:solidFill>
                          <a:latin typeface="Calibri"/>
                        </a:defRPr>
                      </a:pPr>
                      <a:r>
                        <a:t>+295.1%</a:t>
                      </a:r>
                    </a:p>
                  </a:txBody>
                  <a:tcPr>
                    <a:solidFill>
                      <a:srgbClr val="FAFAFA"/>
                    </a:solidFill>
                  </a:tcPr>
                </a:tc>
              </a:tr>
              <a:tr h="692331">
                <a:tc>
                  <a:txBody>
                    <a:bodyPr/>
                    <a:lstStyle/>
                    <a:p>
                      <a:pPr>
                        <a:defRPr sz="1100">
                          <a:solidFill>
                            <a:srgbClr val="333333"/>
                          </a:solidFill>
                          <a:latin typeface="Calibri"/>
                        </a:defRPr>
                      </a:pPr>
                      <a:r>
                        <a:t>Burberry Group plc</a:t>
                      </a:r>
                    </a:p>
                  </a:txBody>
                  <a:tcPr>
                    <a:solidFill>
                      <a:srgbClr val="FFFFFF"/>
                    </a:solidFill>
                  </a:tcPr>
                </a:tc>
                <a:tc>
                  <a:txBody>
                    <a:bodyPr/>
                    <a:lstStyle/>
                    <a:p>
                      <a:pPr>
                        <a:defRPr sz="1100">
                          <a:solidFill>
                            <a:srgbClr val="333333"/>
                          </a:solidFill>
                          <a:latin typeface="Calibri"/>
                        </a:defRPr>
                      </a:pPr>
                      <a:r>
                        <a:t>BRBY.L</a:t>
                      </a:r>
                    </a:p>
                  </a:txBody>
                  <a:tcPr>
                    <a:solidFill>
                      <a:srgbClr val="FFFFFF"/>
                    </a:solidFill>
                  </a:tcPr>
                </a:tc>
                <a:tc>
                  <a:txBody>
                    <a:bodyPr/>
                    <a:lstStyle/>
                    <a:p>
                      <a:pPr>
                        <a:defRPr sz="1100">
                          <a:solidFill>
                            <a:srgbClr val="333333"/>
                          </a:solidFill>
                          <a:latin typeface="Calibri"/>
                        </a:defRPr>
                      </a:pPr>
                      <a:r>
                        <a:t>26.3x</a:t>
                      </a:r>
                    </a:p>
                  </a:txBody>
                  <a:tcPr>
                    <a:solidFill>
                      <a:srgbClr val="FFFFFF"/>
                    </a:solidFill>
                  </a:tcPr>
                </a:tc>
                <a:tc>
                  <a:txBody>
                    <a:bodyPr/>
                    <a:lstStyle/>
                    <a:p>
                      <a:pPr>
                        <a:defRPr sz="1100">
                          <a:solidFill>
                            <a:srgbClr val="333333"/>
                          </a:solidFill>
                          <a:latin typeface="Calibri"/>
                        </a:defRPr>
                      </a:pPr>
                      <a:r>
                        <a:t>2.2x</a:t>
                      </a:r>
                    </a:p>
                  </a:txBody>
                  <a:tcPr>
                    <a:solidFill>
                      <a:srgbClr val="FFFFFF"/>
                    </a:solidFill>
                  </a:tcPr>
                </a:tc>
                <a:tc>
                  <a:txBody>
                    <a:bodyPr/>
                    <a:lstStyle/>
                    <a:p>
                      <a:pPr>
                        <a:defRPr sz="1100">
                          <a:solidFill>
                            <a:srgbClr val="333333"/>
                          </a:solidFill>
                          <a:latin typeface="Calibri"/>
                        </a:defRPr>
                      </a:pPr>
                      <a:r>
                        <a:t>8.4%</a:t>
                      </a:r>
                    </a:p>
                  </a:txBody>
                  <a:tcPr>
                    <a:solidFill>
                      <a:srgbClr val="FFFFFF"/>
                    </a:solidFill>
                  </a:tcPr>
                </a:tc>
                <a:tc>
                  <a:txBody>
                    <a:bodyPr/>
                    <a:lstStyle/>
                    <a:p>
                      <a:pPr>
                        <a:defRPr sz="1100">
                          <a:solidFill>
                            <a:srgbClr val="333333"/>
                          </a:solidFill>
                          <a:latin typeface="Calibri"/>
                        </a:defRPr>
                      </a:pPr>
                      <a:r>
                        <a:t>-5.0%</a:t>
                      </a:r>
                    </a:p>
                  </a:txBody>
                  <a:tcPr>
                    <a:solidFill>
                      <a:srgbClr val="FFFFFF"/>
                    </a:solidFill>
                  </a:tcPr>
                </a:tc>
              </a:tr>
              <a:tr h="692334">
                <a:tc>
                  <a:txBody>
                    <a:bodyPr/>
                    <a:lstStyle/>
                    <a:p>
                      <a:pPr>
                        <a:defRPr sz="1100">
                          <a:solidFill>
                            <a:srgbClr val="333333"/>
                          </a:solidFill>
                          <a:latin typeface="Calibri"/>
                        </a:defRPr>
                      </a:pPr>
                      <a:r>
                        <a:t>MEDIAN</a:t>
                      </a:r>
                    </a:p>
                  </a:txBody>
                  <a:tcPr>
                    <a:solidFill>
                      <a:srgbClr val="FAFAFA"/>
                    </a:solidFill>
                  </a:tcPr>
                </a:tc>
                <a:tc>
                  <a:txBody>
                    <a:bodyPr/>
                    <a:lstStyle/>
                    <a:p>
                      <a:pPr>
                        <a:defRPr sz="1100">
                          <a:solidFill>
                            <a:srgbClr val="333333"/>
                          </a:solidFill>
                          <a:latin typeface="Calibri"/>
                        </a:defRPr>
                      </a:pPr>
                      <a:r>
                        <a:t>—</a:t>
                      </a:r>
                    </a:p>
                  </a:txBody>
                  <a:tcPr>
                    <a:solidFill>
                      <a:srgbClr val="FAFAFA"/>
                    </a:solidFill>
                  </a:tcPr>
                </a:tc>
                <a:tc>
                  <a:txBody>
                    <a:bodyPr/>
                    <a:lstStyle/>
                    <a:p>
                      <a:pPr>
                        <a:defRPr sz="1100">
                          <a:solidFill>
                            <a:srgbClr val="333333"/>
                          </a:solidFill>
                          <a:latin typeface="Calibri"/>
                        </a:defRPr>
                      </a:pPr>
                      <a:r>
                        <a:t>17.7x</a:t>
                      </a:r>
                    </a:p>
                  </a:txBody>
                  <a:tcPr>
                    <a:solidFill>
                      <a:srgbClr val="FAFAFA"/>
                    </a:solidFill>
                  </a:tcPr>
                </a:tc>
                <a:tc>
                  <a:txBody>
                    <a:bodyPr/>
                    <a:lstStyle/>
                    <a:p>
                      <a:pPr>
                        <a:defRPr sz="1100">
                          <a:solidFill>
                            <a:srgbClr val="333333"/>
                          </a:solidFill>
                          <a:latin typeface="Calibri"/>
                        </a:defRPr>
                      </a:pPr>
                      <a:r>
                        <a:t>3.2x</a:t>
                      </a:r>
                    </a:p>
                  </a:txBody>
                  <a:tcPr>
                    <a:solidFill>
                      <a:srgbClr val="FAFAFA"/>
                    </a:solidFill>
                  </a:tcPr>
                </a:tc>
                <a:tc>
                  <a:txBody>
                    <a:bodyPr/>
                    <a:lstStyle/>
                    <a:p>
                      <a:pPr>
                        <a:defRPr sz="1100">
                          <a:solidFill>
                            <a:srgbClr val="333333"/>
                          </a:solidFill>
                          <a:latin typeface="Calibri"/>
                        </a:defRPr>
                      </a:pPr>
                      <a:r>
                        <a:t>24.4%</a:t>
                      </a:r>
                    </a:p>
                  </a:txBody>
                  <a:tcPr>
                    <a:solidFill>
                      <a:srgbClr val="FAFAFA"/>
                    </a:solidFill>
                  </a:tcPr>
                </a:tc>
                <a:tc>
                  <a:txBody>
                    <a:bodyPr/>
                    <a:lstStyle/>
                    <a:p>
                      <a:pPr>
                        <a:defRPr sz="1100">
                          <a:solidFill>
                            <a:srgbClr val="333333"/>
                          </a:solidFill>
                          <a:latin typeface="Calibri"/>
                        </a:defRPr>
                      </a:pPr>
                      <a:r>
                        <a:t>—</a:t>
                      </a:r>
                    </a:p>
                  </a:txBody>
                  <a:tcPr>
                    <a:solidFill>
                      <a:srgbClr val="FAFAF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NO GO</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685800" y="1097280"/>
            <a:ext cx="530352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685800" y="1554480"/>
          <a:ext cx="5303520" cy="3657600"/>
        </p:xfrm>
        <a:graphic>
          <a:graphicData uri="http://schemas.openxmlformats.org/drawingml/2006/table">
            <a:tbl>
              <a:tblPr firstRow="1" bandRow="1">
                <a:tableStyleId>{5C22544A-7EE6-4342-B048-85BDC9FD1C3A}</a:tableStyleId>
              </a:tblPr>
              <a:tblGrid>
                <a:gridCol w="2651760"/>
                <a:gridCol w="2651760"/>
              </a:tblGrid>
              <a:tr h="45720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45720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1.0/10</a:t>
                      </a:r>
                    </a:p>
                  </a:txBody>
                  <a:tcPr>
                    <a:solidFill>
                      <a:srgbClr val="FAFAFA"/>
                    </a:solidFill>
                  </a:tcPr>
                </a:tc>
              </a:tr>
              <a:tr h="45720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0/100</a:t>
                      </a:r>
                    </a:p>
                  </a:txBody>
                  <a:tcPr>
                    <a:solidFill>
                      <a:srgbClr val="FFFFFF"/>
                    </a:solidFill>
                  </a:tcPr>
                </a:tc>
              </a:tr>
            </a:tbl>
          </a:graphicData>
        </a:graphic>
      </p:graphicFrame>
      <p:sp>
        <p:nvSpPr>
          <p:cNvPr id="8" name="TextBox 7"/>
          <p:cNvSpPr txBox="1"/>
          <p:nvPr/>
        </p:nvSpPr>
        <p:spPr>
          <a:xfrm>
            <a:off x="6400800" y="1097280"/>
            <a:ext cx="5303520" cy="4114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Sézane fails IC gates: Lbo score 1.0/10 below minimum 2/10. Strengths: strategy (5/10), synergies (5/10). Risks: lbo (1/10), strategy (5/10). LBO IRR: 10.9%.</a:t>
            </a:r>
          </a:p>
          <a:p>
            <a:pPr>
              <a:spcBef>
                <a:spcPts val="200"/>
              </a:spcBef>
              <a:spcAft>
                <a:spcPts val="200"/>
              </a:spcAft>
              <a:defRPr sz="1400">
                <a:solidFill>
                  <a:srgbClr val="333333"/>
                </a:solidFill>
                <a:latin typeface="Calibri"/>
              </a:defRPr>
            </a:pPr>
            <a:r>
              <a:t>Pass on current opportunity</a:t>
            </a:r>
          </a:p>
          <a:p>
            <a:pPr>
              <a:spcBef>
                <a:spcPts val="200"/>
              </a:spcBef>
              <a:spcAft>
                <a:spcPts val="200"/>
              </a:spcAft>
              <a:defRPr sz="1400">
                <a:solidFill>
                  <a:srgbClr val="333333"/>
                </a:solidFill>
                <a:latin typeface="Calibri"/>
              </a:defRPr>
            </a:pPr>
            <a:r>
              <a:t>Document rationale in deal log</a:t>
            </a:r>
          </a:p>
          <a:p>
            <a:pPr>
              <a:spcBef>
                <a:spcPts val="200"/>
              </a:spcBef>
              <a:spcAft>
                <a:spcPts val="200"/>
              </a:spcAft>
              <a:defRPr sz="1400">
                <a:solidFill>
                  <a:srgbClr val="333333"/>
                </a:solidFill>
                <a:latin typeface="Calibri"/>
              </a:defRPr>
            </a:pPr>
            <a:r>
              <a:t>Re-evaluate if strategic context or valuation changes</a:t>
            </a:r>
          </a:p>
          <a:p>
            <a:pPr>
              <a:spcBef>
                <a:spcPts val="200"/>
              </a:spcBef>
              <a:spcAft>
                <a:spcPts val="200"/>
              </a:spcAft>
              <a:defRPr sz="1400">
                <a:solidFill>
                  <a:srgbClr val="333333"/>
                </a:solidFill>
                <a:latin typeface="Calibri"/>
              </a:defRPr>
            </a:pPr>
            <a:r>
              <a:t>Reassess capital structure — current leverage profile impedes LBO.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Sézane, the Paris-based vertically integrated luxury apparel and accessories brand, has established a compelling niche in the affordable luxury segment, leveraging a direct-to-consumer (DTC) model and a strong emotional connection with millennial and Gen Z consumers. The brand’s competitive moat is underpinned by its authentic storytelling, sustainable sourcing, and a curated product assortment that resonates with values-driven shoppers, resulting in a loyal customer base and repeat purchase rates exceeding 40%. Financially, Sézane has demonstrated robust growth, with revenue expanding at a ~20% CAGR over the past three years, reaching an estimated €350M in 2023, while maintaining EBITDA margins of ~18-20%, above industry peers like &amp; Other Stories and Maje. However, valuation remains a key consideration: trading at ~15x EV/EBITDA on 2024 estimates, Sézane is priced at a premium to mass-market peers but below pure-play luxury brands, reflecting its hybrid positioning. The investment case hinges on Sézane’s ability to sustain its DTC momentum, expand internationally (particularly in the U.S. and Asia), and navigate macroeconomic headwinds without diluting its brand equity. While the company’s private status limits transparency, recent minority stake sales (e.g., Tikehau Capital’s investment in 2021) suggest a valuation range of €1.5-2B, implying ~10-15% upside from current levels if growth targets are met, but with downside risk if consumer spending softens or competition intensifies.</a:t>
            </a:r>
          </a:p>
          <a:p>
            <a:pPr>
              <a:spcBef>
                <a:spcPts val="200"/>
              </a:spcBef>
              <a:spcAft>
                <a:spcPts val="200"/>
              </a:spcAft>
              <a:defRPr sz="1400">
                <a:solidFill>
                  <a:srgbClr val="333333"/>
                </a:solidFill>
                <a:latin typeface="Calibri"/>
              </a:defRPr>
            </a:pPr>
            <a:r>
              <a:t>Bull: In the bull scenario, Sézane accelerates its international expansion, particularly in the U.S. and China, where its sustainable luxury positioning aligns with growing demand for purpose-driven brands. A successful rollout of physical stores in key cities (e.g., New York, Shanghai) could drive revenue growth to €500M+ by 2026, with EBITDA margins expanding to 22%+ as operating leverage improves. Additionally, the launch of new product categories (e.g., footwear, home goods) could unlock incremental revenue streams, while strategic partnerships (e.g., collaborations with artists or influencers) enhance brand desirability. If Sézane achieves these targets, a valuation of €2.5B+ (20x EV/EBITDA) is plausible, delivering ~30-40% upside from current levels.</a:t>
            </a:r>
          </a:p>
          <a:p>
            <a:pPr>
              <a:spcBef>
                <a:spcPts val="200"/>
              </a:spcBef>
              <a:spcAft>
                <a:spcPts val="200"/>
              </a:spcAft>
              <a:defRPr sz="1400">
                <a:solidFill>
                  <a:srgbClr val="333333"/>
                </a:solidFill>
                <a:latin typeface="Calibri"/>
              </a:defRPr>
            </a:pPr>
            <a:r>
              <a:t>Base: In the base case, Sézane maintains its current growth trajectory, with revenue reaching €450M by 2026 (12-15% CAGR) and EBITDA margins stabilizing at ~18-20%. The company successfully expands its U.S. footprint, adding 5-10 stores over the next three years, while e-commerce growth offsets softness in Europe. However, competition from fast-fashion disruptors (e.g., Zara’s sustainability initiatives) and luxury incumbents (e.g., Gucci’s affordable lines) limits market share gains. Valuation remains range-bound at €1.8-2B, reflecting modest upside (~10-15%) but with limited downside due to the brand’s loyal customer base and strong cash flow generation.</a:t>
            </a:r>
          </a:p>
          <a:p>
            <a:pPr>
              <a:spcBef>
                <a:spcPts val="200"/>
              </a:spcBef>
              <a:spcAft>
                <a:spcPts val="200"/>
              </a:spcAft>
              <a:defRPr sz="1400">
                <a:solidFill>
                  <a:srgbClr val="333333"/>
                </a:solidFill>
                <a:latin typeface="Calibri"/>
              </a:defRPr>
            </a:pPr>
            <a:r>
              <a:t>Bear: The bear case materializes if Sézane’s growth stalls due to macroeconomic pressures, such as a recession in Europe or a slowdown in U.S. consumer spending, leading to revenue growth decelerating to single digits. Margin compression could occur if the company discounts aggressively to clear inventory or invests heavily in marketing to retain customers, eroding EBITDA margins to ~15%. Additionally, missteps in international expansion (e.g., poor store performance in China) or brand dilution from over-expansion could alienate core customers. In this scenario, valuation could contract to €1.2B (10x EV/EBITDA), implying ~20-25% downside from current levels.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Q4 2023 earnings release (expected March 2024), which will provide visibility into holiday sales performance and 2024 guidance, particularly for U.S. and Asian markets.</a:t>
            </a:r>
          </a:p>
          <a:p>
            <a:pPr>
              <a:spcBef>
                <a:spcPts val="200"/>
              </a:spcBef>
              <a:spcAft>
                <a:spcPts val="200"/>
              </a:spcAft>
              <a:defRPr sz="1400">
                <a:solidFill>
                  <a:srgbClr val="333333"/>
                </a:solidFill>
                <a:latin typeface="Calibri"/>
              </a:defRPr>
            </a:pPr>
            <a:r>
              <a:t>Potential announcement of a new minority investor or strategic partnership, which could validate Sézane’s valuation and provide capital for expansion.</a:t>
            </a:r>
          </a:p>
          <a:p>
            <a:pPr>
              <a:spcBef>
                <a:spcPts val="200"/>
              </a:spcBef>
              <a:spcAft>
                <a:spcPts val="200"/>
              </a:spcAft>
              <a:defRPr sz="1400">
                <a:solidFill>
                  <a:srgbClr val="333333"/>
                </a:solidFill>
                <a:latin typeface="Calibri"/>
              </a:defRPr>
            </a:pPr>
            <a:r>
              <a:t>Launch of a new product category (e.g., footwear or home goods) in H1 2024, which could drive incremental revenue and margin accretion.</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