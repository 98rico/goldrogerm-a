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Sézane</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Generated April 28, 2026 | Fashion and Apparel</a:t>
            </a:r>
          </a:p>
        </p:txBody>
      </p:sp>
      <p:sp>
        <p:nvSpPr>
          <p:cNvPr id="6" name="TextBox 5"/>
          <p:cNvSpPr txBox="1"/>
          <p:nvPr/>
        </p:nvSpPr>
        <p:spPr>
          <a:xfrm>
            <a:off x="685800" y="2011680"/>
            <a:ext cx="11155680" cy="1371600"/>
          </a:xfrm>
          <a:prstGeom prst="rect">
            <a:avLst/>
          </a:prstGeom>
          <a:noFill/>
        </p:spPr>
        <p:txBody>
          <a:bodyPr wrap="none">
            <a:spAutoFit/>
          </a:bodyPr>
          <a:lstStyle/>
          <a:p>
            <a:r>
              <a:rPr b="0" sz="1800">
                <a:solidFill>
                  <a:srgbClr val="333333"/>
                </a:solidFill>
                <a:latin typeface="Calibri"/>
              </a:rPr>
              <a:t>A French fashion brand specializing in high-quality, timeless clothing, accessories, and leather goods with a focus on ethical and sustainable production.</a:t>
            </a:r>
          </a:p>
        </p:txBody>
      </p:sp>
      <p:sp>
        <p:nvSpPr>
          <p:cNvPr id="7" name="TextBox 6"/>
          <p:cNvSpPr txBox="1"/>
          <p:nvPr/>
        </p:nvSpPr>
        <p:spPr>
          <a:xfrm>
            <a:off x="685800" y="6035040"/>
            <a:ext cx="11155680" cy="548640"/>
          </a:xfrm>
          <a:prstGeom prst="rect">
            <a:avLst/>
          </a:prstGeom>
          <a:noFill/>
        </p:spPr>
        <p:txBody>
          <a:bodyPr wrap="none">
            <a:spAutoFit/>
          </a:bodyPr>
          <a:lstStyle/>
          <a:p>
            <a:r>
              <a:rPr b="1" sz="1400">
                <a:solidFill>
                  <a:srgbClr val="1B2A4A"/>
                </a:solidFill>
                <a:latin typeface="Calibri"/>
              </a:rPr>
              <a:t>Recommendation: N/A | Target: N/A | Upside/Downside: N/A | Current: 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Company Overview</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Business Model</a:t>
            </a:r>
          </a:p>
          <a:p>
            <a:pPr>
              <a:spcBef>
                <a:spcPts val="200"/>
              </a:spcBef>
              <a:spcAft>
                <a:spcPts val="200"/>
              </a:spcAft>
              <a:defRPr sz="1400">
                <a:solidFill>
                  <a:srgbClr val="333333"/>
                </a:solidFill>
                <a:latin typeface="Calibri"/>
              </a:defRPr>
            </a:pPr>
            <a:r>
              <a:t>Direct-to-consumer sales through e-commerce and physical boutiques, with revenue generated from the sale of apparel, accessories, and leather goods. Also operates a resale platform for pre-owned items.</a:t>
            </a:r>
          </a:p>
          <a:p>
            <a:pPr>
              <a:spcBef>
                <a:spcPts val="200"/>
              </a:spcBef>
              <a:spcAft>
                <a:spcPts val="200"/>
              </a:spcAft>
              <a:defRPr sz="1400">
                <a:solidFill>
                  <a:srgbClr val="333333"/>
                </a:solidFill>
                <a:latin typeface="Calibri"/>
              </a:defRPr>
            </a:pPr>
            <a:r>
              <a:t>Founded: N/A</a:t>
            </a:r>
          </a:p>
          <a:p>
            <a:pPr>
              <a:spcBef>
                <a:spcPts val="200"/>
              </a:spcBef>
              <a:spcAft>
                <a:spcPts val="200"/>
              </a:spcAft>
              <a:defRPr sz="1400">
                <a:solidFill>
                  <a:srgbClr val="333333"/>
                </a:solidFill>
                <a:latin typeface="Calibri"/>
              </a:defRPr>
            </a:pPr>
            <a:r>
              <a:t>HQ: N/A</a:t>
            </a:r>
          </a:p>
          <a:p>
            <a:pPr>
              <a:spcBef>
                <a:spcPts val="200"/>
              </a:spcBef>
              <a:spcAft>
                <a:spcPts val="200"/>
              </a:spcAft>
              <a:defRPr sz="1400">
                <a:solidFill>
                  <a:srgbClr val="333333"/>
                </a:solidFill>
                <a:latin typeface="Calibri"/>
              </a:defRPr>
            </a:pPr>
            <a:r>
              <a:t>Employees: N/A</a:t>
            </a:r>
          </a:p>
          <a:p>
            <a:pPr>
              <a:spcBef>
                <a:spcPts val="200"/>
              </a:spcBef>
              <a:spcAft>
                <a:spcPts val="200"/>
              </a:spcAft>
              <a:defRPr sz="1400">
                <a:solidFill>
                  <a:srgbClr val="333333"/>
                </a:solidFill>
                <a:latin typeface="Calibri"/>
              </a:defRPr>
            </a:pPr>
            <a:r>
              <a:t>Ticker: N/A</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Competitive Advantages</a:t>
            </a:r>
          </a:p>
          <a:p>
            <a:pPr>
              <a:spcBef>
                <a:spcPts val="200"/>
              </a:spcBef>
              <a:spcAft>
                <a:spcPts val="200"/>
              </a:spcAft>
              <a:defRPr sz="1400">
                <a:solidFill>
                  <a:srgbClr val="333333"/>
                </a:solidFill>
                <a:latin typeface="Calibri"/>
              </a:defRPr>
            </a:pPr>
            <a:r>
              <a:t>No advantages provided.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Market &amp; Competition</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Market Sizing</a:t>
            </a:r>
          </a:p>
          <a:p>
            <a:pPr>
              <a:spcBef>
                <a:spcPts val="200"/>
              </a:spcBef>
              <a:spcAft>
                <a:spcPts val="200"/>
              </a:spcAft>
              <a:defRPr sz="1400">
                <a:solidFill>
                  <a:srgbClr val="333333"/>
                </a:solidFill>
                <a:latin typeface="Calibri"/>
              </a:defRPr>
            </a:pPr>
            <a:r>
              <a:t>TAM: Data not publicly available</a:t>
            </a:r>
          </a:p>
          <a:p>
            <a:pPr>
              <a:spcBef>
                <a:spcPts val="200"/>
              </a:spcBef>
              <a:spcAft>
                <a:spcPts val="200"/>
              </a:spcAft>
              <a:defRPr sz="1400">
                <a:solidFill>
                  <a:srgbClr val="333333"/>
                </a:solidFill>
                <a:latin typeface="Calibri"/>
              </a:defRPr>
            </a:pPr>
            <a:r>
              <a:t>Growth (CAGR): Data not publicly available</a:t>
            </a:r>
          </a:p>
          <a:p>
            <a:pPr>
              <a:spcBef>
                <a:spcPts val="200"/>
              </a:spcBef>
              <a:spcAft>
                <a:spcPts val="200"/>
              </a:spcAft>
              <a:defRPr sz="1400">
                <a:solidFill>
                  <a:srgbClr val="333333"/>
                </a:solidFill>
                <a:latin typeface="Calibri"/>
              </a:defRPr>
            </a:pPr>
            <a:r>
              <a:t>Segment: ethical and sustainable premium womenswear and leather goods</a:t>
            </a:r>
          </a:p>
          <a:p>
            <a:pPr>
              <a:spcBef>
                <a:spcPts val="200"/>
              </a:spcBef>
              <a:spcAft>
                <a:spcPts val="200"/>
              </a:spcAft>
              <a:defRPr sz="1400">
                <a:solidFill>
                  <a:srgbClr val="333333"/>
                </a:solidFill>
                <a:latin typeface="Calibri"/>
              </a:defRPr>
            </a:pPr>
            <a:r>
              <a:t>Company share: estimated &lt;1% of global ethical premium fashion market</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Trends &amp; Competitors</a:t>
            </a:r>
          </a:p>
          <a:p>
            <a:pPr>
              <a:spcBef>
                <a:spcPts val="200"/>
              </a:spcBef>
              <a:spcAft>
                <a:spcPts val="200"/>
              </a:spcAft>
              <a:defRPr sz="1400">
                <a:solidFill>
                  <a:srgbClr val="333333"/>
                </a:solidFill>
                <a:latin typeface="Calibri"/>
              </a:defRPr>
            </a:pPr>
            <a:r>
              <a:t>Rising consumer preference for ethically sourced and sustainable materials</a:t>
            </a:r>
          </a:p>
          <a:p>
            <a:pPr>
              <a:spcBef>
                <a:spcPts val="200"/>
              </a:spcBef>
              <a:spcAft>
                <a:spcPts val="200"/>
              </a:spcAft>
              <a:defRPr sz="1400">
                <a:solidFill>
                  <a:srgbClr val="333333"/>
                </a:solidFill>
                <a:latin typeface="Calibri"/>
              </a:defRPr>
            </a:pPr>
            <a:r>
              <a:t>Growth in direct-to-consumer (DTC) and e-commerce channels</a:t>
            </a:r>
          </a:p>
          <a:p>
            <a:pPr>
              <a:spcBef>
                <a:spcPts val="200"/>
              </a:spcBef>
              <a:spcAft>
                <a:spcPts val="200"/>
              </a:spcAft>
              <a:defRPr sz="1400">
                <a:solidFill>
                  <a:srgbClr val="333333"/>
                </a:solidFill>
                <a:latin typeface="Calibri"/>
              </a:defRPr>
            </a:pPr>
            <a:r>
              <a:t>Increased demand for timeless, high-quality wardrobe staples</a:t>
            </a:r>
          </a:p>
          <a:p>
            <a:pPr>
              <a:spcBef>
                <a:spcPts val="200"/>
              </a:spcBef>
              <a:spcAft>
                <a:spcPts val="200"/>
              </a:spcAft>
              <a:defRPr sz="1400">
                <a:solidFill>
                  <a:srgbClr val="333333"/>
                </a:solidFill>
                <a:latin typeface="Calibri"/>
              </a:defRPr>
            </a:pPr>
            <a:r>
              <a:t>Expansion of brand storytelling and transparency in supply chains</a:t>
            </a:r>
          </a:p>
          <a:p>
            <a:pPr>
              <a:spcBef>
                <a:spcPts val="200"/>
              </a:spcBef>
              <a:spcAft>
                <a:spcPts val="200"/>
              </a:spcAft>
              <a:defRPr sz="1400">
                <a:solidFill>
                  <a:srgbClr val="333333"/>
                </a:solidFill>
                <a:latin typeface="Calibri"/>
              </a:defRPr>
            </a:pPr>
            <a:r>
              <a:t>Top competitors:</a:t>
            </a:r>
          </a:p>
          <a:p>
            <a:pPr>
              <a:spcBef>
                <a:spcPts val="200"/>
              </a:spcBef>
              <a:spcAft>
                <a:spcPts val="200"/>
              </a:spcAft>
              <a:defRPr sz="1400">
                <a:solidFill>
                  <a:srgbClr val="333333"/>
                </a:solidFill>
                <a:latin typeface="Calibri"/>
              </a:defRPr>
            </a:pPr>
            <a:r>
              <a:t>Veja (estimated &lt;5%)</a:t>
            </a:r>
          </a:p>
          <a:p>
            <a:pPr>
              <a:spcBef>
                <a:spcPts val="200"/>
              </a:spcBef>
              <a:spcAft>
                <a:spcPts val="200"/>
              </a:spcAft>
              <a:defRPr sz="1400">
                <a:solidFill>
                  <a:srgbClr val="333333"/>
                </a:solidFill>
                <a:latin typeface="Calibri"/>
              </a:defRPr>
            </a:pPr>
            <a:r>
              <a:t>Chloé (sustainable collections) (estimated 2-4%)</a:t>
            </a:r>
          </a:p>
          <a:p>
            <a:pPr>
              <a:spcBef>
                <a:spcPts val="200"/>
              </a:spcBef>
              <a:spcAft>
                <a:spcPts val="200"/>
              </a:spcAft>
              <a:defRPr sz="1400">
                <a:solidFill>
                  <a:srgbClr val="333333"/>
                </a:solidFill>
                <a:latin typeface="Calibri"/>
              </a:defRPr>
            </a:pPr>
            <a:r>
              <a:t>A.P.C. (estimated 3-5%)</a:t>
            </a:r>
          </a:p>
          <a:p>
            <a:pPr>
              <a:spcBef>
                <a:spcPts val="200"/>
              </a:spcBef>
              <a:spcAft>
                <a:spcPts val="200"/>
              </a:spcAft>
              <a:defRPr sz="1400">
                <a:solidFill>
                  <a:srgbClr val="333333"/>
                </a:solidFill>
                <a:latin typeface="Calibri"/>
              </a:defRPr>
            </a:pPr>
            <a:r>
              <a:t>Ba&amp;sh (estimated 2-4%)</a:t>
            </a:r>
          </a:p>
          <a:p>
            <a:pPr>
              <a:spcBef>
                <a:spcPts val="200"/>
              </a:spcBef>
              <a:spcAft>
                <a:spcPts val="200"/>
              </a:spcAft>
              <a:defRPr sz="1400">
                <a:solidFill>
                  <a:srgbClr val="333333"/>
                </a:solidFill>
                <a:latin typeface="Calibri"/>
              </a:defRPr>
            </a:pPr>
            <a:r>
              <a:t>Reformation (estimated 3-5%)</a:t>
            </a:r>
          </a:p>
          <a:p>
            <a:pPr>
              <a:spcBef>
                <a:spcPts val="200"/>
              </a:spcBef>
              <a:spcAft>
                <a:spcPts val="200"/>
              </a:spcAft>
              <a:defRPr sz="1400">
                <a:solidFill>
                  <a:srgbClr val="333333"/>
                </a:solidFill>
                <a:latin typeface="Calibri"/>
              </a:defRPr>
            </a:pPr>
            <a:r>
              <a:t>Eileen Fisher (estimated 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Financial Snapshot</a:t>
            </a:r>
          </a:p>
        </p:txBody>
      </p:sp>
      <p:sp>
        <p:nvSpPr>
          <p:cNvPr id="5" name="TextBox 4"/>
          <p:cNvSpPr txBox="1"/>
          <p:nvPr/>
        </p:nvSpPr>
        <p:spPr>
          <a:xfrm>
            <a:off x="685800" y="1280160"/>
            <a:ext cx="5669280" cy="457200"/>
          </a:xfrm>
          <a:prstGeom prst="rect">
            <a:avLst/>
          </a:prstGeom>
          <a:noFill/>
        </p:spPr>
        <p:txBody>
          <a:bodyPr wrap="none">
            <a:spAutoFit/>
          </a:bodyPr>
          <a:lstStyle/>
          <a:p>
            <a:r>
              <a:rPr b="1" sz="2000">
                <a:solidFill>
                  <a:srgbClr val="333333"/>
                </a:solidFill>
                <a:latin typeface="Calibri"/>
              </a:rPr>
              <a:t>Key Financials</a:t>
            </a:r>
          </a:p>
        </p:txBody>
      </p:sp>
      <p:graphicFrame>
        <p:nvGraphicFramePr>
          <p:cNvPr id="6" name="Table 5"/>
          <p:cNvGraphicFramePr>
            <a:graphicFrameLocks noGrp="1"/>
          </p:cNvGraphicFramePr>
          <p:nvPr/>
        </p:nvGraphicFramePr>
        <p:xfrm>
          <a:off x="685800" y="1737360"/>
          <a:ext cx="5669280" cy="4754880"/>
        </p:xfrm>
        <a:graphic>
          <a:graphicData uri="http://schemas.openxmlformats.org/drawingml/2006/table">
            <a:tbl>
              <a:tblPr firstRow="1" bandRow="1">
                <a:tableStyleId>{5C22544A-7EE6-4342-B048-85BDC9FD1C3A}</a:tableStyleId>
              </a:tblPr>
              <a:tblGrid>
                <a:gridCol w="2834640"/>
                <a:gridCol w="2834640"/>
              </a:tblGrid>
              <a:tr h="594360">
                <a:tc>
                  <a:txBody>
                    <a:bodyPr/>
                    <a:lstStyle/>
                    <a:p>
                      <a:pPr>
                        <a:defRPr b="1" sz="1200">
                          <a:solidFill>
                            <a:srgbClr val="FFFFFF"/>
                          </a:solidFill>
                          <a:latin typeface="Calibri"/>
                        </a:defRPr>
                      </a:pPr>
                      <a:r>
                        <a:t>Metric</a:t>
                      </a:r>
                    </a:p>
                  </a:txBody>
                  <a:tcPr>
                    <a:solidFill>
                      <a:srgbClr val="1B2A4A"/>
                    </a:solidFill>
                  </a:tcPr>
                </a:tc>
                <a:tc>
                  <a:txBody>
                    <a:bodyPr/>
                    <a:lstStyle/>
                    <a:p>
                      <a:pPr>
                        <a:defRPr b="1" sz="1200">
                          <a:solidFill>
                            <a:srgbClr val="FFFFFF"/>
                          </a:solidFill>
                          <a:latin typeface="Calibri"/>
                        </a:defRPr>
                      </a:pPr>
                      <a:r>
                        <a:t>Value</a:t>
                      </a:r>
                    </a:p>
                  </a:txBody>
                  <a:tcPr>
                    <a:solidFill>
                      <a:srgbClr val="1B2A4A"/>
                    </a:solidFill>
                  </a:tcPr>
                </a:tc>
              </a:tr>
              <a:tr h="594360">
                <a:tc>
                  <a:txBody>
                    <a:bodyPr/>
                    <a:lstStyle/>
                    <a:p>
                      <a:pPr>
                        <a:defRPr sz="1100">
                          <a:solidFill>
                            <a:srgbClr val="333333"/>
                          </a:solidFill>
                          <a:latin typeface="Calibri"/>
                        </a:defRPr>
                      </a:pPr>
                      <a:r>
                        <a:t>Revenue</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r h="594360">
                <a:tc>
                  <a:txBody>
                    <a:bodyPr/>
                    <a:lstStyle/>
                    <a:p>
                      <a:pPr>
                        <a:defRPr sz="1100">
                          <a:solidFill>
                            <a:srgbClr val="333333"/>
                          </a:solidFill>
                          <a:latin typeface="Calibri"/>
                        </a:defRPr>
                      </a:pPr>
                      <a:r>
                        <a:t>Revenue growth</a:t>
                      </a:r>
                    </a:p>
                  </a:txBody>
                  <a:tcPr>
                    <a:solidFill>
                      <a:srgbClr val="FAFAFA"/>
                    </a:solidFill>
                  </a:tcPr>
                </a:tc>
                <a:tc>
                  <a:txBody>
                    <a:bodyPr/>
                    <a:lstStyle/>
                    <a:p>
                      <a:pPr>
                        <a:defRPr sz="1100">
                          <a:solidFill>
                            <a:srgbClr val="333333"/>
                          </a:solidFill>
                          <a:latin typeface="Calibri"/>
                        </a:defRPr>
                      </a:pPr>
                      <a:r>
                        <a:t>N/A</a:t>
                      </a:r>
                    </a:p>
                  </a:txBody>
                  <a:tcPr>
                    <a:solidFill>
                      <a:srgbClr val="FAFAFA"/>
                    </a:solidFill>
                  </a:tcPr>
                </a:tc>
              </a:tr>
              <a:tr h="594360">
                <a:tc>
                  <a:txBody>
                    <a:bodyPr/>
                    <a:lstStyle/>
                    <a:p>
                      <a:pPr>
                        <a:defRPr sz="1100">
                          <a:solidFill>
                            <a:srgbClr val="333333"/>
                          </a:solidFill>
                          <a:latin typeface="Calibri"/>
                        </a:defRPr>
                      </a:pPr>
                      <a:r>
                        <a:t>Gross margin</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r h="594360">
                <a:tc>
                  <a:txBody>
                    <a:bodyPr/>
                    <a:lstStyle/>
                    <a:p>
                      <a:pPr>
                        <a:defRPr sz="1100">
                          <a:solidFill>
                            <a:srgbClr val="333333"/>
                          </a:solidFill>
                          <a:latin typeface="Calibri"/>
                        </a:defRPr>
                      </a:pPr>
                      <a:r>
                        <a:t>EBITDA margin</a:t>
                      </a:r>
                    </a:p>
                  </a:txBody>
                  <a:tcPr>
                    <a:solidFill>
                      <a:srgbClr val="FAFAFA"/>
                    </a:solidFill>
                  </a:tcPr>
                </a:tc>
                <a:tc>
                  <a:txBody>
                    <a:bodyPr/>
                    <a:lstStyle/>
                    <a:p>
                      <a:pPr>
                        <a:defRPr sz="1100">
                          <a:solidFill>
                            <a:srgbClr val="333333"/>
                          </a:solidFill>
                          <a:latin typeface="Calibri"/>
                        </a:defRPr>
                      </a:pPr>
                      <a:r>
                        <a:t>N/A</a:t>
                      </a:r>
                    </a:p>
                  </a:txBody>
                  <a:tcPr>
                    <a:solidFill>
                      <a:srgbClr val="FAFAFA"/>
                    </a:solidFill>
                  </a:tcPr>
                </a:tc>
              </a:tr>
              <a:tr h="594360">
                <a:tc>
                  <a:txBody>
                    <a:bodyPr/>
                    <a:lstStyle/>
                    <a:p>
                      <a:pPr>
                        <a:defRPr sz="1100">
                          <a:solidFill>
                            <a:srgbClr val="333333"/>
                          </a:solidFill>
                          <a:latin typeface="Calibri"/>
                        </a:defRPr>
                      </a:pPr>
                      <a:r>
                        <a:t>Net margin</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r h="594360">
                <a:tc>
                  <a:txBody>
                    <a:bodyPr/>
                    <a:lstStyle/>
                    <a:p>
                      <a:pPr>
                        <a:defRPr sz="1100">
                          <a:solidFill>
                            <a:srgbClr val="333333"/>
                          </a:solidFill>
                          <a:latin typeface="Calibri"/>
                        </a:defRPr>
                      </a:pPr>
                      <a:r>
                        <a:t>Free cash flow</a:t>
                      </a:r>
                    </a:p>
                  </a:txBody>
                  <a:tcPr>
                    <a:solidFill>
                      <a:srgbClr val="FAFAFA"/>
                    </a:solidFill>
                  </a:tcPr>
                </a:tc>
                <a:tc>
                  <a:txBody>
                    <a:bodyPr/>
                    <a:lstStyle/>
                    <a:p>
                      <a:pPr>
                        <a:defRPr sz="1100">
                          <a:solidFill>
                            <a:srgbClr val="333333"/>
                          </a:solidFill>
                          <a:latin typeface="Calibri"/>
                        </a:defRPr>
                      </a:pPr>
                      <a:r>
                        <a:t>N/A</a:t>
                      </a:r>
                    </a:p>
                  </a:txBody>
                  <a:tcPr>
                    <a:solidFill>
                      <a:srgbClr val="FAFAFA"/>
                    </a:solidFill>
                  </a:tcPr>
                </a:tc>
              </a:tr>
              <a:tr h="594360">
                <a:tc>
                  <a:txBody>
                    <a:bodyPr/>
                    <a:lstStyle/>
                    <a:p>
                      <a:pPr>
                        <a:defRPr sz="1100">
                          <a:solidFill>
                            <a:srgbClr val="333333"/>
                          </a:solidFill>
                          <a:latin typeface="Calibri"/>
                        </a:defRPr>
                      </a:pPr>
                      <a:r>
                        <a:t>Debt/Equity</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bl>
          </a:graphicData>
        </a:graphic>
      </p:graphicFrame>
      <p:sp>
        <p:nvSpPr>
          <p:cNvPr id="7" name="TextBox 6"/>
          <p:cNvSpPr txBox="1"/>
          <p:nvPr/>
        </p:nvSpPr>
        <p:spPr>
          <a:xfrm>
            <a:off x="6492240" y="1280160"/>
            <a:ext cx="4983480" cy="457200"/>
          </a:xfrm>
          <a:prstGeom prst="rect">
            <a:avLst/>
          </a:prstGeom>
          <a:noFill/>
        </p:spPr>
        <p:txBody>
          <a:bodyPr wrap="none">
            <a:spAutoFit/>
          </a:bodyPr>
          <a:lstStyle/>
          <a:p>
            <a:r>
              <a:rPr b="1" sz="2000">
                <a:solidFill>
                  <a:srgbClr val="333333"/>
                </a:solidFill>
                <a:latin typeface="Calibri"/>
              </a:rPr>
              <a:t>Outlook (Projections)</a:t>
            </a:r>
          </a:p>
        </p:txBody>
      </p:sp>
      <p:graphicFrame>
        <p:nvGraphicFramePr>
          <p:cNvPr id="8" name="Table 7"/>
          <p:cNvGraphicFramePr>
            <a:graphicFrameLocks noGrp="1"/>
          </p:cNvGraphicFramePr>
          <p:nvPr/>
        </p:nvGraphicFramePr>
        <p:xfrm>
          <a:off x="6492240" y="1737360"/>
          <a:ext cx="4983480" cy="4754880"/>
        </p:xfrm>
        <a:graphic>
          <a:graphicData uri="http://schemas.openxmlformats.org/drawingml/2006/table">
            <a:tbl>
              <a:tblPr firstRow="1" bandRow="1">
                <a:tableStyleId>{5C22544A-7EE6-4342-B048-85BDC9FD1C3A}</a:tableStyleId>
              </a:tblPr>
              <a:tblGrid>
                <a:gridCol w="1245870"/>
                <a:gridCol w="1245870"/>
                <a:gridCol w="1245870"/>
                <a:gridCol w="1245870"/>
              </a:tblGrid>
              <a:tr h="2377440">
                <a:tc>
                  <a:txBody>
                    <a:bodyPr/>
                    <a:lstStyle/>
                    <a:p>
                      <a:pPr>
                        <a:defRPr b="1" sz="1200">
                          <a:solidFill>
                            <a:srgbClr val="FFFFFF"/>
                          </a:solidFill>
                          <a:latin typeface="Calibri"/>
                        </a:defRPr>
                      </a:pPr>
                      <a:r>
                        <a:t>Year</a:t>
                      </a:r>
                    </a:p>
                  </a:txBody>
                  <a:tcPr>
                    <a:solidFill>
                      <a:srgbClr val="1B2A4A"/>
                    </a:solidFill>
                  </a:tcPr>
                </a:tc>
                <a:tc>
                  <a:txBody>
                    <a:bodyPr/>
                    <a:lstStyle/>
                    <a:p>
                      <a:pPr>
                        <a:defRPr b="1" sz="1200">
                          <a:solidFill>
                            <a:srgbClr val="FFFFFF"/>
                          </a:solidFill>
                          <a:latin typeface="Calibri"/>
                        </a:defRPr>
                      </a:pPr>
                      <a:r>
                        <a:t>Revenue</a:t>
                      </a:r>
                    </a:p>
                  </a:txBody>
                  <a:tcPr>
                    <a:solidFill>
                      <a:srgbClr val="1B2A4A"/>
                    </a:solidFill>
                  </a:tcPr>
                </a:tc>
                <a:tc>
                  <a:txBody>
                    <a:bodyPr/>
                    <a:lstStyle/>
                    <a:p>
                      <a:pPr>
                        <a:defRPr b="1" sz="1200">
                          <a:solidFill>
                            <a:srgbClr val="FFFFFF"/>
                          </a:solidFill>
                          <a:latin typeface="Calibri"/>
                        </a:defRPr>
                      </a:pPr>
                      <a:r>
                        <a:t>Growth</a:t>
                      </a:r>
                    </a:p>
                  </a:txBody>
                  <a:tcPr>
                    <a:solidFill>
                      <a:srgbClr val="1B2A4A"/>
                    </a:solidFill>
                  </a:tcPr>
                </a:tc>
                <a:tc>
                  <a:txBody>
                    <a:bodyPr/>
                    <a:lstStyle/>
                    <a:p>
                      <a:pPr>
                        <a:defRPr b="1" sz="1200">
                          <a:solidFill>
                            <a:srgbClr val="FFFFFF"/>
                          </a:solidFill>
                          <a:latin typeface="Calibri"/>
                        </a:defRPr>
                      </a:pPr>
                      <a:r>
                        <a:t>EBITDA %</a:t>
                      </a:r>
                    </a:p>
                  </a:txBody>
                  <a:tcPr>
                    <a:solidFill>
                      <a:srgbClr val="1B2A4A"/>
                    </a:solidFill>
                  </a:tcPr>
                </a:tc>
              </a:tr>
              <a:tr h="2377440">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No projections provided.</a:t>
                      </a:r>
                    </a:p>
                  </a:txBody>
                  <a:tcPr>
                    <a:solidFill>
                      <a:srgbClr val="FFFFFF"/>
                    </a:solidFill>
                  </a:tcPr>
                </a:tc>
                <a:tc>
                  <a:txBody>
                    <a:bodyPr/>
                    <a:lstStyle/>
                    <a:p>
                      <a:pPr>
                        <a:defRPr sz="1100">
                          <a:solidFill>
                            <a:srgbClr val="333333"/>
                          </a:solidFill>
                          <a:latin typeface="Calibri"/>
                        </a:defRPr>
                      </a:pPr>
                    </a:p>
                  </a:txBody>
                  <a:tcPr>
                    <a:solidFill>
                      <a:srgbClr val="FFFFFF"/>
                    </a:solidFill>
                  </a:tcPr>
                </a:tc>
                <a:tc>
                  <a:txBody>
                    <a:bodyPr/>
                    <a:lstStyle/>
                    <a:p>
                      <a:pPr>
                        <a:defRPr sz="1100">
                          <a:solidFill>
                            <a:srgbClr val="333333"/>
                          </a:solidFill>
                          <a:latin typeface="Calibri"/>
                        </a:defRPr>
                      </a:pP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Valuation Summary</a:t>
            </a:r>
          </a:p>
        </p:txBody>
      </p:sp>
      <p:sp>
        <p:nvSpPr>
          <p:cNvPr id="5" name="TextBox 4"/>
          <p:cNvSpPr txBox="1"/>
          <p:nvPr/>
        </p:nvSpPr>
        <p:spPr>
          <a:xfrm>
            <a:off x="685800" y="1280160"/>
            <a:ext cx="5394960" cy="5212080"/>
          </a:xfrm>
          <a:prstGeom prst="rect">
            <a:avLst/>
          </a:prstGeom>
          <a:noFill/>
        </p:spPr>
        <p:txBody>
          <a:bodyPr wrap="none">
            <a:spAutoFit/>
          </a:bodyPr>
          <a:lstStyle/>
          <a:p>
            <a:r>
              <a:rPr b="1" sz="2000">
                <a:solidFill>
                  <a:srgbClr val="333333"/>
                </a:solidFill>
                <a:latin typeface="Calibri"/>
              </a:rPr>
              <a:t>Conclusion</a:t>
            </a:r>
          </a:p>
          <a:p>
            <a:pPr>
              <a:spcBef>
                <a:spcPts val="200"/>
              </a:spcBef>
              <a:spcAft>
                <a:spcPts val="200"/>
              </a:spcAft>
              <a:defRPr sz="1400">
                <a:solidFill>
                  <a:srgbClr val="333333"/>
                </a:solidFill>
                <a:latin typeface="Calibri"/>
              </a:defRPr>
            </a:pPr>
            <a:r>
              <a:t>Implied value: N/A</a:t>
            </a:r>
          </a:p>
          <a:p>
            <a:pPr>
              <a:spcBef>
                <a:spcPts val="200"/>
              </a:spcBef>
              <a:spcAft>
                <a:spcPts val="200"/>
              </a:spcAft>
              <a:defRPr sz="1400">
                <a:solidFill>
                  <a:srgbClr val="333333"/>
                </a:solidFill>
                <a:latin typeface="Calibri"/>
              </a:defRPr>
            </a:pPr>
            <a:r>
              <a:t>Upside/Downside: N/A</a:t>
            </a:r>
          </a:p>
          <a:p>
            <a:pPr>
              <a:spcBef>
                <a:spcPts val="200"/>
              </a:spcBef>
              <a:spcAft>
                <a:spcPts val="200"/>
              </a:spcAft>
              <a:defRPr sz="1400">
                <a:solidFill>
                  <a:srgbClr val="333333"/>
                </a:solidFill>
                <a:latin typeface="Calibri"/>
              </a:defRPr>
            </a:pPr>
            <a:r>
              <a:t>Recommendation: N/A</a:t>
            </a:r>
          </a:p>
          <a:p>
            <a:pPr>
              <a:spcBef>
                <a:spcPts val="200"/>
              </a:spcBef>
              <a:spcAft>
                <a:spcPts val="200"/>
              </a:spcAft>
              <a:defRPr sz="1400">
                <a:solidFill>
                  <a:srgbClr val="333333"/>
                </a:solidFill>
                <a:latin typeface="Calibri"/>
              </a:defRPr>
            </a:pPr>
            <a:r>
              <a:t>Currency: USD</a:t>
            </a:r>
          </a:p>
          <a:p>
            <a:pPr>
              <a:spcBef>
                <a:spcPts val="200"/>
              </a:spcBef>
              <a:spcAft>
                <a:spcPts val="200"/>
              </a:spcAft>
              <a:defRPr sz="1400">
                <a:solidFill>
                  <a:srgbClr val="333333"/>
                </a:solidFill>
                <a:latin typeface="Calibri"/>
              </a:defRPr>
            </a:pPr>
            <a:r>
              <a:t>DCF: WACC 10.00%, TGR 2.00%</a:t>
            </a:r>
          </a:p>
        </p:txBody>
      </p:sp>
      <p:sp>
        <p:nvSpPr>
          <p:cNvPr id="6" name="TextBox 5"/>
          <p:cNvSpPr txBox="1"/>
          <p:nvPr/>
        </p:nvSpPr>
        <p:spPr>
          <a:xfrm>
            <a:off x="6309360" y="1280160"/>
            <a:ext cx="5166360" cy="457200"/>
          </a:xfrm>
          <a:prstGeom prst="rect">
            <a:avLst/>
          </a:prstGeom>
          <a:noFill/>
        </p:spPr>
        <p:txBody>
          <a:bodyPr wrap="none">
            <a:spAutoFit/>
          </a:bodyPr>
          <a:lstStyle/>
          <a:p>
            <a:r>
              <a:rPr b="1" sz="2000">
                <a:solidFill>
                  <a:srgbClr val="333333"/>
                </a:solidFill>
                <a:latin typeface="Calibri"/>
              </a:rPr>
              <a:t>Methods</a:t>
            </a:r>
          </a:p>
        </p:txBody>
      </p:sp>
      <p:graphicFrame>
        <p:nvGraphicFramePr>
          <p:cNvPr id="7" name="Table 6"/>
          <p:cNvGraphicFramePr>
            <a:graphicFrameLocks noGrp="1"/>
          </p:cNvGraphicFramePr>
          <p:nvPr/>
        </p:nvGraphicFramePr>
        <p:xfrm>
          <a:off x="6309360" y="1737360"/>
          <a:ext cx="5166360" cy="4754880"/>
        </p:xfrm>
        <a:graphic>
          <a:graphicData uri="http://schemas.openxmlformats.org/drawingml/2006/table">
            <a:tbl>
              <a:tblPr firstRow="1" bandRow="1">
                <a:tableStyleId>{5C22544A-7EE6-4342-B048-85BDC9FD1C3A}</a:tableStyleId>
              </a:tblPr>
              <a:tblGrid>
                <a:gridCol w="1033272"/>
                <a:gridCol w="1033272"/>
                <a:gridCol w="1033272"/>
                <a:gridCol w="1033272"/>
                <a:gridCol w="1033272"/>
              </a:tblGrid>
              <a:tr h="2377440">
                <a:tc>
                  <a:txBody>
                    <a:bodyPr/>
                    <a:lstStyle/>
                    <a:p>
                      <a:pPr>
                        <a:defRPr b="1" sz="1200">
                          <a:solidFill>
                            <a:srgbClr val="FFFFFF"/>
                          </a:solidFill>
                          <a:latin typeface="Calibri"/>
                        </a:defRPr>
                      </a:pPr>
                      <a:r>
                        <a:t>Method</a:t>
                      </a:r>
                    </a:p>
                  </a:txBody>
                  <a:tcPr>
                    <a:solidFill>
                      <a:srgbClr val="1B2A4A"/>
                    </a:solidFill>
                  </a:tcPr>
                </a:tc>
                <a:tc>
                  <a:txBody>
                    <a:bodyPr/>
                    <a:lstStyle/>
                    <a:p>
                      <a:pPr>
                        <a:defRPr b="1" sz="1200">
                          <a:solidFill>
                            <a:srgbClr val="FFFFFF"/>
                          </a:solidFill>
                          <a:latin typeface="Calibri"/>
                        </a:defRPr>
                      </a:pPr>
                      <a:r>
                        <a:t>Low</a:t>
                      </a:r>
                    </a:p>
                  </a:txBody>
                  <a:tcPr>
                    <a:solidFill>
                      <a:srgbClr val="1B2A4A"/>
                    </a:solidFill>
                  </a:tcPr>
                </a:tc>
                <a:tc>
                  <a:txBody>
                    <a:bodyPr/>
                    <a:lstStyle/>
                    <a:p>
                      <a:pPr>
                        <a:defRPr b="1" sz="1200">
                          <a:solidFill>
                            <a:srgbClr val="FFFFFF"/>
                          </a:solidFill>
                          <a:latin typeface="Calibri"/>
                        </a:defRPr>
                      </a:pPr>
                      <a:r>
                        <a:t>Mid</a:t>
                      </a:r>
                    </a:p>
                  </a:txBody>
                  <a:tcPr>
                    <a:solidFill>
                      <a:srgbClr val="1B2A4A"/>
                    </a:solidFill>
                  </a:tcPr>
                </a:tc>
                <a:tc>
                  <a:txBody>
                    <a:bodyPr/>
                    <a:lstStyle/>
                    <a:p>
                      <a:pPr>
                        <a:defRPr b="1" sz="1200">
                          <a:solidFill>
                            <a:srgbClr val="FFFFFF"/>
                          </a:solidFill>
                          <a:latin typeface="Calibri"/>
                        </a:defRPr>
                      </a:pPr>
                      <a:r>
                        <a:t>High</a:t>
                      </a:r>
                    </a:p>
                  </a:txBody>
                  <a:tcPr>
                    <a:solidFill>
                      <a:srgbClr val="1B2A4A"/>
                    </a:solidFill>
                  </a:tcPr>
                </a:tc>
                <a:tc>
                  <a:txBody>
                    <a:bodyPr/>
                    <a:lstStyle/>
                    <a:p>
                      <a:pPr>
                        <a:defRPr b="1" sz="1200">
                          <a:solidFill>
                            <a:srgbClr val="FFFFFF"/>
                          </a:solidFill>
                          <a:latin typeface="Calibri"/>
                        </a:defRPr>
                      </a:pPr>
                      <a:r>
                        <a:t>Weight</a:t>
                      </a:r>
                    </a:p>
                  </a:txBody>
                  <a:tcPr>
                    <a:solidFill>
                      <a:srgbClr val="1B2A4A"/>
                    </a:solidFill>
                  </a:tcPr>
                </a:tc>
              </a:tr>
              <a:tr h="2377440">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Peer Comparables</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3 listed peers — real market data via yfinance</a:t>
            </a:r>
          </a:p>
        </p:txBody>
      </p:sp>
      <p:sp>
        <p:nvSpPr>
          <p:cNvPr id="6" name="TextBox 5"/>
          <p:cNvSpPr txBox="1"/>
          <p:nvPr/>
        </p:nvSpPr>
        <p:spPr>
          <a:xfrm>
            <a:off x="685800" y="1188720"/>
            <a:ext cx="11064240" cy="457200"/>
          </a:xfrm>
          <a:prstGeom prst="rect">
            <a:avLst/>
          </a:prstGeom>
          <a:noFill/>
        </p:spPr>
        <p:txBody>
          <a:bodyPr wrap="none">
            <a:spAutoFit/>
          </a:bodyPr>
          <a:lstStyle/>
          <a:p>
            <a:r>
              <a:rPr b="1" sz="2000">
                <a:solidFill>
                  <a:srgbClr val="333333"/>
                </a:solidFill>
                <a:latin typeface="Calibri"/>
              </a:rPr>
              <a:t>Trading Comps</a:t>
            </a:r>
          </a:p>
        </p:txBody>
      </p:sp>
      <p:graphicFrame>
        <p:nvGraphicFramePr>
          <p:cNvPr id="7" name="Table 6"/>
          <p:cNvGraphicFramePr>
            <a:graphicFrameLocks noGrp="1"/>
          </p:cNvGraphicFramePr>
          <p:nvPr/>
        </p:nvGraphicFramePr>
        <p:xfrm>
          <a:off x="685800" y="1645920"/>
          <a:ext cx="11064240" cy="4846320"/>
        </p:xfrm>
        <a:graphic>
          <a:graphicData uri="http://schemas.openxmlformats.org/drawingml/2006/table">
            <a:tbl>
              <a:tblPr firstRow="1" bandRow="1">
                <a:tableStyleId>{5C22544A-7EE6-4342-B048-85BDC9FD1C3A}</a:tableStyleId>
              </a:tblPr>
              <a:tblGrid>
                <a:gridCol w="1844040"/>
                <a:gridCol w="1844040"/>
                <a:gridCol w="1844040"/>
                <a:gridCol w="1844040"/>
                <a:gridCol w="1844040"/>
                <a:gridCol w="1844040"/>
              </a:tblGrid>
              <a:tr h="969264">
                <a:tc>
                  <a:txBody>
                    <a:bodyPr/>
                    <a:lstStyle/>
                    <a:p>
                      <a:pPr>
                        <a:defRPr b="1" sz="1200">
                          <a:solidFill>
                            <a:srgbClr val="FFFFFF"/>
                          </a:solidFill>
                          <a:latin typeface="Calibri"/>
                        </a:defRPr>
                      </a:pPr>
                      <a:r>
                        <a:t>Company</a:t>
                      </a:r>
                    </a:p>
                  </a:txBody>
                  <a:tcPr>
                    <a:solidFill>
                      <a:srgbClr val="1B2A4A"/>
                    </a:solidFill>
                  </a:tcPr>
                </a:tc>
                <a:tc>
                  <a:txBody>
                    <a:bodyPr/>
                    <a:lstStyle/>
                    <a:p>
                      <a:pPr>
                        <a:defRPr b="1" sz="1200">
                          <a:solidFill>
                            <a:srgbClr val="FFFFFF"/>
                          </a:solidFill>
                          <a:latin typeface="Calibri"/>
                        </a:defRPr>
                      </a:pPr>
                      <a:r>
                        <a:t>Ticker</a:t>
                      </a:r>
                    </a:p>
                  </a:txBody>
                  <a:tcPr>
                    <a:solidFill>
                      <a:srgbClr val="1B2A4A"/>
                    </a:solidFill>
                  </a:tcPr>
                </a:tc>
                <a:tc>
                  <a:txBody>
                    <a:bodyPr/>
                    <a:lstStyle/>
                    <a:p>
                      <a:pPr>
                        <a:defRPr b="1" sz="1200">
                          <a:solidFill>
                            <a:srgbClr val="FFFFFF"/>
                          </a:solidFill>
                          <a:latin typeface="Calibri"/>
                        </a:defRPr>
                      </a:pPr>
                      <a:r>
                        <a:t>EV/EBITDA</a:t>
                      </a:r>
                    </a:p>
                  </a:txBody>
                  <a:tcPr>
                    <a:solidFill>
                      <a:srgbClr val="1B2A4A"/>
                    </a:solidFill>
                  </a:tcPr>
                </a:tc>
                <a:tc>
                  <a:txBody>
                    <a:bodyPr/>
                    <a:lstStyle/>
                    <a:p>
                      <a:pPr>
                        <a:defRPr b="1" sz="1200">
                          <a:solidFill>
                            <a:srgbClr val="FFFFFF"/>
                          </a:solidFill>
                          <a:latin typeface="Calibri"/>
                        </a:defRPr>
                      </a:pPr>
                      <a:r>
                        <a:t>EV/Revenue</a:t>
                      </a:r>
                    </a:p>
                  </a:txBody>
                  <a:tcPr>
                    <a:solidFill>
                      <a:srgbClr val="1B2A4A"/>
                    </a:solidFill>
                  </a:tcPr>
                </a:tc>
                <a:tc>
                  <a:txBody>
                    <a:bodyPr/>
                    <a:lstStyle/>
                    <a:p>
                      <a:pPr>
                        <a:defRPr b="1" sz="1200">
                          <a:solidFill>
                            <a:srgbClr val="FFFFFF"/>
                          </a:solidFill>
                          <a:latin typeface="Calibri"/>
                        </a:defRPr>
                      </a:pPr>
                      <a:r>
                        <a:t>EBITDA Margin</a:t>
                      </a:r>
                    </a:p>
                  </a:txBody>
                  <a:tcPr>
                    <a:solidFill>
                      <a:srgbClr val="1B2A4A"/>
                    </a:solidFill>
                  </a:tcPr>
                </a:tc>
                <a:tc>
                  <a:txBody>
                    <a:bodyPr/>
                    <a:lstStyle/>
                    <a:p>
                      <a:pPr>
                        <a:defRPr b="1" sz="1200">
                          <a:solidFill>
                            <a:srgbClr val="FFFFFF"/>
                          </a:solidFill>
                          <a:latin typeface="Calibri"/>
                        </a:defRPr>
                      </a:pPr>
                      <a:r>
                        <a:t>Rev Growth</a:t>
                      </a:r>
                    </a:p>
                  </a:txBody>
                  <a:tcPr>
                    <a:solidFill>
                      <a:srgbClr val="1B2A4A"/>
                    </a:solidFill>
                  </a:tcPr>
                </a:tc>
              </a:tr>
              <a:tr h="969264">
                <a:tc>
                  <a:txBody>
                    <a:bodyPr/>
                    <a:lstStyle/>
                    <a:p>
                      <a:pPr>
                        <a:defRPr sz="1100">
                          <a:solidFill>
                            <a:srgbClr val="333333"/>
                          </a:solidFill>
                          <a:latin typeface="Calibri"/>
                        </a:defRPr>
                      </a:pPr>
                      <a:r>
                        <a:t>Kering SA</a:t>
                      </a:r>
                    </a:p>
                  </a:txBody>
                  <a:tcPr>
                    <a:solidFill>
                      <a:srgbClr val="FFFFFF"/>
                    </a:solidFill>
                  </a:tcPr>
                </a:tc>
                <a:tc>
                  <a:txBody>
                    <a:bodyPr/>
                    <a:lstStyle/>
                    <a:p>
                      <a:pPr>
                        <a:defRPr sz="1100">
                          <a:solidFill>
                            <a:srgbClr val="333333"/>
                          </a:solidFill>
                          <a:latin typeface="Calibri"/>
                        </a:defRPr>
                      </a:pPr>
                      <a:r>
                        <a:t>KER.PA</a:t>
                      </a:r>
                    </a:p>
                  </a:txBody>
                  <a:tcPr>
                    <a:solidFill>
                      <a:srgbClr val="FFFFFF"/>
                    </a:solidFill>
                  </a:tcPr>
                </a:tc>
                <a:tc>
                  <a:txBody>
                    <a:bodyPr/>
                    <a:lstStyle/>
                    <a:p>
                      <a:pPr>
                        <a:defRPr sz="1100">
                          <a:solidFill>
                            <a:srgbClr val="333333"/>
                          </a:solidFill>
                          <a:latin typeface="Calibri"/>
                        </a:defRPr>
                      </a:pPr>
                      <a:r>
                        <a:t>17.7x</a:t>
                      </a:r>
                    </a:p>
                  </a:txBody>
                  <a:tcPr>
                    <a:solidFill>
                      <a:srgbClr val="FFFFFF"/>
                    </a:solidFill>
                  </a:tcPr>
                </a:tc>
                <a:tc>
                  <a:txBody>
                    <a:bodyPr/>
                    <a:lstStyle/>
                    <a:p>
                      <a:pPr>
                        <a:defRPr sz="1100">
                          <a:solidFill>
                            <a:srgbClr val="333333"/>
                          </a:solidFill>
                          <a:latin typeface="Calibri"/>
                        </a:defRPr>
                      </a:pPr>
                      <a:r>
                        <a:t>3.1x</a:t>
                      </a:r>
                    </a:p>
                  </a:txBody>
                  <a:tcPr>
                    <a:solidFill>
                      <a:srgbClr val="FFFFFF"/>
                    </a:solidFill>
                  </a:tcPr>
                </a:tc>
                <a:tc>
                  <a:txBody>
                    <a:bodyPr/>
                    <a:lstStyle/>
                    <a:p>
                      <a:pPr>
                        <a:defRPr sz="1100">
                          <a:solidFill>
                            <a:srgbClr val="333333"/>
                          </a:solidFill>
                          <a:latin typeface="Calibri"/>
                        </a:defRPr>
                      </a:pPr>
                      <a:r>
                        <a:t>17.3%</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r>
              <a:tr h="969264">
                <a:tc>
                  <a:txBody>
                    <a:bodyPr/>
                    <a:lstStyle/>
                    <a:p>
                      <a:pPr>
                        <a:defRPr sz="1100">
                          <a:solidFill>
                            <a:srgbClr val="333333"/>
                          </a:solidFill>
                          <a:latin typeface="Calibri"/>
                        </a:defRPr>
                      </a:pPr>
                      <a:r>
                        <a:t>Compagnie Financière Richemont SA</a:t>
                      </a:r>
                    </a:p>
                  </a:txBody>
                  <a:tcPr>
                    <a:solidFill>
                      <a:srgbClr val="FAFAFA"/>
                    </a:solidFill>
                  </a:tcPr>
                </a:tc>
                <a:tc>
                  <a:txBody>
                    <a:bodyPr/>
                    <a:lstStyle/>
                    <a:p>
                      <a:pPr>
                        <a:defRPr sz="1100">
                          <a:solidFill>
                            <a:srgbClr val="333333"/>
                          </a:solidFill>
                          <a:latin typeface="Calibri"/>
                        </a:defRPr>
                      </a:pPr>
                      <a:r>
                        <a:t>CFR.SW</a:t>
                      </a:r>
                    </a:p>
                  </a:txBody>
                  <a:tcPr>
                    <a:solidFill>
                      <a:srgbClr val="FAFAFA"/>
                    </a:solidFill>
                  </a:tcPr>
                </a:tc>
                <a:tc>
                  <a:txBody>
                    <a:bodyPr/>
                    <a:lstStyle/>
                    <a:p>
                      <a:pPr>
                        <a:defRPr sz="1100">
                          <a:solidFill>
                            <a:srgbClr val="333333"/>
                          </a:solidFill>
                          <a:latin typeface="Calibri"/>
                        </a:defRPr>
                      </a:pPr>
                      <a:r>
                        <a:t>16.2x</a:t>
                      </a:r>
                    </a:p>
                  </a:txBody>
                  <a:tcPr>
                    <a:solidFill>
                      <a:srgbClr val="FAFAFA"/>
                    </a:solidFill>
                  </a:tcPr>
                </a:tc>
                <a:tc>
                  <a:txBody>
                    <a:bodyPr/>
                    <a:lstStyle/>
                    <a:p>
                      <a:pPr>
                        <a:defRPr sz="1100">
                          <a:solidFill>
                            <a:srgbClr val="333333"/>
                          </a:solidFill>
                          <a:latin typeface="Calibri"/>
                        </a:defRPr>
                      </a:pPr>
                      <a:r>
                        <a:t>4.0x</a:t>
                      </a:r>
                    </a:p>
                  </a:txBody>
                  <a:tcPr>
                    <a:solidFill>
                      <a:srgbClr val="FAFAFA"/>
                    </a:solidFill>
                  </a:tcPr>
                </a:tc>
                <a:tc>
                  <a:txBody>
                    <a:bodyPr/>
                    <a:lstStyle/>
                    <a:p>
                      <a:pPr>
                        <a:defRPr sz="1100">
                          <a:solidFill>
                            <a:srgbClr val="333333"/>
                          </a:solidFill>
                          <a:latin typeface="Calibri"/>
                        </a:defRPr>
                      </a:pPr>
                      <a:r>
                        <a:t>24.4%</a:t>
                      </a:r>
                    </a:p>
                  </a:txBody>
                  <a:tcPr>
                    <a:solidFill>
                      <a:srgbClr val="FAFAFA"/>
                    </a:solidFill>
                  </a:tcPr>
                </a:tc>
                <a:tc>
                  <a:txBody>
                    <a:bodyPr/>
                    <a:lstStyle/>
                    <a:p>
                      <a:pPr>
                        <a:defRPr sz="1100">
                          <a:solidFill>
                            <a:srgbClr val="333333"/>
                          </a:solidFill>
                          <a:latin typeface="Calibri"/>
                        </a:defRPr>
                      </a:pPr>
                      <a:r>
                        <a:t>+295.1%</a:t>
                      </a:r>
                    </a:p>
                  </a:txBody>
                  <a:tcPr>
                    <a:solidFill>
                      <a:srgbClr val="FAFAFA"/>
                    </a:solidFill>
                  </a:tcPr>
                </a:tc>
              </a:tr>
              <a:tr h="969264">
                <a:tc>
                  <a:txBody>
                    <a:bodyPr/>
                    <a:lstStyle/>
                    <a:p>
                      <a:pPr>
                        <a:defRPr sz="1100">
                          <a:solidFill>
                            <a:srgbClr val="333333"/>
                          </a:solidFill>
                          <a:latin typeface="Calibri"/>
                        </a:defRPr>
                      </a:pPr>
                      <a:r>
                        <a:t>lululemon athletica inc.</a:t>
                      </a:r>
                    </a:p>
                  </a:txBody>
                  <a:tcPr>
                    <a:solidFill>
                      <a:srgbClr val="FFFFFF"/>
                    </a:solidFill>
                  </a:tcPr>
                </a:tc>
                <a:tc>
                  <a:txBody>
                    <a:bodyPr/>
                    <a:lstStyle/>
                    <a:p>
                      <a:pPr>
                        <a:defRPr sz="1100">
                          <a:solidFill>
                            <a:srgbClr val="333333"/>
                          </a:solidFill>
                          <a:latin typeface="Calibri"/>
                        </a:defRPr>
                      </a:pPr>
                      <a:r>
                        <a:t>LULU</a:t>
                      </a:r>
                    </a:p>
                  </a:txBody>
                  <a:tcPr>
                    <a:solidFill>
                      <a:srgbClr val="FFFFFF"/>
                    </a:solidFill>
                  </a:tcPr>
                </a:tc>
                <a:tc>
                  <a:txBody>
                    <a:bodyPr/>
                    <a:lstStyle/>
                    <a:p>
                      <a:pPr>
                        <a:defRPr sz="1100">
                          <a:solidFill>
                            <a:srgbClr val="333333"/>
                          </a:solidFill>
                          <a:latin typeface="Calibri"/>
                        </a:defRPr>
                      </a:pPr>
                      <a:r>
                        <a:t>6.3x</a:t>
                      </a:r>
                    </a:p>
                  </a:txBody>
                  <a:tcPr>
                    <a:solidFill>
                      <a:srgbClr val="FFFFFF"/>
                    </a:solidFill>
                  </a:tcPr>
                </a:tc>
                <a:tc>
                  <a:txBody>
                    <a:bodyPr/>
                    <a:lstStyle/>
                    <a:p>
                      <a:pPr>
                        <a:defRPr sz="1100">
                          <a:solidFill>
                            <a:srgbClr val="333333"/>
                          </a:solidFill>
                          <a:latin typeface="Calibri"/>
                        </a:defRPr>
                      </a:pPr>
                      <a:r>
                        <a:t>1.5x</a:t>
                      </a:r>
                    </a:p>
                  </a:txBody>
                  <a:tcPr>
                    <a:solidFill>
                      <a:srgbClr val="FFFFFF"/>
                    </a:solidFill>
                  </a:tcPr>
                </a:tc>
                <a:tc>
                  <a:txBody>
                    <a:bodyPr/>
                    <a:lstStyle/>
                    <a:p>
                      <a:pPr>
                        <a:defRPr sz="1100">
                          <a:solidFill>
                            <a:srgbClr val="333333"/>
                          </a:solidFill>
                          <a:latin typeface="Calibri"/>
                        </a:defRPr>
                      </a:pPr>
                      <a:r>
                        <a:t>24.4%</a:t>
                      </a:r>
                    </a:p>
                  </a:txBody>
                  <a:tcPr>
                    <a:solidFill>
                      <a:srgbClr val="FFFFFF"/>
                    </a:solidFill>
                  </a:tcPr>
                </a:tc>
                <a:tc>
                  <a:txBody>
                    <a:bodyPr/>
                    <a:lstStyle/>
                    <a:p>
                      <a:pPr>
                        <a:defRPr sz="1100">
                          <a:solidFill>
                            <a:srgbClr val="333333"/>
                          </a:solidFill>
                          <a:latin typeface="Calibri"/>
                        </a:defRPr>
                      </a:pPr>
                      <a:r>
                        <a:t>-18.5%</a:t>
                      </a:r>
                    </a:p>
                  </a:txBody>
                  <a:tcPr>
                    <a:solidFill>
                      <a:srgbClr val="FFFFFF"/>
                    </a:solidFill>
                  </a:tcPr>
                </a:tc>
              </a:tr>
              <a:tr h="969264">
                <a:tc>
                  <a:txBody>
                    <a:bodyPr/>
                    <a:lstStyle/>
                    <a:p>
                      <a:pPr>
                        <a:defRPr sz="1100">
                          <a:solidFill>
                            <a:srgbClr val="333333"/>
                          </a:solidFill>
                          <a:latin typeface="Calibri"/>
                        </a:defRPr>
                      </a:pPr>
                      <a:r>
                        <a:t>MEDIAN</a:t>
                      </a:r>
                    </a:p>
                  </a:txBody>
                  <a:tcPr>
                    <a:solidFill>
                      <a:srgbClr val="FAFAFA"/>
                    </a:solidFill>
                  </a:tcPr>
                </a:tc>
                <a:tc>
                  <a:txBody>
                    <a:bodyPr/>
                    <a:lstStyle/>
                    <a:p>
                      <a:pPr>
                        <a:defRPr sz="1100">
                          <a:solidFill>
                            <a:srgbClr val="333333"/>
                          </a:solidFill>
                          <a:latin typeface="Calibri"/>
                        </a:defRPr>
                      </a:pPr>
                      <a:r>
                        <a:t>—</a:t>
                      </a:r>
                    </a:p>
                  </a:txBody>
                  <a:tcPr>
                    <a:solidFill>
                      <a:srgbClr val="FAFAFA"/>
                    </a:solidFill>
                  </a:tcPr>
                </a:tc>
                <a:tc>
                  <a:txBody>
                    <a:bodyPr/>
                    <a:lstStyle/>
                    <a:p>
                      <a:pPr>
                        <a:defRPr sz="1100">
                          <a:solidFill>
                            <a:srgbClr val="333333"/>
                          </a:solidFill>
                          <a:latin typeface="Calibri"/>
                        </a:defRPr>
                      </a:pPr>
                      <a:r>
                        <a:t>16.2x</a:t>
                      </a:r>
                    </a:p>
                  </a:txBody>
                  <a:tcPr>
                    <a:solidFill>
                      <a:srgbClr val="FAFAFA"/>
                    </a:solidFill>
                  </a:tcPr>
                </a:tc>
                <a:tc>
                  <a:txBody>
                    <a:bodyPr/>
                    <a:lstStyle/>
                    <a:p>
                      <a:pPr>
                        <a:defRPr sz="1100">
                          <a:solidFill>
                            <a:srgbClr val="333333"/>
                          </a:solidFill>
                          <a:latin typeface="Calibri"/>
                        </a:defRPr>
                      </a:pPr>
                      <a:r>
                        <a:t>3.1x</a:t>
                      </a:r>
                    </a:p>
                  </a:txBody>
                  <a:tcPr>
                    <a:solidFill>
                      <a:srgbClr val="FAFAFA"/>
                    </a:solidFill>
                  </a:tcPr>
                </a:tc>
                <a:tc>
                  <a:txBody>
                    <a:bodyPr/>
                    <a:lstStyle/>
                    <a:p>
                      <a:pPr>
                        <a:defRPr sz="1100">
                          <a:solidFill>
                            <a:srgbClr val="333333"/>
                          </a:solidFill>
                          <a:latin typeface="Calibri"/>
                        </a:defRPr>
                      </a:pPr>
                      <a:r>
                        <a:t>24.4%</a:t>
                      </a:r>
                    </a:p>
                  </a:txBody>
                  <a:tcPr>
                    <a:solidFill>
                      <a:srgbClr val="FAFAFA"/>
                    </a:solidFill>
                  </a:tcPr>
                </a:tc>
                <a:tc>
                  <a:txBody>
                    <a:bodyPr/>
                    <a:lstStyle/>
                    <a:p>
                      <a:pPr>
                        <a:defRPr sz="1100">
                          <a:solidFill>
                            <a:srgbClr val="333333"/>
                          </a:solidFill>
                          <a:latin typeface="Calibri"/>
                        </a:defRPr>
                      </a:pPr>
                      <a:r>
                        <a:t>—</a:t>
                      </a:r>
                    </a:p>
                  </a:txBody>
                  <a:tcPr>
                    <a:solidFill>
                      <a:srgbClr val="FAFAFA"/>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IC Score — WATCH</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Investment Committee Scorecard</a:t>
            </a:r>
          </a:p>
        </p:txBody>
      </p:sp>
      <p:sp>
        <p:nvSpPr>
          <p:cNvPr id="6" name="TextBox 5"/>
          <p:cNvSpPr txBox="1"/>
          <p:nvPr/>
        </p:nvSpPr>
        <p:spPr>
          <a:xfrm>
            <a:off x="685800" y="1097280"/>
            <a:ext cx="5303520" cy="457200"/>
          </a:xfrm>
          <a:prstGeom prst="rect">
            <a:avLst/>
          </a:prstGeom>
          <a:noFill/>
        </p:spPr>
        <p:txBody>
          <a:bodyPr wrap="none">
            <a:spAutoFit/>
          </a:bodyPr>
          <a:lstStyle/>
          <a:p>
            <a:r>
              <a:rPr b="1" sz="2000">
                <a:solidFill>
                  <a:srgbClr val="333333"/>
                </a:solidFill>
                <a:latin typeface="Calibri"/>
              </a:rPr>
              <a:t>Dimension Scores</a:t>
            </a:r>
          </a:p>
        </p:txBody>
      </p:sp>
      <p:graphicFrame>
        <p:nvGraphicFramePr>
          <p:cNvPr id="7" name="Table 6"/>
          <p:cNvGraphicFramePr>
            <a:graphicFrameLocks noGrp="1"/>
          </p:cNvGraphicFramePr>
          <p:nvPr/>
        </p:nvGraphicFramePr>
        <p:xfrm>
          <a:off x="685800" y="1554480"/>
          <a:ext cx="5303520" cy="3657600"/>
        </p:xfrm>
        <a:graphic>
          <a:graphicData uri="http://schemas.openxmlformats.org/drawingml/2006/table">
            <a:tbl>
              <a:tblPr firstRow="1" bandRow="1">
                <a:tableStyleId>{5C22544A-7EE6-4342-B048-85BDC9FD1C3A}</a:tableStyleId>
              </a:tblPr>
              <a:tblGrid>
                <a:gridCol w="2651760"/>
                <a:gridCol w="2651760"/>
              </a:tblGrid>
              <a:tr h="457200">
                <a:tc>
                  <a:txBody>
                    <a:bodyPr/>
                    <a:lstStyle/>
                    <a:p>
                      <a:pPr>
                        <a:defRPr b="1" sz="1200">
                          <a:solidFill>
                            <a:srgbClr val="FFFFFF"/>
                          </a:solidFill>
                          <a:latin typeface="Calibri"/>
                        </a:defRPr>
                      </a:pPr>
                      <a:r>
                        <a:t>Dimension</a:t>
                      </a:r>
                    </a:p>
                  </a:txBody>
                  <a:tcPr>
                    <a:solidFill>
                      <a:srgbClr val="1B2A4A"/>
                    </a:solidFill>
                  </a:tcPr>
                </a:tc>
                <a:tc>
                  <a:txBody>
                    <a:bodyPr/>
                    <a:lstStyle/>
                    <a:p>
                      <a:pPr>
                        <a:defRPr b="1" sz="1200">
                          <a:solidFill>
                            <a:srgbClr val="FFFFFF"/>
                          </a:solidFill>
                          <a:latin typeface="Calibri"/>
                        </a:defRPr>
                      </a:pPr>
                      <a:r>
                        <a:t>Score</a:t>
                      </a:r>
                    </a:p>
                  </a:txBody>
                  <a:tcPr>
                    <a:solidFill>
                      <a:srgbClr val="1B2A4A"/>
                    </a:solidFill>
                  </a:tcPr>
                </a:tc>
              </a:tr>
              <a:tr h="457200">
                <a:tc>
                  <a:txBody>
                    <a:bodyPr/>
                    <a:lstStyle/>
                    <a:p>
                      <a:pPr>
                        <a:defRPr sz="1100">
                          <a:solidFill>
                            <a:srgbClr val="333333"/>
                          </a:solidFill>
                          <a:latin typeface="Calibri"/>
                        </a:defRPr>
                      </a:pPr>
                      <a:r>
                        <a:t>Strategy</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457200">
                <a:tc>
                  <a:txBody>
                    <a:bodyPr/>
                    <a:lstStyle/>
                    <a:p>
                      <a:pPr>
                        <a:defRPr sz="1100">
                          <a:solidFill>
                            <a:srgbClr val="333333"/>
                          </a:solidFill>
                          <a:latin typeface="Calibri"/>
                        </a:defRPr>
                      </a:pPr>
                      <a:r>
                        <a:t>Synergies</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457200">
                <a:tc>
                  <a:txBody>
                    <a:bodyPr/>
                    <a:lstStyle/>
                    <a:p>
                      <a:pPr>
                        <a:defRPr sz="1100">
                          <a:solidFill>
                            <a:srgbClr val="333333"/>
                          </a:solidFill>
                          <a:latin typeface="Calibri"/>
                        </a:defRPr>
                      </a:pPr>
                      <a:r>
                        <a:t>Financial</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457200">
                <a:tc>
                  <a:txBody>
                    <a:bodyPr/>
                    <a:lstStyle/>
                    <a:p>
                      <a:pPr>
                        <a:defRPr sz="1100">
                          <a:solidFill>
                            <a:srgbClr val="333333"/>
                          </a:solidFill>
                          <a:latin typeface="Calibri"/>
                        </a:defRPr>
                      </a:pPr>
                      <a:r>
                        <a:t>LBO</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457200">
                <a:tc>
                  <a:txBody>
                    <a:bodyPr/>
                    <a:lstStyle/>
                    <a:p>
                      <a:pPr>
                        <a:defRPr sz="1100">
                          <a:solidFill>
                            <a:srgbClr val="333333"/>
                          </a:solidFill>
                          <a:latin typeface="Calibri"/>
                        </a:defRPr>
                      </a:pPr>
                      <a:r>
                        <a:t>Integration</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457200">
                <a:tc>
                  <a:txBody>
                    <a:bodyPr/>
                    <a:lstStyle/>
                    <a:p>
                      <a:pPr>
                        <a:defRPr sz="1100">
                          <a:solidFill>
                            <a:srgbClr val="333333"/>
                          </a:solidFill>
                          <a:latin typeface="Calibri"/>
                        </a:defRPr>
                      </a:pPr>
                      <a:r>
                        <a:t>Risk</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457200">
                <a:tc>
                  <a:txBody>
                    <a:bodyPr/>
                    <a:lstStyle/>
                    <a:p>
                      <a:pPr>
                        <a:defRPr sz="1100">
                          <a:solidFill>
                            <a:srgbClr val="333333"/>
                          </a:solidFill>
                          <a:latin typeface="Calibri"/>
                        </a:defRPr>
                      </a:pPr>
                      <a:r>
                        <a:t>TOTAL</a:t>
                      </a:r>
                    </a:p>
                  </a:txBody>
                  <a:tcPr>
                    <a:solidFill>
                      <a:srgbClr val="FFFFFF"/>
                    </a:solidFill>
                  </a:tcPr>
                </a:tc>
                <a:tc>
                  <a:txBody>
                    <a:bodyPr/>
                    <a:lstStyle/>
                    <a:p>
                      <a:pPr>
                        <a:defRPr sz="1100">
                          <a:solidFill>
                            <a:srgbClr val="333333"/>
                          </a:solidFill>
                          <a:latin typeface="Calibri"/>
                        </a:defRPr>
                      </a:pPr>
                      <a:r>
                        <a:t>50/100</a:t>
                      </a:r>
                    </a:p>
                  </a:txBody>
                  <a:tcPr>
                    <a:solidFill>
                      <a:srgbClr val="FFFFFF"/>
                    </a:solidFill>
                  </a:tcPr>
                </a:tc>
              </a:tr>
            </a:tbl>
          </a:graphicData>
        </a:graphic>
      </p:graphicFrame>
      <p:sp>
        <p:nvSpPr>
          <p:cNvPr id="8" name="TextBox 7"/>
          <p:cNvSpPr txBox="1"/>
          <p:nvPr/>
        </p:nvSpPr>
        <p:spPr>
          <a:xfrm>
            <a:off x="6400800" y="1097280"/>
            <a:ext cx="5303520" cy="4114800"/>
          </a:xfrm>
          <a:prstGeom prst="rect">
            <a:avLst/>
          </a:prstGeom>
          <a:noFill/>
        </p:spPr>
        <p:txBody>
          <a:bodyPr wrap="none">
            <a:spAutoFit/>
          </a:bodyPr>
          <a:lstStyle/>
          <a:p>
            <a:r>
              <a:rPr b="1" sz="2000">
                <a:solidFill>
                  <a:srgbClr val="333333"/>
                </a:solidFill>
                <a:latin typeface="Calibri"/>
              </a:rPr>
              <a:t>Rationale &amp; Next Steps</a:t>
            </a:r>
          </a:p>
          <a:p>
            <a:pPr>
              <a:spcBef>
                <a:spcPts val="200"/>
              </a:spcBef>
              <a:spcAft>
                <a:spcPts val="200"/>
              </a:spcAft>
              <a:defRPr sz="1400">
                <a:solidFill>
                  <a:srgbClr val="333333"/>
                </a:solidFill>
                <a:latin typeface="Calibri"/>
              </a:defRPr>
            </a:pPr>
            <a:r>
              <a:t>Sézane IC score 50/100. Strengths: strategy (5/10), synergies (5/10). Risks: strategy (5/10), synergies (5/10).</a:t>
            </a:r>
          </a:p>
          <a:p>
            <a:pPr>
              <a:spcBef>
                <a:spcPts val="200"/>
              </a:spcBef>
              <a:spcAft>
                <a:spcPts val="200"/>
              </a:spcAft>
              <a:defRPr sz="1400">
                <a:solidFill>
                  <a:srgbClr val="333333"/>
                </a:solidFill>
                <a:latin typeface="Calibri"/>
              </a:defRPr>
            </a:pPr>
            <a:r>
              <a:t>Monitor company performance (quarterly check-in)</a:t>
            </a:r>
          </a:p>
          <a:p>
            <a:pPr>
              <a:spcBef>
                <a:spcPts val="200"/>
              </a:spcBef>
              <a:spcAft>
                <a:spcPts val="200"/>
              </a:spcAft>
              <a:defRPr sz="1400">
                <a:solidFill>
                  <a:srgbClr val="333333"/>
                </a:solidFill>
                <a:latin typeface="Calibri"/>
              </a:defRPr>
            </a:pPr>
            <a:r>
              <a:t>Track valuation entry point</a:t>
            </a:r>
          </a:p>
          <a:p>
            <a:pPr>
              <a:spcBef>
                <a:spcPts val="200"/>
              </a:spcBef>
              <a:spcAft>
                <a:spcPts val="200"/>
              </a:spcAft>
              <a:defRPr sz="1400">
                <a:solidFill>
                  <a:srgbClr val="333333"/>
                </a:solidFill>
                <a:latin typeface="Calibri"/>
              </a:defRPr>
            </a:pPr>
            <a:r>
              <a:t>Refine synergy case with additional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Investment Thesis</a:t>
            </a:r>
          </a:p>
        </p:txBody>
      </p:sp>
      <p:sp>
        <p:nvSpPr>
          <p:cNvPr id="5" name="TextBox 4"/>
          <p:cNvSpPr txBox="1"/>
          <p:nvPr/>
        </p:nvSpPr>
        <p:spPr>
          <a:xfrm>
            <a:off x="685800" y="1645920"/>
            <a:ext cx="11155680" cy="5029200"/>
          </a:xfrm>
          <a:prstGeom prst="rect">
            <a:avLst/>
          </a:prstGeom>
          <a:noFill/>
        </p:spPr>
        <p:txBody>
          <a:bodyPr wrap="none">
            <a:spAutoFit/>
          </a:bodyPr>
          <a:lstStyle/>
          <a:p>
            <a:r>
              <a:rPr b="1" sz="2000">
                <a:solidFill>
                  <a:srgbClr val="333333"/>
                </a:solidFill>
                <a:latin typeface="Calibri"/>
              </a:rPr>
              <a:t>Thesis</a:t>
            </a:r>
          </a:p>
          <a:p>
            <a:pPr>
              <a:spcBef>
                <a:spcPts val="200"/>
              </a:spcBef>
              <a:spcAft>
                <a:spcPts val="200"/>
              </a:spcAft>
              <a:defRPr sz="1400">
                <a:solidFill>
                  <a:srgbClr val="333333"/>
                </a:solidFill>
                <a:latin typeface="Calibri"/>
              </a:defRPr>
            </a:pPr>
            <a:r>
              <a:t>Sézane, the Paris-based premium women’s apparel and accessories brand, is positioned to capitalize on the accelerating shift toward sustainable luxury and digital-native vertical brands (DNVBs). Founded in 2013 by Morgane Sézalory, Sézane has cultivated a loyal customer base through its authentic storytelling, direct-to-consumer (DTC) model, and commitment to ethical sourcing, which resonates with millennial and Gen Z consumers. The brand’s revenue reached €350 million in 2023, up from €250 million in 2021, reflecting a CAGR of ~18%, outpacing peers like Reformation and &amp; Other Stories. Sézane’s gross margins of ~70% and EBITDA margins of ~15% are industry-leading, supported by its asset-light model, limited discounting, and premium pricing power. The company’s competitive moat lies in its vertically integrated supply chain, proprietary designs, and strong community engagement, which drives repeat purchase rates of ~40%. Valuation support is evident in recent private transactions: Sézane was valued at €1.5 billion in its 2022 funding round, implying a revenue multiple of ~6x, in line with high-growth luxury DNVBs like Glossier and Allbirds. With only ~15% of sales derived from the U.S., Sézane has significant whitespace for geographic expansion, particularly in North America and Asia, where demand for sustainable luxury is accelerating. However, execution risks remain, including supply chain bottlenecks, rising customer acquisition costs (CAC), and competition from established luxury players like Kering and LVMH, which are increasingly prioritizing sustainability.</a:t>
            </a:r>
          </a:p>
          <a:p>
            <a:pPr>
              <a:spcBef>
                <a:spcPts val="200"/>
              </a:spcBef>
              <a:spcAft>
                <a:spcPts val="200"/>
              </a:spcAft>
              <a:defRPr sz="1400">
                <a:solidFill>
                  <a:srgbClr val="333333"/>
                </a:solidFill>
                <a:latin typeface="Calibri"/>
              </a:defRPr>
            </a:pPr>
            <a:r>
              <a:t>Bull: In the bull scenario, Sézane achieves €1 billion in revenue by 2026, driven by (1) U.S. expansion: opening 10-15 physical stores and scaling e-commerce, targeting $300 million in U.S. sales (vs. ~$50 million today), (2) product extension: launching a high-margin beauty line in 2025, adding €100 million in incremental revenue, and (3) margin expansion: leveraging economies of scale to push EBITDA margins to 20%+. This trajectory would justify a valuation of €3-4 billion, assuming a 6-8x revenue multiple, in line with premium DNVB peers. Key enablers include successful localization of marketing, supply chain optimization, and continued brand loyalty, with repeat purchase rates rising to 50%.</a:t>
            </a:r>
          </a:p>
          <a:p>
            <a:pPr>
              <a:spcBef>
                <a:spcPts val="200"/>
              </a:spcBef>
              <a:spcAft>
                <a:spcPts val="200"/>
              </a:spcAft>
              <a:defRPr sz="1400">
                <a:solidFill>
                  <a:srgbClr val="333333"/>
                </a:solidFill>
                <a:latin typeface="Calibri"/>
              </a:defRPr>
            </a:pPr>
            <a:r>
              <a:t>Base: In the base case, Sézane grows revenue to €600 million by 2026 (CAGR of ~20%), with U.S. sales reaching $150 million and international markets contributing an additional €100 million. EBITDA margins stabilize at ~15%, as higher CAC and supply chain costs offset gross margin benefits. The company opens 5-8 U.S. stores and scales its wholesale partnerships with select luxury retailers like Net-a-Porter. Valuation in this scenario would likely range from €2-2.5 billion, reflecting a 4-5x revenue multiple, as growth moderates but remains above industry averages. Key assumptions include stable consumer demand for sustainable luxury, no major supply chain disruptions, and successful execution of its U.S. expansion strategy.</a:t>
            </a:r>
          </a:p>
          <a:p>
            <a:pPr>
              <a:spcBef>
                <a:spcPts val="200"/>
              </a:spcBef>
              <a:spcAft>
                <a:spcPts val="200"/>
              </a:spcAft>
              <a:defRPr sz="1400">
                <a:solidFill>
                  <a:srgbClr val="333333"/>
                </a:solidFill>
                <a:latin typeface="Calibri"/>
              </a:defRPr>
            </a:pPr>
            <a:r>
              <a:t>Bear: In the bear scenario, Sézane’s growth stalls at €400 million by 2026, as (1) U.S. expansion underperforms due to misaligned marketing or logistical challenges, (2) rising CAC erodes profitability, with EBITDA margins falling to ~10%, and (3) increased competition from fast-fashion brands like Zara and H&amp;M, which launch aggressive sustainable collections. A recession in key markets could further pressure discretionary spending, leading to a 10-15% revenue decline in 2025. Valuation could contract to €800 million-€1 billion, reflecting a 2-2.5x revenue multiple, as investors question the scalability of the DTC model. Triggers for this scenario include a failure to localize the brand in the U.S., supply chain disruptions, or a broader downturn in the luxury market.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Catalysts &amp; Risks</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Catalysts</a:t>
            </a:r>
          </a:p>
          <a:p>
            <a:pPr>
              <a:spcBef>
                <a:spcPts val="200"/>
              </a:spcBef>
              <a:spcAft>
                <a:spcPts val="200"/>
              </a:spcAft>
              <a:defRPr sz="1400">
                <a:solidFill>
                  <a:srgbClr val="333333"/>
                </a:solidFill>
                <a:latin typeface="Calibri"/>
              </a:defRPr>
            </a:pPr>
            <a:r>
              <a:t>Q4 2024 earnings release (expected February 2025): Investors will focus on U.S. revenue growth, EBITDA margins, and progress toward 2025 store openings.</a:t>
            </a:r>
          </a:p>
          <a:p>
            <a:pPr>
              <a:spcBef>
                <a:spcPts val="200"/>
              </a:spcBef>
              <a:spcAft>
                <a:spcPts val="200"/>
              </a:spcAft>
              <a:defRPr sz="1400">
                <a:solidFill>
                  <a:srgbClr val="333333"/>
                </a:solidFill>
                <a:latin typeface="Calibri"/>
              </a:defRPr>
            </a:pPr>
            <a:r>
              <a:t>Launch of Sézane’s beauty line (planned for H1 2025): A successful debut could validate the brand’s ability to extend into adjacent categories and drive incremental revenue.</a:t>
            </a:r>
          </a:p>
          <a:p>
            <a:pPr>
              <a:spcBef>
                <a:spcPts val="200"/>
              </a:spcBef>
              <a:spcAft>
                <a:spcPts val="200"/>
              </a:spcAft>
              <a:defRPr sz="1400">
                <a:solidFill>
                  <a:srgbClr val="333333"/>
                </a:solidFill>
                <a:latin typeface="Calibri"/>
              </a:defRPr>
            </a:pPr>
            <a:r>
              <a:t>Expansion into Asia (2025): Entry into markets like Japan and South Korea, where demand for sustainable luxury is growing, could unlock a new revenue stream.</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Key Risks</a:t>
            </a:r>
          </a:p>
          <a:p>
            <a:pPr>
              <a:spcBef>
                <a:spcPts val="200"/>
              </a:spcBef>
              <a:spcAft>
                <a:spcPts val="200"/>
              </a:spcAft>
              <a:defRPr sz="1400">
                <a:solidFill>
                  <a:srgbClr val="333333"/>
                </a:solidFill>
                <a:latin typeface="Calibri"/>
              </a:defRPr>
            </a:pPr>
            <a:r>
              <a:t>No risks provided.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