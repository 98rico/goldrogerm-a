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radarChart>
        <c:radarStyle val="filled"/>
        <c:varyColors val="0"/>
        <c:ser>
          <c:idx val="0"/>
          <c:order val="0"/>
          <c:tx>
            <c:strRef>
              <c:f>Sheet1!$B$1</c:f>
              <c:strCache>
                <c:ptCount val="1"/>
                <c:pt idx="0">
                  <c:v>Score</c:v>
                </c:pt>
              </c:strCache>
            </c:strRef>
          </c:tx>
          <c:spPr>
            <a:solidFill>
              <a:srgbClr val="1F497D"/>
            </a:solidFill>
          </c:spPr>
          <c:cat>
            <c:strRef>
              <c:f>Sheet1!$A$2:$A$7</c:f>
              <c:strCache>
                <c:ptCount val="6"/>
                <c:pt idx="0">
                  <c:v>Strategy</c:v>
                </c:pt>
                <c:pt idx="1">
                  <c:v>Synergies</c:v>
                </c:pt>
                <c:pt idx="2">
                  <c:v>Financial</c:v>
                </c:pt>
                <c:pt idx="3">
                  <c:v>LBO</c:v>
                </c:pt>
                <c:pt idx="4">
                  <c:v>Integration</c:v>
                </c:pt>
                <c:pt idx="5">
                  <c:v>Risk</c:v>
                </c:pt>
              </c:strCache>
            </c:strRef>
          </c:cat>
          <c:val>
            <c:numRef>
              <c:f>Sheet1!$B$2:$B$7</c:f>
              <c:numCache>
                <c:formatCode>General</c:formatCode>
                <c:ptCount val="6"/>
                <c:pt idx="0">
                  <c:v>5.0</c:v>
                </c:pt>
                <c:pt idx="1">
                  <c:v>5.0</c:v>
                </c:pt>
                <c:pt idx="2">
                  <c:v>5.0</c:v>
                </c:pt>
                <c:pt idx="3">
                  <c:v>5.0</c:v>
                </c:pt>
                <c:pt idx="4">
                  <c:v>5.0</c:v>
                </c:pt>
                <c:pt idx="5">
                  <c:v>5.0</c:v>
                </c:pt>
              </c:numCache>
            </c:numRef>
          </c:val>
          <c:smooth val="0"/>
        </c:ser>
        <c:ser>
          <c:idx val="1"/>
          <c:order val="1"/>
          <c:tx>
            <c:strRef>
              <c:f>Sheet1!$C$1</c:f>
              <c:strCache>
                <c:ptCount val="1"/>
                <c:pt idx="0">
                  <c:v>Midpoint</c:v>
                </c:pt>
              </c:strCache>
            </c:strRef>
          </c:tx>
          <c:spPr>
            <a:ln>
              <a:solidFill>
                <a:srgbClr val="B4B4B4"/>
              </a:solidFill>
            </a:ln>
          </c:spPr>
          <c:cat>
            <c:strRef>
              <c:f>Sheet1!$A$2:$A$7</c:f>
              <c:strCache>
                <c:ptCount val="6"/>
                <c:pt idx="0">
                  <c:v>Strategy</c:v>
                </c:pt>
                <c:pt idx="1">
                  <c:v>Synergies</c:v>
                </c:pt>
                <c:pt idx="2">
                  <c:v>Financial</c:v>
                </c:pt>
                <c:pt idx="3">
                  <c:v>LBO</c:v>
                </c:pt>
                <c:pt idx="4">
                  <c:v>Integration</c:v>
                </c:pt>
                <c:pt idx="5">
                  <c:v>Risk</c:v>
                </c:pt>
              </c:strCache>
            </c:strRef>
          </c:cat>
          <c:val>
            <c:numRef>
              <c:f>Sheet1!$C$2:$C$7</c:f>
              <c:numCache>
                <c:formatCode>General</c:formatCode>
                <c:ptCount val="6"/>
                <c:pt idx="0">
                  <c:v>5.0</c:v>
                </c:pt>
                <c:pt idx="1">
                  <c:v>5.0</c:v>
                </c:pt>
                <c:pt idx="2">
                  <c:v>5.0</c:v>
                </c:pt>
                <c:pt idx="3">
                  <c:v>5.0</c:v>
                </c:pt>
                <c:pt idx="4">
                  <c:v>5.0</c:v>
                </c:pt>
                <c:pt idx="5">
                  <c:v>5.0</c:v>
                </c:pt>
              </c:numCache>
            </c:numRef>
          </c:val>
          <c:smooth val="0"/>
        </c:ser>
        <c:axId val="2073612648"/>
        <c:axId val="-2112772216"/>
      </c:radarChart>
      <c:catAx>
        <c:axId val="2073612648"/>
        <c:scaling>
          <c:orientation val="minMax"/>
        </c:scaling>
        <c:delete val="0"/>
        <c:axPos val="b"/>
        <c:majorGridlines/>
        <c:numFmt formatCode="m/d/yy" sourceLinked="1"/>
        <c:majorTickMark val="out"/>
        <c:minorTickMark val="none"/>
        <c:tickLblPos val="nextTo"/>
        <c:crossAx val="-2112772216"/>
        <c:crosses val="autoZero"/>
        <c:auto val="1"/>
        <c:lblAlgn val="ctr"/>
        <c:lblOffset val="100"/>
        <c:noMultiLvlLbl val="0"/>
      </c:catAx>
      <c:valAx>
        <c:axId val="-2112772216"/>
        <c:scaling>
          <c:orientation val="minMax"/>
        </c:scaling>
        <c:delete val="0"/>
        <c:axPos val="l"/>
        <c:majorGridlines/>
        <c:numFmt formatCode="General" sourceLinked="1"/>
        <c:majorTickMark val="cross"/>
        <c:minorTickMark val="none"/>
        <c:tickLblPos val="nextTo"/>
        <c:crossAx val="2073612648"/>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Doctolib</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Executive Summary  |  Healthcare Technology (HealthTech)  |  Private</a:t>
            </a:r>
          </a:p>
        </p:txBody>
      </p:sp>
      <p:sp>
        <p:nvSpPr>
          <p:cNvPr id="6" name="TextBox 5"/>
          <p:cNvSpPr txBox="1"/>
          <p:nvPr/>
        </p:nvSpPr>
        <p:spPr>
          <a:xfrm>
            <a:off x="4114800" y="1371600"/>
            <a:ext cx="3657600" cy="822960"/>
          </a:xfrm>
          <a:prstGeom prst="rect">
            <a:avLst/>
          </a:prstGeom>
          <a:noFill/>
        </p:spPr>
        <p:txBody>
          <a:bodyPr wrap="none">
            <a:spAutoFit/>
          </a:bodyPr>
          <a:lstStyle/>
          <a:p>
            <a:pPr algn="ctr"/>
            <a:r>
              <a:rPr b="1" sz="3600">
                <a:solidFill>
                  <a:srgbClr val="FFC000"/>
                </a:solidFill>
                <a:latin typeface="Calibri"/>
              </a:rPr>
              <a:t>HOLD</a:t>
            </a:r>
          </a:p>
        </p:txBody>
      </p:sp>
      <p:sp>
        <p:nvSpPr>
          <p:cNvPr id="7" name="TextBox 6"/>
          <p:cNvSpPr txBox="1"/>
          <p:nvPr/>
        </p:nvSpPr>
        <p:spPr>
          <a:xfrm>
            <a:off x="457200" y="2377440"/>
            <a:ext cx="11247120" cy="1280160"/>
          </a:xfrm>
          <a:prstGeom prst="rect">
            <a:avLst/>
          </a:prstGeom>
          <a:noFill/>
        </p:spPr>
        <p:txBody>
          <a:bodyPr wrap="none">
            <a:spAutoFit/>
          </a:bodyPr>
          <a:lstStyle/>
          <a:p>
            <a:pPr algn="ctr"/>
            <a:r>
              <a:rPr b="1" sz="1500">
                <a:solidFill>
                  <a:srgbClr val="1B2A4A"/>
                </a:solidFill>
                <a:latin typeface="Calibri"/>
              </a:rPr>
              <a:t>Implied EV: N/A     |     Revenue: $0.0M     |     EBITDA Margin: 18.0% [sector avg]     |     Upside/Downside: N/A [no market price]</a:t>
            </a:r>
          </a:p>
        </p:txBody>
      </p:sp>
      <p:sp>
        <p:nvSpPr>
          <p:cNvPr id="8" name="TextBox 7"/>
          <p:cNvSpPr txBox="1"/>
          <p:nvPr/>
        </p:nvSpPr>
        <p:spPr>
          <a:xfrm>
            <a:off x="4754880" y="3657600"/>
            <a:ext cx="2560320" cy="640080"/>
          </a:xfrm>
          <a:prstGeom prst="rect">
            <a:avLst/>
          </a:prstGeom>
          <a:noFill/>
        </p:spPr>
        <p:txBody>
          <a:bodyPr wrap="none">
            <a:spAutoFit/>
          </a:bodyPr>
          <a:lstStyle/>
          <a:p>
            <a:pPr algn="ctr"/>
            <a:r>
              <a:rPr b="1" sz="1600">
                <a:solidFill>
                  <a:srgbClr val="1B2A4A"/>
                </a:solidFill>
                <a:latin typeface="Calibri"/>
              </a:rPr>
              <a:t>IC Score: 50/100</a:t>
            </a:r>
          </a:p>
        </p:txBody>
      </p:sp>
      <p:sp>
        <p:nvSpPr>
          <p:cNvPr id="9" name="TextBox 8"/>
          <p:cNvSpPr txBox="1"/>
          <p:nvPr/>
        </p:nvSpPr>
        <p:spPr>
          <a:xfrm>
            <a:off x="457200" y="4480560"/>
            <a:ext cx="11247120" cy="2103120"/>
          </a:xfrm>
          <a:prstGeom prst="rect">
            <a:avLst/>
          </a:prstGeom>
          <a:noFill/>
        </p:spPr>
        <p:txBody>
          <a:bodyPr wrap="none">
            <a:spAutoFit/>
          </a:bodyPr>
          <a:lstStyle/>
          <a:p>
            <a:r>
              <a:rPr b="1" sz="2000">
                <a:solidFill>
                  <a:srgbClr val="333333"/>
                </a:solidFill>
                <a:latin typeface="Calibri"/>
              </a:rPr>
              <a:t>Key Scenarios</a:t>
            </a:r>
          </a:p>
          <a:p>
            <a:pPr>
              <a:spcBef>
                <a:spcPts val="200"/>
              </a:spcBef>
              <a:spcAft>
                <a:spcPts val="200"/>
              </a:spcAft>
              <a:defRPr sz="1400">
                <a:solidFill>
                  <a:srgbClr val="333333"/>
                </a:solidFill>
                <a:latin typeface="Calibri"/>
              </a:defRPr>
            </a:pPr>
            <a:r>
              <a:t>Base case: The base case assumes Doctolib maintains its current trajectory, with revenue growing at a 25% CAGR to €1 billion by 2026, support</a:t>
            </a:r>
          </a:p>
          <a:p>
            <a:pPr>
              <a:spcBef>
                <a:spcPts val="200"/>
              </a:spcBef>
              <a:spcAft>
                <a:spcPts val="200"/>
              </a:spcAft>
              <a:defRPr sz="1400">
                <a:solidFill>
                  <a:srgbClr val="333333"/>
                </a:solidFill>
                <a:latin typeface="Calibri"/>
              </a:defRPr>
            </a:pPr>
            <a:r>
              <a:t>Bull: In the bull scenario, Doctolib accelerates growth through three key drivers: (1) **Regulatory tailwinds**—expansion of public fund</a:t>
            </a:r>
          </a:p>
          <a:p>
            <a:pPr>
              <a:spcBef>
                <a:spcPts val="200"/>
              </a:spcBef>
              <a:spcAft>
                <a:spcPts val="200"/>
              </a:spcAft>
              <a:defRPr sz="1400">
                <a:solidFill>
                  <a:srgbClr val="333333"/>
                </a:solidFill>
                <a:latin typeface="Calibri"/>
              </a:defRPr>
            </a:pPr>
            <a:r>
              <a:t>Bear: The bear case envisions a deceleration in growth due to (1) **Regulatory headwinds**—delays or reversals in public funding for dig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Doctolib</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Generated April 30, 2026 | Healthcare Technology (HealthTech)</a:t>
            </a:r>
          </a:p>
        </p:txBody>
      </p:sp>
      <p:sp>
        <p:nvSpPr>
          <p:cNvPr id="6" name="TextBox 5"/>
          <p:cNvSpPr txBox="1"/>
          <p:nvPr/>
        </p:nvSpPr>
        <p:spPr>
          <a:xfrm>
            <a:off x="685800" y="2011680"/>
            <a:ext cx="11155680" cy="1371600"/>
          </a:xfrm>
          <a:prstGeom prst="rect">
            <a:avLst/>
          </a:prstGeom>
          <a:noFill/>
        </p:spPr>
        <p:txBody>
          <a:bodyPr wrap="none">
            <a:spAutoFit/>
          </a:bodyPr>
          <a:lstStyle/>
          <a:p>
            <a:r>
              <a:rPr b="0" sz="1800">
                <a:solidFill>
                  <a:srgbClr val="333333"/>
                </a:solidFill>
                <a:latin typeface="Calibri"/>
              </a:rPr>
              <a:t>A European digital health platform that connects patients with healthcare professionals, offering appointment scheduling, telemedicine, and practice management software.</a:t>
            </a:r>
          </a:p>
        </p:txBody>
      </p:sp>
      <p:sp>
        <p:nvSpPr>
          <p:cNvPr id="7" name="TextBox 6"/>
          <p:cNvSpPr txBox="1"/>
          <p:nvPr/>
        </p:nvSpPr>
        <p:spPr>
          <a:xfrm>
            <a:off x="685800" y="6035040"/>
            <a:ext cx="11155680" cy="548640"/>
          </a:xfrm>
          <a:prstGeom prst="rect">
            <a:avLst/>
          </a:prstGeom>
          <a:noFill/>
        </p:spPr>
        <p:txBody>
          <a:bodyPr wrap="none">
            <a:spAutoFit/>
          </a:bodyPr>
          <a:lstStyle/>
          <a:p>
            <a:r>
              <a:rPr b="1" sz="1400">
                <a:solidFill>
                  <a:srgbClr val="1B2A4A"/>
                </a:solidFill>
                <a:latin typeface="Calibri"/>
              </a:rPr>
              <a:t>Recommendation: HOLD | Target: N/A | Upside/Downside: N/A [no market price] | Current: N/A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Company Overview</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Business Model</a:t>
            </a:r>
          </a:p>
          <a:p>
            <a:pPr>
              <a:spcBef>
                <a:spcPts val="200"/>
              </a:spcBef>
              <a:spcAft>
                <a:spcPts val="200"/>
              </a:spcAft>
              <a:defRPr sz="1400">
                <a:solidFill>
                  <a:srgbClr val="333333"/>
                </a:solidFill>
                <a:latin typeface="Calibri"/>
              </a:defRPr>
            </a:pPr>
            <a:r>
              <a:t>Generates revenue through subscription fees from healthcare providers for software services, transaction fees for appointment bookings, and premium features for telemedicine and practice management.</a:t>
            </a:r>
          </a:p>
          <a:p>
            <a:pPr>
              <a:spcBef>
                <a:spcPts val="200"/>
              </a:spcBef>
              <a:spcAft>
                <a:spcPts val="200"/>
              </a:spcAft>
              <a:defRPr sz="1400">
                <a:solidFill>
                  <a:srgbClr val="333333"/>
                </a:solidFill>
                <a:latin typeface="Calibri"/>
              </a:defRPr>
            </a:pPr>
            <a:r>
              <a:t>Founded: N/A</a:t>
            </a:r>
          </a:p>
          <a:p>
            <a:pPr>
              <a:spcBef>
                <a:spcPts val="200"/>
              </a:spcBef>
              <a:spcAft>
                <a:spcPts val="200"/>
              </a:spcAft>
              <a:defRPr sz="1400">
                <a:solidFill>
                  <a:srgbClr val="333333"/>
                </a:solidFill>
                <a:latin typeface="Calibri"/>
              </a:defRPr>
            </a:pPr>
            <a:r>
              <a:t>HQ: N/A</a:t>
            </a:r>
          </a:p>
          <a:p>
            <a:pPr>
              <a:spcBef>
                <a:spcPts val="200"/>
              </a:spcBef>
              <a:spcAft>
                <a:spcPts val="200"/>
              </a:spcAft>
              <a:defRPr sz="1400">
                <a:solidFill>
                  <a:srgbClr val="333333"/>
                </a:solidFill>
                <a:latin typeface="Calibri"/>
              </a:defRPr>
            </a:pPr>
            <a:r>
              <a:t>Employees: N/A</a:t>
            </a:r>
          </a:p>
          <a:p>
            <a:pPr>
              <a:spcBef>
                <a:spcPts val="200"/>
              </a:spcBef>
              <a:spcAft>
                <a:spcPts val="200"/>
              </a:spcAft>
              <a:defRPr sz="1400">
                <a:solidFill>
                  <a:srgbClr val="333333"/>
                </a:solidFill>
                <a:latin typeface="Calibri"/>
              </a:defRPr>
            </a:pPr>
            <a:r>
              <a:t>Ticker: DOCTOL</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Competitive Advantages</a:t>
            </a:r>
          </a:p>
          <a:p>
            <a:pPr>
              <a:spcBef>
                <a:spcPts val="200"/>
              </a:spcBef>
              <a:spcAft>
                <a:spcPts val="200"/>
              </a:spcAft>
              <a:defRPr sz="1400">
                <a:solidFill>
                  <a:srgbClr val="333333"/>
                </a:solidFill>
                <a:latin typeface="Calibri"/>
              </a:defRPr>
            </a:pPr>
            <a:r>
              <a:t>Competitive positioning data unavailable.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Market &amp; Competition</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Market Sizing</a:t>
            </a:r>
          </a:p>
          <a:p>
            <a:pPr>
              <a:spcBef>
                <a:spcPts val="200"/>
              </a:spcBef>
              <a:spcAft>
                <a:spcPts val="200"/>
              </a:spcAft>
              <a:defRPr sz="1400">
                <a:solidFill>
                  <a:srgbClr val="333333"/>
                </a:solidFill>
                <a:latin typeface="Calibri"/>
              </a:defRPr>
            </a:pPr>
            <a:r>
              <a:t>TAM: Market size data not available [no verified source]</a:t>
            </a:r>
          </a:p>
          <a:p>
            <a:pPr>
              <a:spcBef>
                <a:spcPts val="200"/>
              </a:spcBef>
              <a:spcAft>
                <a:spcPts val="200"/>
              </a:spcAft>
              <a:defRPr sz="1400">
                <a:solidFill>
                  <a:srgbClr val="333333"/>
                </a:solidFill>
                <a:latin typeface="Calibri"/>
              </a:defRPr>
            </a:pPr>
            <a:r>
              <a:t>Growth (CAGR): +7.0% [sector benchmark]</a:t>
            </a:r>
          </a:p>
          <a:p>
            <a:pPr>
              <a:spcBef>
                <a:spcPts val="200"/>
              </a:spcBef>
              <a:spcAft>
                <a:spcPts val="200"/>
              </a:spcAft>
              <a:defRPr sz="1400">
                <a:solidFill>
                  <a:srgbClr val="333333"/>
                </a:solidFill>
                <a:latin typeface="Calibri"/>
              </a:defRPr>
            </a:pPr>
            <a:r>
              <a:t>Segment: N/A</a:t>
            </a:r>
          </a:p>
          <a:p>
            <a:pPr>
              <a:spcBef>
                <a:spcPts val="200"/>
              </a:spcBef>
              <a:spcAft>
                <a:spcPts val="200"/>
              </a:spcAft>
              <a:defRPr sz="1400">
                <a:solidFill>
                  <a:srgbClr val="333333"/>
                </a:solidFill>
                <a:latin typeface="Calibri"/>
              </a:defRPr>
            </a:pPr>
            <a:r>
              <a:t>Company share: N/A</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Trends &amp; Competitors</a:t>
            </a:r>
          </a:p>
          <a:p>
            <a:pPr>
              <a:spcBef>
                <a:spcPts val="200"/>
              </a:spcBef>
              <a:spcAft>
                <a:spcPts val="200"/>
              </a:spcAft>
              <a:defRPr sz="1400">
                <a:solidFill>
                  <a:srgbClr val="333333"/>
                </a:solidFill>
                <a:latin typeface="Calibri"/>
              </a:defRPr>
            </a:pPr>
            <a:r>
              <a:t>No market trend data available from current sources.</a:t>
            </a:r>
          </a:p>
          <a:p>
            <a:pPr>
              <a:spcBef>
                <a:spcPts val="200"/>
              </a:spcBef>
              <a:spcAft>
                <a:spcPts val="200"/>
              </a:spcAft>
              <a:defRPr sz="1400">
                <a:solidFill>
                  <a:srgbClr val="333333"/>
                </a:solidFill>
                <a:latin typeface="Calibri"/>
              </a:defRPr>
            </a:pPr>
            <a:r>
              <a:t>Top competitors:</a:t>
            </a:r>
          </a:p>
          <a:p>
            <a:pPr>
              <a:spcBef>
                <a:spcPts val="200"/>
              </a:spcBef>
              <a:spcAft>
                <a:spcPts val="200"/>
              </a:spcAft>
              <a:defRPr sz="1400">
                <a:solidFill>
                  <a:srgbClr val="333333"/>
                </a:solidFill>
                <a:latin typeface="Calibri"/>
              </a:defRPr>
            </a:pPr>
            <a:r>
              <a:t>N/A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Financial Snapshot</a:t>
            </a:r>
          </a:p>
        </p:txBody>
      </p:sp>
      <p:sp>
        <p:nvSpPr>
          <p:cNvPr id="5" name="TextBox 4"/>
          <p:cNvSpPr txBox="1"/>
          <p:nvPr/>
        </p:nvSpPr>
        <p:spPr>
          <a:xfrm>
            <a:off x="685800" y="1280160"/>
            <a:ext cx="5669280" cy="457200"/>
          </a:xfrm>
          <a:prstGeom prst="rect">
            <a:avLst/>
          </a:prstGeom>
          <a:noFill/>
        </p:spPr>
        <p:txBody>
          <a:bodyPr wrap="none">
            <a:spAutoFit/>
          </a:bodyPr>
          <a:lstStyle/>
          <a:p>
            <a:r>
              <a:rPr b="1" sz="2000">
                <a:solidFill>
                  <a:srgbClr val="333333"/>
                </a:solidFill>
                <a:latin typeface="Calibri"/>
              </a:rPr>
              <a:t>Key Financials</a:t>
            </a:r>
          </a:p>
        </p:txBody>
      </p:sp>
      <p:graphicFrame>
        <p:nvGraphicFramePr>
          <p:cNvPr id="6" name="Table 5"/>
          <p:cNvGraphicFramePr>
            <a:graphicFrameLocks noGrp="1"/>
          </p:cNvGraphicFramePr>
          <p:nvPr/>
        </p:nvGraphicFramePr>
        <p:xfrm>
          <a:off x="685800" y="1737360"/>
          <a:ext cx="5669280" cy="4754880"/>
        </p:xfrm>
        <a:graphic>
          <a:graphicData uri="http://schemas.openxmlformats.org/drawingml/2006/table">
            <a:tbl>
              <a:tblPr firstRow="1" bandRow="1">
                <a:tableStyleId>{5C22544A-7EE6-4342-B048-85BDC9FD1C3A}</a:tableStyleId>
              </a:tblPr>
              <a:tblGrid>
                <a:gridCol w="2834640"/>
                <a:gridCol w="2834640"/>
              </a:tblGrid>
              <a:tr h="594360">
                <a:tc>
                  <a:txBody>
                    <a:bodyPr/>
                    <a:lstStyle/>
                    <a:p>
                      <a:pPr>
                        <a:defRPr b="1" sz="1200">
                          <a:solidFill>
                            <a:srgbClr val="FFFFFF"/>
                          </a:solidFill>
                          <a:latin typeface="Calibri"/>
                        </a:defRPr>
                      </a:pPr>
                      <a:r>
                        <a:t>Metric</a:t>
                      </a:r>
                    </a:p>
                  </a:txBody>
                  <a:tcPr>
                    <a:solidFill>
                      <a:srgbClr val="1B2A4A"/>
                    </a:solidFill>
                  </a:tcPr>
                </a:tc>
                <a:tc>
                  <a:txBody>
                    <a:bodyPr/>
                    <a:lstStyle/>
                    <a:p>
                      <a:pPr>
                        <a:defRPr b="1" sz="1200">
                          <a:solidFill>
                            <a:srgbClr val="FFFFFF"/>
                          </a:solidFill>
                          <a:latin typeface="Calibri"/>
                        </a:defRPr>
                      </a:pPr>
                      <a:r>
                        <a:t>Value</a:t>
                      </a:r>
                    </a:p>
                  </a:txBody>
                  <a:tcPr>
                    <a:solidFill>
                      <a:srgbClr val="1B2A4A"/>
                    </a:solidFill>
                  </a:tcPr>
                </a:tc>
              </a:tr>
              <a:tr h="594360">
                <a:tc>
                  <a:txBody>
                    <a:bodyPr/>
                    <a:lstStyle/>
                    <a:p>
                      <a:pPr>
                        <a:defRPr sz="1100">
                          <a:solidFill>
                            <a:srgbClr val="333333"/>
                          </a:solidFill>
                          <a:latin typeface="Calibri"/>
                        </a:defRPr>
                      </a:pPr>
                      <a:r>
                        <a:t>Revenue</a:t>
                      </a:r>
                    </a:p>
                  </a:txBody>
                  <a:tcPr>
                    <a:solidFill>
                      <a:srgbClr val="FFFFFF"/>
                    </a:solidFill>
                  </a:tcPr>
                </a:tc>
                <a:tc>
                  <a:txBody>
                    <a:bodyPr/>
                    <a:lstStyle/>
                    <a:p>
                      <a:pPr>
                        <a:defRPr sz="1100">
                          <a:solidFill>
                            <a:srgbClr val="333333"/>
                          </a:solidFill>
                          <a:latin typeface="Calibri"/>
                        </a:defRPr>
                      </a:pPr>
                      <a:r>
                        <a:t>0.0</a:t>
                      </a:r>
                    </a:p>
                  </a:txBody>
                  <a:tcPr>
                    <a:solidFill>
                      <a:srgbClr val="FFFFFF"/>
                    </a:solidFill>
                  </a:tcPr>
                </a:tc>
              </a:tr>
              <a:tr h="594360">
                <a:tc>
                  <a:txBody>
                    <a:bodyPr/>
                    <a:lstStyle/>
                    <a:p>
                      <a:pPr>
                        <a:defRPr sz="1100">
                          <a:solidFill>
                            <a:srgbClr val="333333"/>
                          </a:solidFill>
                          <a:latin typeface="Calibri"/>
                        </a:defRPr>
                      </a:pPr>
                      <a:r>
                        <a:t>Revenue growth</a:t>
                      </a:r>
                    </a:p>
                  </a:txBody>
                  <a:tcPr>
                    <a:solidFill>
                      <a:srgbClr val="FAFAFA"/>
                    </a:solidFill>
                  </a:tcPr>
                </a:tc>
                <a:tc>
                  <a:txBody>
                    <a:bodyPr/>
                    <a:lstStyle/>
                    <a:p>
                      <a:pPr>
                        <a:defRPr sz="1100">
                          <a:solidFill>
                            <a:srgbClr val="333333"/>
                          </a:solidFill>
                          <a:latin typeface="Calibri"/>
                        </a:defRPr>
                      </a:pPr>
                      <a:r>
                        <a:t>+7.0% [estimated]</a:t>
                      </a:r>
                    </a:p>
                  </a:txBody>
                  <a:tcPr>
                    <a:solidFill>
                      <a:srgbClr val="FAFAFA"/>
                    </a:solidFill>
                  </a:tcPr>
                </a:tc>
              </a:tr>
              <a:tr h="594360">
                <a:tc>
                  <a:txBody>
                    <a:bodyPr/>
                    <a:lstStyle/>
                    <a:p>
                      <a:pPr>
                        <a:defRPr sz="1100">
                          <a:solidFill>
                            <a:srgbClr val="333333"/>
                          </a:solidFill>
                          <a:latin typeface="Calibri"/>
                        </a:defRPr>
                      </a:pPr>
                      <a:r>
                        <a:t>Gross margin</a:t>
                      </a:r>
                    </a:p>
                  </a:txBody>
                  <a:tcPr>
                    <a:solidFill>
                      <a:srgbClr val="FFFFFF"/>
                    </a:solidFill>
                  </a:tcPr>
                </a:tc>
                <a:tc>
                  <a:txBody>
                    <a:bodyPr/>
                    <a:lstStyle/>
                    <a:p>
                      <a:pPr>
                        <a:defRPr sz="1100">
                          <a:solidFill>
                            <a:srgbClr val="333333"/>
                          </a:solidFill>
                          <a:latin typeface="Calibri"/>
                        </a:defRPr>
                      </a:pPr>
                      <a:r>
                        <a:t>43.0% [estimated]</a:t>
                      </a:r>
                    </a:p>
                  </a:txBody>
                  <a:tcPr>
                    <a:solidFill>
                      <a:srgbClr val="FFFFFF"/>
                    </a:solidFill>
                  </a:tcPr>
                </a:tc>
              </a:tr>
              <a:tr h="594360">
                <a:tc>
                  <a:txBody>
                    <a:bodyPr/>
                    <a:lstStyle/>
                    <a:p>
                      <a:pPr>
                        <a:defRPr sz="1100">
                          <a:solidFill>
                            <a:srgbClr val="333333"/>
                          </a:solidFill>
                          <a:latin typeface="Calibri"/>
                        </a:defRPr>
                      </a:pPr>
                      <a:r>
                        <a:t>EBITDA margin</a:t>
                      </a:r>
                    </a:p>
                  </a:txBody>
                  <a:tcPr>
                    <a:solidFill>
                      <a:srgbClr val="FAFAFA"/>
                    </a:solidFill>
                  </a:tcPr>
                </a:tc>
                <a:tc>
                  <a:txBody>
                    <a:bodyPr/>
                    <a:lstStyle/>
                    <a:p>
                      <a:pPr>
                        <a:defRPr sz="1100">
                          <a:solidFill>
                            <a:srgbClr val="333333"/>
                          </a:solidFill>
                          <a:latin typeface="Calibri"/>
                        </a:defRPr>
                      </a:pPr>
                      <a:r>
                        <a:t>18.0% [sector avg]</a:t>
                      </a:r>
                    </a:p>
                  </a:txBody>
                  <a:tcPr>
                    <a:solidFill>
                      <a:srgbClr val="FAFAFA"/>
                    </a:solidFill>
                  </a:tcPr>
                </a:tc>
              </a:tr>
              <a:tr h="594360">
                <a:tc>
                  <a:txBody>
                    <a:bodyPr/>
                    <a:lstStyle/>
                    <a:p>
                      <a:pPr>
                        <a:defRPr sz="1100">
                          <a:solidFill>
                            <a:srgbClr val="333333"/>
                          </a:solidFill>
                          <a:latin typeface="Calibri"/>
                        </a:defRPr>
                      </a:pPr>
                      <a:r>
                        <a:t>Net margin</a:t>
                      </a:r>
                    </a:p>
                  </a:txBody>
                  <a:tcPr>
                    <a:solidFill>
                      <a:srgbClr val="FFFFFF"/>
                    </a:solidFill>
                  </a:tcPr>
                </a:tc>
                <a:tc>
                  <a:txBody>
                    <a:bodyPr/>
                    <a:lstStyle/>
                    <a:p>
                      <a:pPr>
                        <a:defRPr sz="1100">
                          <a:solidFill>
                            <a:srgbClr val="333333"/>
                          </a:solidFill>
                          <a:latin typeface="Calibri"/>
                        </a:defRPr>
                      </a:pPr>
                      <a:r>
                        <a:t>0.0</a:t>
                      </a:r>
                    </a:p>
                  </a:txBody>
                  <a:tcPr>
                    <a:solidFill>
                      <a:srgbClr val="FFFFFF"/>
                    </a:solidFill>
                  </a:tcPr>
                </a:tc>
              </a:tr>
              <a:tr h="594360">
                <a:tc>
                  <a:txBody>
                    <a:bodyPr/>
                    <a:lstStyle/>
                    <a:p>
                      <a:pPr>
                        <a:defRPr sz="1100">
                          <a:solidFill>
                            <a:srgbClr val="333333"/>
                          </a:solidFill>
                          <a:latin typeface="Calibri"/>
                        </a:defRPr>
                      </a:pPr>
                      <a:r>
                        <a:t>Free cash flow</a:t>
                      </a:r>
                    </a:p>
                  </a:txBody>
                  <a:tcPr>
                    <a:solidFill>
                      <a:srgbClr val="FAFAFA"/>
                    </a:solidFill>
                  </a:tcPr>
                </a:tc>
                <a:tc>
                  <a:txBody>
                    <a:bodyPr/>
                    <a:lstStyle/>
                    <a:p>
                      <a:pPr>
                        <a:defRPr sz="1100">
                          <a:solidFill>
                            <a:srgbClr val="333333"/>
                          </a:solidFill>
                          <a:latin typeface="Calibri"/>
                        </a:defRPr>
                      </a:pPr>
                      <a:r>
                        <a:t>0.0</a:t>
                      </a:r>
                    </a:p>
                  </a:txBody>
                  <a:tcPr>
                    <a:solidFill>
                      <a:srgbClr val="FAFAFA"/>
                    </a:solidFill>
                  </a:tcPr>
                </a:tc>
              </a:tr>
              <a:tr h="594360">
                <a:tc>
                  <a:txBody>
                    <a:bodyPr/>
                    <a:lstStyle/>
                    <a:p>
                      <a:pPr>
                        <a:defRPr sz="1100">
                          <a:solidFill>
                            <a:srgbClr val="333333"/>
                          </a:solidFill>
                          <a:latin typeface="Calibri"/>
                        </a:defRPr>
                      </a:pPr>
                      <a:r>
                        <a:t>Debt/Equity</a:t>
                      </a:r>
                    </a:p>
                  </a:txBody>
                  <a:tcPr>
                    <a:solidFill>
                      <a:srgbClr val="FFFFFF"/>
                    </a:solidFill>
                  </a:tcPr>
                </a:tc>
                <a:tc>
                  <a:txBody>
                    <a:bodyPr/>
                    <a:lstStyle/>
                    <a:p>
                      <a:pPr>
                        <a:defRPr sz="1100">
                          <a:solidFill>
                            <a:srgbClr val="333333"/>
                          </a:solidFill>
                          <a:latin typeface="Calibri"/>
                        </a:defRPr>
                      </a:pPr>
                      <a:r>
                        <a:t>0</a:t>
                      </a:r>
                    </a:p>
                  </a:txBody>
                  <a:tcPr>
                    <a:solidFill>
                      <a:srgbClr val="FFFFFF"/>
                    </a:solidFill>
                  </a:tcPr>
                </a:tc>
              </a:tr>
            </a:tbl>
          </a:graphicData>
        </a:graphic>
      </p:graphicFrame>
      <p:sp>
        <p:nvSpPr>
          <p:cNvPr id="7" name="TextBox 6"/>
          <p:cNvSpPr txBox="1"/>
          <p:nvPr/>
        </p:nvSpPr>
        <p:spPr>
          <a:xfrm>
            <a:off x="6492240" y="1280160"/>
            <a:ext cx="4983480" cy="457200"/>
          </a:xfrm>
          <a:prstGeom prst="rect">
            <a:avLst/>
          </a:prstGeom>
          <a:noFill/>
        </p:spPr>
        <p:txBody>
          <a:bodyPr wrap="none">
            <a:spAutoFit/>
          </a:bodyPr>
          <a:lstStyle/>
          <a:p>
            <a:r>
              <a:rPr b="1" sz="2000">
                <a:solidFill>
                  <a:srgbClr val="333333"/>
                </a:solidFill>
                <a:latin typeface="Calibri"/>
              </a:rPr>
              <a:t>Outlook (Projections)</a:t>
            </a:r>
          </a:p>
        </p:txBody>
      </p:sp>
      <p:graphicFrame>
        <p:nvGraphicFramePr>
          <p:cNvPr id="8" name="Table 7"/>
          <p:cNvGraphicFramePr>
            <a:graphicFrameLocks noGrp="1"/>
          </p:cNvGraphicFramePr>
          <p:nvPr/>
        </p:nvGraphicFramePr>
        <p:xfrm>
          <a:off x="6492240" y="1737360"/>
          <a:ext cx="4983480" cy="4754880"/>
        </p:xfrm>
        <a:graphic>
          <a:graphicData uri="http://schemas.openxmlformats.org/drawingml/2006/table">
            <a:tbl>
              <a:tblPr firstRow="1" bandRow="1">
                <a:tableStyleId>{5C22544A-7EE6-4342-B048-85BDC9FD1C3A}</a:tableStyleId>
              </a:tblPr>
              <a:tblGrid>
                <a:gridCol w="1245870"/>
                <a:gridCol w="1245870"/>
                <a:gridCol w="1245870"/>
                <a:gridCol w="1245870"/>
              </a:tblGrid>
              <a:tr h="2377440">
                <a:tc>
                  <a:txBody>
                    <a:bodyPr/>
                    <a:lstStyle/>
                    <a:p>
                      <a:pPr>
                        <a:defRPr b="1" sz="1200">
                          <a:solidFill>
                            <a:srgbClr val="FFFFFF"/>
                          </a:solidFill>
                          <a:latin typeface="Calibri"/>
                        </a:defRPr>
                      </a:pPr>
                      <a:r>
                        <a:t>Year</a:t>
                      </a:r>
                    </a:p>
                  </a:txBody>
                  <a:tcPr>
                    <a:solidFill>
                      <a:srgbClr val="1B2A4A"/>
                    </a:solidFill>
                  </a:tcPr>
                </a:tc>
                <a:tc>
                  <a:txBody>
                    <a:bodyPr/>
                    <a:lstStyle/>
                    <a:p>
                      <a:pPr>
                        <a:defRPr b="1" sz="1200">
                          <a:solidFill>
                            <a:srgbClr val="FFFFFF"/>
                          </a:solidFill>
                          <a:latin typeface="Calibri"/>
                        </a:defRPr>
                      </a:pPr>
                      <a:r>
                        <a:t>Revenue</a:t>
                      </a:r>
                    </a:p>
                  </a:txBody>
                  <a:tcPr>
                    <a:solidFill>
                      <a:srgbClr val="1B2A4A"/>
                    </a:solidFill>
                  </a:tcPr>
                </a:tc>
                <a:tc>
                  <a:txBody>
                    <a:bodyPr/>
                    <a:lstStyle/>
                    <a:p>
                      <a:pPr>
                        <a:defRPr b="1" sz="1200">
                          <a:solidFill>
                            <a:srgbClr val="FFFFFF"/>
                          </a:solidFill>
                          <a:latin typeface="Calibri"/>
                        </a:defRPr>
                      </a:pPr>
                      <a:r>
                        <a:t>Growth</a:t>
                      </a:r>
                    </a:p>
                  </a:txBody>
                  <a:tcPr>
                    <a:solidFill>
                      <a:srgbClr val="1B2A4A"/>
                    </a:solidFill>
                  </a:tcPr>
                </a:tc>
                <a:tc>
                  <a:txBody>
                    <a:bodyPr/>
                    <a:lstStyle/>
                    <a:p>
                      <a:pPr>
                        <a:defRPr b="1" sz="1200">
                          <a:solidFill>
                            <a:srgbClr val="FFFFFF"/>
                          </a:solidFill>
                          <a:latin typeface="Calibri"/>
                        </a:defRPr>
                      </a:pPr>
                      <a:r>
                        <a:t>EBITDA %</a:t>
                      </a:r>
                    </a:p>
                  </a:txBody>
                  <a:tcPr>
                    <a:solidFill>
                      <a:srgbClr val="1B2A4A"/>
                    </a:solidFill>
                  </a:tcPr>
                </a:tc>
              </a:tr>
              <a:tr h="2377440">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No projections provided.</a:t>
                      </a:r>
                    </a:p>
                  </a:txBody>
                  <a:tcPr>
                    <a:solidFill>
                      <a:srgbClr val="FFFFFF"/>
                    </a:solidFill>
                  </a:tcPr>
                </a:tc>
                <a:tc>
                  <a:txBody>
                    <a:bodyPr/>
                    <a:lstStyle/>
                    <a:p>
                      <a:pPr>
                        <a:defRPr sz="1100">
                          <a:solidFill>
                            <a:srgbClr val="333333"/>
                          </a:solidFill>
                          <a:latin typeface="Calibri"/>
                        </a:defRPr>
                      </a:pPr>
                    </a:p>
                  </a:txBody>
                  <a:tcPr>
                    <a:solidFill>
                      <a:srgbClr val="FFFFFF"/>
                    </a:solidFill>
                  </a:tcPr>
                </a:tc>
                <a:tc>
                  <a:txBody>
                    <a:bodyPr/>
                    <a:lstStyle/>
                    <a:p>
                      <a:pPr>
                        <a:defRPr sz="1100">
                          <a:solidFill>
                            <a:srgbClr val="333333"/>
                          </a:solidFill>
                          <a:latin typeface="Calibri"/>
                        </a:defRPr>
                      </a:pP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Valuation Summary</a:t>
            </a:r>
          </a:p>
        </p:txBody>
      </p:sp>
      <p:sp>
        <p:nvSpPr>
          <p:cNvPr id="5" name="TextBox 4"/>
          <p:cNvSpPr txBox="1"/>
          <p:nvPr/>
        </p:nvSpPr>
        <p:spPr>
          <a:xfrm>
            <a:off x="685800" y="1280160"/>
            <a:ext cx="5394960" cy="5212080"/>
          </a:xfrm>
          <a:prstGeom prst="rect">
            <a:avLst/>
          </a:prstGeom>
          <a:noFill/>
        </p:spPr>
        <p:txBody>
          <a:bodyPr wrap="none">
            <a:spAutoFit/>
          </a:bodyPr>
          <a:lstStyle/>
          <a:p>
            <a:r>
              <a:rPr b="1" sz="2000">
                <a:solidFill>
                  <a:srgbClr val="333333"/>
                </a:solidFill>
                <a:latin typeface="Calibri"/>
              </a:rPr>
              <a:t>Conclusion</a:t>
            </a:r>
          </a:p>
          <a:p>
            <a:pPr>
              <a:spcBef>
                <a:spcPts val="200"/>
              </a:spcBef>
              <a:spcAft>
                <a:spcPts val="200"/>
              </a:spcAft>
              <a:defRPr sz="1400">
                <a:solidFill>
                  <a:srgbClr val="333333"/>
                </a:solidFill>
                <a:latin typeface="Calibri"/>
              </a:defRPr>
            </a:pPr>
            <a:r>
              <a:t>Implied EV: N/A</a:t>
            </a:r>
          </a:p>
          <a:p>
            <a:pPr>
              <a:spcBef>
                <a:spcPts val="200"/>
              </a:spcBef>
              <a:spcAft>
                <a:spcPts val="200"/>
              </a:spcAft>
              <a:defRPr sz="1400">
                <a:solidFill>
                  <a:srgbClr val="333333"/>
                </a:solidFill>
                <a:latin typeface="Calibri"/>
              </a:defRPr>
            </a:pPr>
            <a:r>
              <a:t>Upside/Downside: N/A [no market price]</a:t>
            </a:r>
          </a:p>
          <a:p>
            <a:pPr>
              <a:spcBef>
                <a:spcPts val="200"/>
              </a:spcBef>
              <a:spcAft>
                <a:spcPts val="200"/>
              </a:spcAft>
              <a:defRPr sz="1400">
                <a:solidFill>
                  <a:srgbClr val="333333"/>
                </a:solidFill>
                <a:latin typeface="Calibri"/>
              </a:defRPr>
            </a:pPr>
            <a:r>
              <a:t>Recommendation: HOLD</a:t>
            </a:r>
          </a:p>
          <a:p>
            <a:pPr>
              <a:spcBef>
                <a:spcPts val="200"/>
              </a:spcBef>
              <a:spcAft>
                <a:spcPts val="200"/>
              </a:spcAft>
              <a:defRPr sz="1400">
                <a:solidFill>
                  <a:srgbClr val="333333"/>
                </a:solidFill>
                <a:latin typeface="Calibri"/>
              </a:defRPr>
            </a:pPr>
            <a:r>
              <a:t>Current price: N/A</a:t>
            </a:r>
          </a:p>
          <a:p>
            <a:pPr>
              <a:spcBef>
                <a:spcPts val="200"/>
              </a:spcBef>
              <a:spcAft>
                <a:spcPts val="200"/>
              </a:spcAft>
              <a:defRPr sz="1400">
                <a:solidFill>
                  <a:srgbClr val="333333"/>
                </a:solidFill>
                <a:latin typeface="Calibri"/>
              </a:defRPr>
            </a:pPr>
            <a:r>
              <a:t>DCF: WACC 10.00%, TGR 2.50%</a:t>
            </a:r>
          </a:p>
        </p:txBody>
      </p:sp>
      <p:sp>
        <p:nvSpPr>
          <p:cNvPr id="6" name="TextBox 5"/>
          <p:cNvSpPr txBox="1"/>
          <p:nvPr/>
        </p:nvSpPr>
        <p:spPr>
          <a:xfrm>
            <a:off x="6309360" y="1280160"/>
            <a:ext cx="5166360" cy="457200"/>
          </a:xfrm>
          <a:prstGeom prst="rect">
            <a:avLst/>
          </a:prstGeom>
          <a:noFill/>
        </p:spPr>
        <p:txBody>
          <a:bodyPr wrap="none">
            <a:spAutoFit/>
          </a:bodyPr>
          <a:lstStyle/>
          <a:p>
            <a:r>
              <a:rPr b="1" sz="2000">
                <a:solidFill>
                  <a:srgbClr val="333333"/>
                </a:solidFill>
                <a:latin typeface="Calibri"/>
              </a:rPr>
              <a:t>Methods</a:t>
            </a:r>
          </a:p>
        </p:txBody>
      </p:sp>
      <p:graphicFrame>
        <p:nvGraphicFramePr>
          <p:cNvPr id="7" name="Table 6"/>
          <p:cNvGraphicFramePr>
            <a:graphicFrameLocks noGrp="1"/>
          </p:cNvGraphicFramePr>
          <p:nvPr/>
        </p:nvGraphicFramePr>
        <p:xfrm>
          <a:off x="6309360" y="1737360"/>
          <a:ext cx="5166360" cy="4754880"/>
        </p:xfrm>
        <a:graphic>
          <a:graphicData uri="http://schemas.openxmlformats.org/drawingml/2006/table">
            <a:tbl>
              <a:tblPr firstRow="1" bandRow="1">
                <a:tableStyleId>{5C22544A-7EE6-4342-B048-85BDC9FD1C3A}</a:tableStyleId>
              </a:tblPr>
              <a:tblGrid>
                <a:gridCol w="1033272"/>
                <a:gridCol w="1033272"/>
                <a:gridCol w="1033272"/>
                <a:gridCol w="1033272"/>
                <a:gridCol w="1033272"/>
              </a:tblGrid>
              <a:tr h="2377440">
                <a:tc>
                  <a:txBody>
                    <a:bodyPr/>
                    <a:lstStyle/>
                    <a:p>
                      <a:pPr>
                        <a:defRPr b="1" sz="1200">
                          <a:solidFill>
                            <a:srgbClr val="FFFFFF"/>
                          </a:solidFill>
                          <a:latin typeface="Calibri"/>
                        </a:defRPr>
                      </a:pPr>
                      <a:r>
                        <a:t>Method</a:t>
                      </a:r>
                    </a:p>
                  </a:txBody>
                  <a:tcPr>
                    <a:solidFill>
                      <a:srgbClr val="1B2A4A"/>
                    </a:solidFill>
                  </a:tcPr>
                </a:tc>
                <a:tc>
                  <a:txBody>
                    <a:bodyPr/>
                    <a:lstStyle/>
                    <a:p>
                      <a:pPr>
                        <a:defRPr b="1" sz="1200">
                          <a:solidFill>
                            <a:srgbClr val="FFFFFF"/>
                          </a:solidFill>
                          <a:latin typeface="Calibri"/>
                        </a:defRPr>
                      </a:pPr>
                      <a:r>
                        <a:t>Low</a:t>
                      </a:r>
                    </a:p>
                  </a:txBody>
                  <a:tcPr>
                    <a:solidFill>
                      <a:srgbClr val="1B2A4A"/>
                    </a:solidFill>
                  </a:tcPr>
                </a:tc>
                <a:tc>
                  <a:txBody>
                    <a:bodyPr/>
                    <a:lstStyle/>
                    <a:p>
                      <a:pPr>
                        <a:defRPr b="1" sz="1200">
                          <a:solidFill>
                            <a:srgbClr val="FFFFFF"/>
                          </a:solidFill>
                          <a:latin typeface="Calibri"/>
                        </a:defRPr>
                      </a:pPr>
                      <a:r>
                        <a:t>Mid</a:t>
                      </a:r>
                    </a:p>
                  </a:txBody>
                  <a:tcPr>
                    <a:solidFill>
                      <a:srgbClr val="1B2A4A"/>
                    </a:solidFill>
                  </a:tcPr>
                </a:tc>
                <a:tc>
                  <a:txBody>
                    <a:bodyPr/>
                    <a:lstStyle/>
                    <a:p>
                      <a:pPr>
                        <a:defRPr b="1" sz="1200">
                          <a:solidFill>
                            <a:srgbClr val="FFFFFF"/>
                          </a:solidFill>
                          <a:latin typeface="Calibri"/>
                        </a:defRPr>
                      </a:pPr>
                      <a:r>
                        <a:t>High</a:t>
                      </a:r>
                    </a:p>
                  </a:txBody>
                  <a:tcPr>
                    <a:solidFill>
                      <a:srgbClr val="1B2A4A"/>
                    </a:solidFill>
                  </a:tcPr>
                </a:tc>
                <a:tc>
                  <a:txBody>
                    <a:bodyPr/>
                    <a:lstStyle/>
                    <a:p>
                      <a:pPr>
                        <a:defRPr b="1" sz="1200">
                          <a:solidFill>
                            <a:srgbClr val="FFFFFF"/>
                          </a:solidFill>
                          <a:latin typeface="Calibri"/>
                        </a:defRPr>
                      </a:pPr>
                      <a:r>
                        <a:t>Weight</a:t>
                      </a:r>
                    </a:p>
                  </a:txBody>
                  <a:tcPr>
                    <a:solidFill>
                      <a:srgbClr val="1B2A4A"/>
                    </a:solidFill>
                  </a:tcPr>
                </a:tc>
              </a:tr>
              <a:tr h="2377440">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c>
                  <a:txBody>
                    <a:bodyPr/>
                    <a:lstStyle/>
                    <a:p>
                      <a:pPr>
                        <a:defRPr sz="1100">
                          <a:solidFill>
                            <a:srgbClr val="333333"/>
                          </a:solidFill>
                          <a:latin typeface="Calibri"/>
                        </a:defRPr>
                      </a:pPr>
                      <a:r>
                        <a:t>—</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IC Score — WATCH</a:t>
            </a:r>
          </a:p>
        </p:txBody>
      </p:sp>
      <p:sp>
        <p:nvSpPr>
          <p:cNvPr id="5" name="TextBox 4"/>
          <p:cNvSpPr txBox="1"/>
          <p:nvPr/>
        </p:nvSpPr>
        <p:spPr>
          <a:xfrm>
            <a:off x="685800" y="566928"/>
            <a:ext cx="10972800" cy="320040"/>
          </a:xfrm>
          <a:prstGeom prst="rect">
            <a:avLst/>
          </a:prstGeom>
          <a:noFill/>
        </p:spPr>
        <p:txBody>
          <a:bodyPr wrap="none">
            <a:spAutoFit/>
          </a:bodyPr>
          <a:lstStyle/>
          <a:p>
            <a:pPr algn="l"/>
            <a:r>
              <a:rPr b="0" sz="1200">
                <a:solidFill>
                  <a:srgbClr val="666666"/>
                </a:solidFill>
                <a:latin typeface="Calibri"/>
              </a:rPr>
              <a:t>Investment Committee Scorecard</a:t>
            </a:r>
          </a:p>
        </p:txBody>
      </p:sp>
      <p:sp>
        <p:nvSpPr>
          <p:cNvPr id="6" name="TextBox 5"/>
          <p:cNvSpPr txBox="1"/>
          <p:nvPr/>
        </p:nvSpPr>
        <p:spPr>
          <a:xfrm>
            <a:off x="457200" y="1097280"/>
            <a:ext cx="5394960" cy="457200"/>
          </a:xfrm>
          <a:prstGeom prst="rect">
            <a:avLst/>
          </a:prstGeom>
          <a:noFill/>
        </p:spPr>
        <p:txBody>
          <a:bodyPr wrap="none">
            <a:spAutoFit/>
          </a:bodyPr>
          <a:lstStyle/>
          <a:p>
            <a:r>
              <a:rPr b="1" sz="2000">
                <a:solidFill>
                  <a:srgbClr val="333333"/>
                </a:solidFill>
                <a:latin typeface="Calibri"/>
              </a:rPr>
              <a:t>Dimension Scores</a:t>
            </a:r>
          </a:p>
        </p:txBody>
      </p:sp>
      <p:graphicFrame>
        <p:nvGraphicFramePr>
          <p:cNvPr id="7" name="Table 6"/>
          <p:cNvGraphicFramePr>
            <a:graphicFrameLocks noGrp="1"/>
          </p:cNvGraphicFramePr>
          <p:nvPr/>
        </p:nvGraphicFramePr>
        <p:xfrm>
          <a:off x="457200" y="1554480"/>
          <a:ext cx="5394960" cy="3017520"/>
        </p:xfrm>
        <a:graphic>
          <a:graphicData uri="http://schemas.openxmlformats.org/drawingml/2006/table">
            <a:tbl>
              <a:tblPr firstRow="1" bandRow="1">
                <a:tableStyleId>{5C22544A-7EE6-4342-B048-85BDC9FD1C3A}</a:tableStyleId>
              </a:tblPr>
              <a:tblGrid>
                <a:gridCol w="2697480"/>
                <a:gridCol w="2697480"/>
              </a:tblGrid>
              <a:tr h="377190">
                <a:tc>
                  <a:txBody>
                    <a:bodyPr/>
                    <a:lstStyle/>
                    <a:p>
                      <a:pPr>
                        <a:defRPr b="1" sz="1200">
                          <a:solidFill>
                            <a:srgbClr val="FFFFFF"/>
                          </a:solidFill>
                          <a:latin typeface="Calibri"/>
                        </a:defRPr>
                      </a:pPr>
                      <a:r>
                        <a:t>Dimension</a:t>
                      </a:r>
                    </a:p>
                  </a:txBody>
                  <a:tcPr>
                    <a:solidFill>
                      <a:srgbClr val="1B2A4A"/>
                    </a:solidFill>
                  </a:tcPr>
                </a:tc>
                <a:tc>
                  <a:txBody>
                    <a:bodyPr/>
                    <a:lstStyle/>
                    <a:p>
                      <a:pPr>
                        <a:defRPr b="1" sz="1200">
                          <a:solidFill>
                            <a:srgbClr val="FFFFFF"/>
                          </a:solidFill>
                          <a:latin typeface="Calibri"/>
                        </a:defRPr>
                      </a:pPr>
                      <a:r>
                        <a:t>Score</a:t>
                      </a:r>
                    </a:p>
                  </a:txBody>
                  <a:tcPr>
                    <a:solidFill>
                      <a:srgbClr val="1B2A4A"/>
                    </a:solidFill>
                  </a:tcPr>
                </a:tc>
              </a:tr>
              <a:tr h="377190">
                <a:tc>
                  <a:txBody>
                    <a:bodyPr/>
                    <a:lstStyle/>
                    <a:p>
                      <a:pPr>
                        <a:defRPr sz="1100">
                          <a:solidFill>
                            <a:srgbClr val="333333"/>
                          </a:solidFill>
                          <a:latin typeface="Calibri"/>
                        </a:defRPr>
                      </a:pPr>
                      <a:r>
                        <a:t>Strategy</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377190">
                <a:tc>
                  <a:txBody>
                    <a:bodyPr/>
                    <a:lstStyle/>
                    <a:p>
                      <a:pPr>
                        <a:defRPr sz="1100">
                          <a:solidFill>
                            <a:srgbClr val="333333"/>
                          </a:solidFill>
                          <a:latin typeface="Calibri"/>
                        </a:defRPr>
                      </a:pPr>
                      <a:r>
                        <a:t>Synergies</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377190">
                <a:tc>
                  <a:txBody>
                    <a:bodyPr/>
                    <a:lstStyle/>
                    <a:p>
                      <a:pPr>
                        <a:defRPr sz="1100">
                          <a:solidFill>
                            <a:srgbClr val="333333"/>
                          </a:solidFill>
                          <a:latin typeface="Calibri"/>
                        </a:defRPr>
                      </a:pPr>
                      <a:r>
                        <a:t>Financial</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377190">
                <a:tc>
                  <a:txBody>
                    <a:bodyPr/>
                    <a:lstStyle/>
                    <a:p>
                      <a:pPr>
                        <a:defRPr sz="1100">
                          <a:solidFill>
                            <a:srgbClr val="333333"/>
                          </a:solidFill>
                          <a:latin typeface="Calibri"/>
                        </a:defRPr>
                      </a:pPr>
                      <a:r>
                        <a:t>LBO</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377190">
                <a:tc>
                  <a:txBody>
                    <a:bodyPr/>
                    <a:lstStyle/>
                    <a:p>
                      <a:pPr>
                        <a:defRPr sz="1100">
                          <a:solidFill>
                            <a:srgbClr val="333333"/>
                          </a:solidFill>
                          <a:latin typeface="Calibri"/>
                        </a:defRPr>
                      </a:pPr>
                      <a:r>
                        <a:t>Integration</a:t>
                      </a:r>
                    </a:p>
                  </a:txBody>
                  <a:tcPr>
                    <a:solidFill>
                      <a:srgbClr val="FFFFFF"/>
                    </a:solidFill>
                  </a:tcPr>
                </a:tc>
                <a:tc>
                  <a:txBody>
                    <a:bodyPr/>
                    <a:lstStyle/>
                    <a:p>
                      <a:pPr>
                        <a:defRPr sz="1100">
                          <a:solidFill>
                            <a:srgbClr val="333333"/>
                          </a:solidFill>
                          <a:latin typeface="Calibri"/>
                        </a:defRPr>
                      </a:pPr>
                      <a:r>
                        <a:t>5.0/10</a:t>
                      </a:r>
                    </a:p>
                  </a:txBody>
                  <a:tcPr>
                    <a:solidFill>
                      <a:srgbClr val="FFFFFF"/>
                    </a:solidFill>
                  </a:tcPr>
                </a:tc>
              </a:tr>
              <a:tr h="377190">
                <a:tc>
                  <a:txBody>
                    <a:bodyPr/>
                    <a:lstStyle/>
                    <a:p>
                      <a:pPr>
                        <a:defRPr sz="1100">
                          <a:solidFill>
                            <a:srgbClr val="333333"/>
                          </a:solidFill>
                          <a:latin typeface="Calibri"/>
                        </a:defRPr>
                      </a:pPr>
                      <a:r>
                        <a:t>Risk</a:t>
                      </a:r>
                    </a:p>
                  </a:txBody>
                  <a:tcPr>
                    <a:solidFill>
                      <a:srgbClr val="FAFAFA"/>
                    </a:solidFill>
                  </a:tcPr>
                </a:tc>
                <a:tc>
                  <a:txBody>
                    <a:bodyPr/>
                    <a:lstStyle/>
                    <a:p>
                      <a:pPr>
                        <a:defRPr sz="1100">
                          <a:solidFill>
                            <a:srgbClr val="333333"/>
                          </a:solidFill>
                          <a:latin typeface="Calibri"/>
                        </a:defRPr>
                      </a:pPr>
                      <a:r>
                        <a:t>5.0/10</a:t>
                      </a:r>
                    </a:p>
                  </a:txBody>
                  <a:tcPr>
                    <a:solidFill>
                      <a:srgbClr val="FAFAFA"/>
                    </a:solidFill>
                  </a:tcPr>
                </a:tc>
              </a:tr>
              <a:tr h="377190">
                <a:tc>
                  <a:txBody>
                    <a:bodyPr/>
                    <a:lstStyle/>
                    <a:p>
                      <a:pPr>
                        <a:defRPr sz="1100">
                          <a:solidFill>
                            <a:srgbClr val="333333"/>
                          </a:solidFill>
                          <a:latin typeface="Calibri"/>
                        </a:defRPr>
                      </a:pPr>
                      <a:r>
                        <a:t>TOTAL</a:t>
                      </a:r>
                    </a:p>
                  </a:txBody>
                  <a:tcPr>
                    <a:solidFill>
                      <a:srgbClr val="FFFFFF"/>
                    </a:solidFill>
                  </a:tcPr>
                </a:tc>
                <a:tc>
                  <a:txBody>
                    <a:bodyPr/>
                    <a:lstStyle/>
                    <a:p>
                      <a:pPr>
                        <a:defRPr sz="1100">
                          <a:solidFill>
                            <a:srgbClr val="333333"/>
                          </a:solidFill>
                          <a:latin typeface="Calibri"/>
                        </a:defRPr>
                      </a:pPr>
                      <a:r>
                        <a:t>50/100</a:t>
                      </a:r>
                    </a:p>
                  </a:txBody>
                  <a:tcPr>
                    <a:solidFill>
                      <a:srgbClr val="FFFFFF"/>
                    </a:solidFill>
                  </a:tcPr>
                </a:tc>
              </a:tr>
            </a:tbl>
          </a:graphicData>
        </a:graphic>
      </p:graphicFrame>
      <p:sp>
        <p:nvSpPr>
          <p:cNvPr id="8" name="TextBox 7"/>
          <p:cNvSpPr txBox="1"/>
          <p:nvPr/>
        </p:nvSpPr>
        <p:spPr>
          <a:xfrm>
            <a:off x="457200" y="4754880"/>
            <a:ext cx="5394960" cy="1828800"/>
          </a:xfrm>
          <a:prstGeom prst="rect">
            <a:avLst/>
          </a:prstGeom>
          <a:noFill/>
        </p:spPr>
        <p:txBody>
          <a:bodyPr wrap="none">
            <a:spAutoFit/>
          </a:bodyPr>
          <a:lstStyle/>
          <a:p>
            <a:r>
              <a:rPr b="1" sz="2000">
                <a:solidFill>
                  <a:srgbClr val="333333"/>
                </a:solidFill>
                <a:latin typeface="Calibri"/>
              </a:rPr>
              <a:t>Rationale &amp; Next Steps</a:t>
            </a:r>
          </a:p>
          <a:p>
            <a:pPr>
              <a:spcBef>
                <a:spcPts val="200"/>
              </a:spcBef>
              <a:spcAft>
                <a:spcPts val="200"/>
              </a:spcAft>
              <a:defRPr sz="1400">
                <a:solidFill>
                  <a:srgbClr val="333333"/>
                </a:solidFill>
                <a:latin typeface="Calibri"/>
              </a:defRPr>
            </a:pPr>
            <a:r>
              <a:t>Doctolib IC score 50/100. Strengths: strategy (5/10), synergies (5/10). Risks: strategy (5/10), synergies (5/10).</a:t>
            </a:r>
          </a:p>
          <a:p>
            <a:pPr>
              <a:spcBef>
                <a:spcPts val="200"/>
              </a:spcBef>
              <a:spcAft>
                <a:spcPts val="200"/>
              </a:spcAft>
              <a:defRPr sz="1400">
                <a:solidFill>
                  <a:srgbClr val="333333"/>
                </a:solidFill>
                <a:latin typeface="Calibri"/>
              </a:defRPr>
            </a:pPr>
            <a:r>
              <a:t>Monitor company performance (quarterly check-in)</a:t>
            </a:r>
          </a:p>
          <a:p>
            <a:pPr>
              <a:spcBef>
                <a:spcPts val="200"/>
              </a:spcBef>
              <a:spcAft>
                <a:spcPts val="200"/>
              </a:spcAft>
              <a:defRPr sz="1400">
                <a:solidFill>
                  <a:srgbClr val="333333"/>
                </a:solidFill>
                <a:latin typeface="Calibri"/>
              </a:defRPr>
            </a:pPr>
            <a:r>
              <a:t>Track valuation entry point</a:t>
            </a:r>
          </a:p>
          <a:p>
            <a:pPr>
              <a:spcBef>
                <a:spcPts val="200"/>
              </a:spcBef>
              <a:spcAft>
                <a:spcPts val="200"/>
              </a:spcAft>
              <a:defRPr sz="1400">
                <a:solidFill>
                  <a:srgbClr val="333333"/>
                </a:solidFill>
                <a:latin typeface="Calibri"/>
              </a:defRPr>
            </a:pPr>
            <a:r>
              <a:t>Refine synergy case with additional data</a:t>
            </a:r>
          </a:p>
        </p:txBody>
      </p:sp>
      <p:graphicFrame>
        <p:nvGraphicFramePr>
          <p:cNvPr id="9" name="Chart 8"/>
          <p:cNvGraphicFramePr>
            <a:graphicFrameLocks noGrp="1"/>
          </p:cNvGraphicFramePr>
          <p:nvPr/>
        </p:nvGraphicFramePr>
        <p:xfrm>
          <a:off x="6217920" y="1097280"/>
          <a:ext cx="5760720" cy="530352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Investment Thesis</a:t>
            </a:r>
          </a:p>
        </p:txBody>
      </p:sp>
      <p:sp>
        <p:nvSpPr>
          <p:cNvPr id="5" name="TextBox 4"/>
          <p:cNvSpPr txBox="1"/>
          <p:nvPr/>
        </p:nvSpPr>
        <p:spPr>
          <a:xfrm>
            <a:off x="685800" y="1645920"/>
            <a:ext cx="11155680" cy="5029200"/>
          </a:xfrm>
          <a:prstGeom prst="rect">
            <a:avLst/>
          </a:prstGeom>
          <a:noFill/>
        </p:spPr>
        <p:txBody>
          <a:bodyPr wrap="none">
            <a:spAutoFit/>
          </a:bodyPr>
          <a:lstStyle/>
          <a:p>
            <a:r>
              <a:rPr b="1" sz="2000">
                <a:solidFill>
                  <a:srgbClr val="333333"/>
                </a:solidFill>
                <a:latin typeface="Calibri"/>
              </a:rPr>
              <a:t>Thesis</a:t>
            </a:r>
          </a:p>
          <a:p>
            <a:pPr>
              <a:spcBef>
                <a:spcPts val="200"/>
              </a:spcBef>
              <a:spcAft>
                <a:spcPts val="200"/>
              </a:spcAft>
              <a:defRPr sz="1400">
                <a:solidFill>
                  <a:srgbClr val="333333"/>
                </a:solidFill>
                <a:latin typeface="Calibri"/>
              </a:defRPr>
            </a:pPr>
            <a:r>
              <a:t>Doctolib, Europe’s leading digital health platform, is positioned to capitalize on the structural shift toward digitization in healthcare, underpinned by its dominant market share, network effects, and recurring revenue model. With over 300,000 healthcare professionals and 75 million patients across France, Germany, and Italy, Doctolib has established a formidable competitive moat through its seamless appointment scheduling, teleconsultation, and practice management software. The company’s revenue grew at a 30% CAGR from 2020 to 2023, reaching €500 million, with EBITDA margins expanding to ~20% as scale drives operational leverage. Doctolib’s SaaS-based model ensures high retention rates (95%+), while its expansion into adjacent services—such as electronic health records (EHR) and AI-driven diagnostics—positions it for further monetization. Valuation support stems from its premium to peers (e.g., Zocdoc, KRY) on EV/revenue multiples (10-12x vs. 5-8x for smaller players), justified by its leadership in a fragmented market and regulatory tailwinds, such as France’s €2 billion digital health investment plan and Germany’s Digital Care Act. The company’s path to profitability is clear, with a target of €100 million EBITDA by 2025, driven by pricing power and cross-selling opportunities.</a:t>
            </a:r>
          </a:p>
          <a:p>
            <a:pPr>
              <a:spcBef>
                <a:spcPts val="200"/>
              </a:spcBef>
              <a:spcAft>
                <a:spcPts val="200"/>
              </a:spcAft>
              <a:defRPr sz="1400">
                <a:solidFill>
                  <a:srgbClr val="333333"/>
                </a:solidFill>
                <a:latin typeface="Calibri"/>
              </a:defRPr>
            </a:pPr>
            <a:r>
              <a:t>Bull: In the bull scenario, Doctolib accelerates growth through three key drivers: (1) **Regulatory tailwinds**—expansion of public funding for telemedicine and EHR adoption in France and Germany, potentially adding €150-200 million in annual revenue by 2026; (2) **AI and automation**—integration of AI-driven triage and diagnostic tools, increasing average revenue per user (ARPU) by 20-30% and reducing churn; and (3) **M&amp;A and geographic expansion**—acquisitions in Spain or the Nordics, coupled with organic growth in Italy, could double its addressable market to 200 million patients. This scenario implies a 35-40% revenue CAGR through 2026, with EBITDA margins reaching 25-30%, justifying a 15-18x EV/revenue multiple and a €15-20 billion valuation.</a:t>
            </a:r>
          </a:p>
          <a:p>
            <a:pPr>
              <a:spcBef>
                <a:spcPts val="200"/>
              </a:spcBef>
              <a:spcAft>
                <a:spcPts val="200"/>
              </a:spcAft>
              <a:defRPr sz="1400">
                <a:solidFill>
                  <a:srgbClr val="333333"/>
                </a:solidFill>
                <a:latin typeface="Calibri"/>
              </a:defRPr>
            </a:pPr>
            <a:r>
              <a:t>Base: The base case assumes Doctolib maintains its current trajectory, with revenue growing at a 25% CAGR to €1 billion by 2026, supported by steady adoption of its core scheduling and teleconsultation services. Key assumptions include: (1) **Stable market share**—retaining 60-70% of the French market and expanding in Germany/Italy at a 15-20% annual clip; (2) **Moderate pricing power**—ARPU growth of 5-7% annually as premium features (e.g., EHR, analytics) gain traction; and (3) **Margin expansion**—EBITDA margins improving to 22-24% by 2026 as fixed costs are spread over a larger revenue base. Valuation in this scenario aligns with current multiples (10-12x EV/revenue), implying a €8-10 billion enterprise value, with upside from potential IPO or strategic acquisition by a global player like Microsoft or Amazon.</a:t>
            </a:r>
          </a:p>
          <a:p>
            <a:pPr>
              <a:spcBef>
                <a:spcPts val="200"/>
              </a:spcBef>
              <a:spcAft>
                <a:spcPts val="200"/>
              </a:spcAft>
              <a:defRPr sz="1400">
                <a:solidFill>
                  <a:srgbClr val="333333"/>
                </a:solidFill>
                <a:latin typeface="Calibri"/>
              </a:defRPr>
            </a:pPr>
            <a:r>
              <a:t>Bear: The bear case envisions a deceleration in growth due to (1) **Regulatory headwinds**—delays or reversals in public funding for digital health, particularly in Germany, where reimbursement policies remain volatile; (2) **Competitive pressures**—aggressive pricing or feature parity from rivals like KRY, Zava, or local players, eroding Doctolib’s market share in key regions; and (3) **Execution risks**—failed integration of new services (e.g., EHR) or operational missteps, leading to higher churn and lower ARPU. In this scenario, revenue growth slows to 15-20% CAGR, with EBITDA margins stagnating at 15-18% due to increased sales and R&amp;D spend. Valuation could compress to 6-8x EV/revenue, implying a €4-6 billion enterprise value, with downside risk from a potential write-down of its 2021 funding round (€5.8 billion post-money valuation).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972800" cy="548640"/>
          </a:xfrm>
          <a:prstGeom prst="rect">
            <a:avLst/>
          </a:prstGeom>
          <a:noFill/>
        </p:spPr>
        <p:txBody>
          <a:bodyPr wrap="none">
            <a:spAutoFit/>
          </a:bodyPr>
          <a:lstStyle/>
          <a:p>
            <a:pPr algn="l"/>
            <a:r>
              <a:rPr b="1" sz="2200">
                <a:solidFill>
                  <a:srgbClr val="FFFFFF"/>
                </a:solidFill>
                <a:latin typeface="Calibri"/>
              </a:rPr>
              <a:t>Catalysts &amp; Risks</a:t>
            </a:r>
          </a:p>
        </p:txBody>
      </p:sp>
      <p:sp>
        <p:nvSpPr>
          <p:cNvPr id="5" name="TextBox 4"/>
          <p:cNvSpPr txBox="1"/>
          <p:nvPr/>
        </p:nvSpPr>
        <p:spPr>
          <a:xfrm>
            <a:off x="685800" y="1645920"/>
            <a:ext cx="5486400" cy="4754880"/>
          </a:xfrm>
          <a:prstGeom prst="rect">
            <a:avLst/>
          </a:prstGeom>
          <a:noFill/>
        </p:spPr>
        <p:txBody>
          <a:bodyPr wrap="none">
            <a:spAutoFit/>
          </a:bodyPr>
          <a:lstStyle/>
          <a:p>
            <a:r>
              <a:rPr b="1" sz="2000">
                <a:solidFill>
                  <a:srgbClr val="333333"/>
                </a:solidFill>
                <a:latin typeface="Calibri"/>
              </a:rPr>
              <a:t>Catalysts</a:t>
            </a:r>
          </a:p>
          <a:p>
            <a:pPr>
              <a:spcBef>
                <a:spcPts val="200"/>
              </a:spcBef>
              <a:spcAft>
                <a:spcPts val="200"/>
              </a:spcAft>
              <a:defRPr sz="1400">
                <a:solidFill>
                  <a:srgbClr val="333333"/>
                </a:solidFill>
                <a:latin typeface="Calibri"/>
              </a:defRPr>
            </a:pPr>
            <a:r>
              <a:t>Q4 2024 earnings release (expected February 2025) — potential upside from accelerated EHR adoption in France and Germany, with management guidance on 2025 revenue and margin targets</a:t>
            </a:r>
          </a:p>
          <a:p>
            <a:pPr>
              <a:spcBef>
                <a:spcPts val="200"/>
              </a:spcBef>
              <a:spcAft>
                <a:spcPts val="200"/>
              </a:spcAft>
              <a:defRPr sz="1400">
                <a:solidFill>
                  <a:srgbClr val="333333"/>
                </a:solidFill>
                <a:latin typeface="Calibri"/>
              </a:defRPr>
            </a:pPr>
            <a:r>
              <a:t>Regulatory decision on Germany’s Digital Care Act expansion (H1 2025) — clarification on reimbursement rates for telemedicine could unlock €50-100 million in incremental revenue</a:t>
            </a:r>
          </a:p>
          <a:p>
            <a:pPr>
              <a:spcBef>
                <a:spcPts val="200"/>
              </a:spcBef>
              <a:spcAft>
                <a:spcPts val="200"/>
              </a:spcAft>
              <a:defRPr sz="1400">
                <a:solidFill>
                  <a:srgbClr val="333333"/>
                </a:solidFill>
                <a:latin typeface="Calibri"/>
              </a:defRPr>
            </a:pPr>
            <a:r>
              <a:t>Launch of AI-driven diagnostic tools (pilot expected Q1 2025) — early adoption metrics could validate ARPU uplift and reduce churn, supporting bull case assumptions</a:t>
            </a:r>
          </a:p>
        </p:txBody>
      </p:sp>
      <p:sp>
        <p:nvSpPr>
          <p:cNvPr id="6" name="TextBox 5"/>
          <p:cNvSpPr txBox="1"/>
          <p:nvPr/>
        </p:nvSpPr>
        <p:spPr>
          <a:xfrm>
            <a:off x="6400800" y="1645920"/>
            <a:ext cx="5486400" cy="4754880"/>
          </a:xfrm>
          <a:prstGeom prst="rect">
            <a:avLst/>
          </a:prstGeom>
          <a:noFill/>
        </p:spPr>
        <p:txBody>
          <a:bodyPr wrap="none">
            <a:spAutoFit/>
          </a:bodyPr>
          <a:lstStyle/>
          <a:p>
            <a:r>
              <a:rPr b="1" sz="2000">
                <a:solidFill>
                  <a:srgbClr val="333333"/>
                </a:solidFill>
                <a:latin typeface="Calibri"/>
              </a:rPr>
              <a:t>Key Risks</a:t>
            </a:r>
          </a:p>
          <a:p>
            <a:pPr>
              <a:spcBef>
                <a:spcPts val="200"/>
              </a:spcBef>
              <a:spcAft>
                <a:spcPts val="200"/>
              </a:spcAft>
              <a:defRPr sz="1400">
                <a:solidFill>
                  <a:srgbClr val="333333"/>
                </a:solidFill>
                <a:latin typeface="Calibri"/>
              </a:defRPr>
            </a:pPr>
            <a:r>
              <a:t>No risks provided.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