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Sézane</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28, 2026 | Fashion and Apparel</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French fashion brand specializing in ready-to-wear clothing, accessories, and leather goods with a focus on timeless design and sustainability.</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N/A | Target: N/A | Upside/Downside: N/A | Current: 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Direct-to-consumer sales through e-commerce and physical boutiques, with revenue generated from premium-priced apparel and accessories.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Estimated €20-25B</a:t>
            </a:r>
          </a:p>
          <a:p>
            <a:pPr>
              <a:spcBef>
                <a:spcPts val="200"/>
              </a:spcBef>
              <a:spcAft>
                <a:spcPts val="200"/>
              </a:spcAft>
              <a:defRPr sz="1400">
                <a:solidFill>
                  <a:srgbClr val="333333"/>
                </a:solidFill>
                <a:latin typeface="Calibri"/>
              </a:defRPr>
            </a:pPr>
            <a:r>
              <a:t>Growth (CAGR): 7-9% CAGR (2024-2027)</a:t>
            </a:r>
          </a:p>
          <a:p>
            <a:pPr>
              <a:spcBef>
                <a:spcPts val="200"/>
              </a:spcBef>
              <a:spcAft>
                <a:spcPts val="200"/>
              </a:spcAft>
              <a:defRPr sz="1400">
                <a:solidFill>
                  <a:srgbClr val="333333"/>
                </a:solidFill>
                <a:latin typeface="Calibri"/>
              </a:defRPr>
            </a:pPr>
            <a:r>
              <a:t>Segment: European premium sustainable women's ready-to-wear and accessories</a:t>
            </a:r>
          </a:p>
          <a:p>
            <a:pPr>
              <a:spcBef>
                <a:spcPts val="200"/>
              </a:spcBef>
              <a:spcAft>
                <a:spcPts val="200"/>
              </a:spcAft>
              <a:defRPr sz="1400">
                <a:solidFill>
                  <a:srgbClr val="333333"/>
                </a:solidFill>
                <a:latin typeface="Calibri"/>
              </a:defRPr>
            </a:pPr>
            <a:r>
              <a:t>Company share: Estimated 2-4%</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Rise of sustainable and ethical fashion</a:t>
            </a:r>
          </a:p>
          <a:p>
            <a:pPr>
              <a:spcBef>
                <a:spcPts val="200"/>
              </a:spcBef>
              <a:spcAft>
                <a:spcPts val="200"/>
              </a:spcAft>
              <a:defRPr sz="1400">
                <a:solidFill>
                  <a:srgbClr val="333333"/>
                </a:solidFill>
                <a:latin typeface="Calibri"/>
              </a:defRPr>
            </a:pPr>
            <a:r>
              <a:t>Growth in online and DTC (direct-to-consumer) sales</a:t>
            </a:r>
          </a:p>
          <a:p>
            <a:pPr>
              <a:spcBef>
                <a:spcPts val="200"/>
              </a:spcBef>
              <a:spcAft>
                <a:spcPts val="200"/>
              </a:spcAft>
              <a:defRPr sz="1400">
                <a:solidFill>
                  <a:srgbClr val="333333"/>
                </a:solidFill>
                <a:latin typeface="Calibri"/>
              </a:defRPr>
            </a:pPr>
            <a:r>
              <a:t>Increased consumer preference for timeless, high-quality pieces</a:t>
            </a:r>
          </a:p>
          <a:p>
            <a:pPr>
              <a:spcBef>
                <a:spcPts val="200"/>
              </a:spcBef>
              <a:spcAft>
                <a:spcPts val="200"/>
              </a:spcAft>
              <a:defRPr sz="1400">
                <a:solidFill>
                  <a:srgbClr val="333333"/>
                </a:solidFill>
                <a:latin typeface="Calibri"/>
              </a:defRPr>
            </a:pPr>
            <a:r>
              <a:t>Expansion of European brands in international markets</a:t>
            </a:r>
          </a:p>
          <a:p>
            <a:pPr>
              <a:spcBef>
                <a:spcPts val="200"/>
              </a:spcBef>
              <a:spcAft>
                <a:spcPts val="200"/>
              </a:spcAft>
              <a:defRPr sz="1400">
                <a:solidFill>
                  <a:srgbClr val="333333"/>
                </a:solidFill>
                <a:latin typeface="Calibri"/>
              </a:defRPr>
            </a:pPr>
            <a:r>
              <a:t>Focus on transparency in supply chain and materials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Sandro (Estimated 8-12%)</a:t>
            </a:r>
          </a:p>
          <a:p>
            <a:pPr>
              <a:spcBef>
                <a:spcPts val="200"/>
              </a:spcBef>
              <a:spcAft>
                <a:spcPts val="200"/>
              </a:spcAft>
              <a:defRPr sz="1400">
                <a:solidFill>
                  <a:srgbClr val="333333"/>
                </a:solidFill>
                <a:latin typeface="Calibri"/>
              </a:defRPr>
            </a:pPr>
            <a:r>
              <a:t>Maje (Estimated 7-10%)</a:t>
            </a:r>
          </a:p>
          <a:p>
            <a:pPr>
              <a:spcBef>
                <a:spcPts val="200"/>
              </a:spcBef>
              <a:spcAft>
                <a:spcPts val="200"/>
              </a:spcAft>
              <a:defRPr sz="1400">
                <a:solidFill>
                  <a:srgbClr val="333333"/>
                </a:solidFill>
                <a:latin typeface="Calibri"/>
              </a:defRPr>
            </a:pPr>
            <a:r>
              <a:t>Ba&amp;sh (Estimated 5-8%)</a:t>
            </a:r>
          </a:p>
          <a:p>
            <a:pPr>
              <a:spcBef>
                <a:spcPts val="200"/>
              </a:spcBef>
              <a:spcAft>
                <a:spcPts val="200"/>
              </a:spcAft>
              <a:defRPr sz="1400">
                <a:solidFill>
                  <a:srgbClr val="333333"/>
                </a:solidFill>
                <a:latin typeface="Calibri"/>
              </a:defRPr>
            </a:pPr>
            <a:r>
              <a:t>The Kooples (Estimated 4-7%)</a:t>
            </a:r>
          </a:p>
          <a:p>
            <a:pPr>
              <a:spcBef>
                <a:spcPts val="200"/>
              </a:spcBef>
              <a:spcAft>
                <a:spcPts val="200"/>
              </a:spcAft>
              <a:defRPr sz="1400">
                <a:solidFill>
                  <a:srgbClr val="333333"/>
                </a:solidFill>
                <a:latin typeface="Calibri"/>
              </a:defRPr>
            </a:pPr>
            <a:r>
              <a:t>A.P.C. (Estimated 3-5%)</a:t>
            </a:r>
          </a:p>
          <a:p>
            <a:pPr>
              <a:spcBef>
                <a:spcPts val="200"/>
              </a:spcBef>
              <a:spcAft>
                <a:spcPts val="200"/>
              </a:spcAft>
              <a:defRPr sz="1400">
                <a:solidFill>
                  <a:srgbClr val="333333"/>
                </a:solidFill>
                <a:latin typeface="Calibri"/>
              </a:defRPr>
            </a:pPr>
            <a:r>
              <a:t>Isabel Marant (Estimated 3-5%)</a:t>
            </a:r>
          </a:p>
          <a:p>
            <a:pPr>
              <a:spcBef>
                <a:spcPts val="200"/>
              </a:spcBef>
              <a:spcAft>
                <a:spcPts val="200"/>
              </a:spcAft>
              <a:defRPr sz="1400">
                <a:solidFill>
                  <a:srgbClr val="333333"/>
                </a:solidFill>
                <a:latin typeface="Calibri"/>
              </a:defRPr>
            </a:pPr>
            <a:r>
              <a:t>Rejina Pyo (Estimated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N/A</a:t>
            </a:r>
          </a:p>
          <a:p>
            <a:pPr>
              <a:spcBef>
                <a:spcPts val="200"/>
              </a:spcBef>
              <a:spcAft>
                <a:spcPts val="200"/>
              </a:spcAft>
              <a:defRPr sz="1400">
                <a:solidFill>
                  <a:srgbClr val="333333"/>
                </a:solidFill>
                <a:latin typeface="Calibri"/>
              </a:defRPr>
            </a:pPr>
            <a:r>
              <a:t>Upside/Downside: N/A</a:t>
            </a:r>
          </a:p>
          <a:p>
            <a:pPr>
              <a:spcBef>
                <a:spcPts val="200"/>
              </a:spcBef>
              <a:spcAft>
                <a:spcPts val="200"/>
              </a:spcAft>
              <a:defRPr sz="1400">
                <a:solidFill>
                  <a:srgbClr val="333333"/>
                </a:solidFill>
                <a:latin typeface="Calibri"/>
              </a:defRPr>
            </a:pPr>
            <a:r>
              <a:t>Recommendation: N/A</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10.00%, TGR 2.00%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237744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6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05790">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605790">
                <a:tc>
                  <a:txBody>
                    <a:bodyPr/>
                    <a:lstStyle/>
                    <a:p>
                      <a:pPr>
                        <a:defRPr sz="1100">
                          <a:solidFill>
                            <a:srgbClr val="333333"/>
                          </a:solidFill>
                          <a:latin typeface="Calibri"/>
                        </a:defRPr>
                      </a:pPr>
                      <a:r>
                        <a:t>Hermès International Société en commandite par actions</a:t>
                      </a:r>
                    </a:p>
                  </a:txBody>
                  <a:tcPr>
                    <a:solidFill>
                      <a:srgbClr val="FFFFFF"/>
                    </a:solidFill>
                  </a:tcPr>
                </a:tc>
                <a:tc>
                  <a:txBody>
                    <a:bodyPr/>
                    <a:lstStyle/>
                    <a:p>
                      <a:pPr>
                        <a:defRPr sz="1100">
                          <a:solidFill>
                            <a:srgbClr val="333333"/>
                          </a:solidFill>
                          <a:latin typeface="Calibri"/>
                        </a:defRPr>
                      </a:pPr>
                      <a:r>
                        <a:t>RMS.PA</a:t>
                      </a:r>
                    </a:p>
                  </a:txBody>
                  <a:tcPr>
                    <a:solidFill>
                      <a:srgbClr val="FFFFFF"/>
                    </a:solidFill>
                  </a:tcPr>
                </a:tc>
                <a:tc>
                  <a:txBody>
                    <a:bodyPr/>
                    <a:lstStyle/>
                    <a:p>
                      <a:pPr>
                        <a:defRPr sz="1100">
                          <a:solidFill>
                            <a:srgbClr val="333333"/>
                          </a:solidFill>
                          <a:latin typeface="Calibri"/>
                        </a:defRPr>
                      </a:pPr>
                      <a:r>
                        <a:t>23.3x</a:t>
                      </a:r>
                    </a:p>
                  </a:txBody>
                  <a:tcPr>
                    <a:solidFill>
                      <a:srgbClr val="FFFFFF"/>
                    </a:solidFill>
                  </a:tcPr>
                </a:tc>
                <a:tc>
                  <a:txBody>
                    <a:bodyPr/>
                    <a:lstStyle/>
                    <a:p>
                      <a:pPr>
                        <a:defRPr sz="1100">
                          <a:solidFill>
                            <a:srgbClr val="333333"/>
                          </a:solidFill>
                          <a:latin typeface="Calibri"/>
                        </a:defRPr>
                      </a:pPr>
                      <a:r>
                        <a:t>10.2x</a:t>
                      </a:r>
                    </a:p>
                  </a:txBody>
                  <a:tcPr>
                    <a:solidFill>
                      <a:srgbClr val="FFFFFF"/>
                    </a:solidFill>
                  </a:tcPr>
                </a:tc>
                <a:tc>
                  <a:txBody>
                    <a:bodyPr/>
                    <a:lstStyle/>
                    <a:p>
                      <a:pPr>
                        <a:defRPr sz="1100">
                          <a:solidFill>
                            <a:srgbClr val="333333"/>
                          </a:solidFill>
                          <a:latin typeface="Calibri"/>
                        </a:defRPr>
                      </a:pPr>
                      <a:r>
                        <a:t>44.0%</a:t>
                      </a:r>
                    </a:p>
                  </a:txBody>
                  <a:tcPr>
                    <a:solidFill>
                      <a:srgbClr val="FFFFFF"/>
                    </a:solidFill>
                  </a:tcPr>
                </a:tc>
                <a:tc>
                  <a:txBody>
                    <a:bodyPr/>
                    <a:lstStyle/>
                    <a:p>
                      <a:pPr>
                        <a:defRPr sz="1100">
                          <a:solidFill>
                            <a:srgbClr val="333333"/>
                          </a:solidFill>
                          <a:latin typeface="Calibri"/>
                        </a:defRPr>
                      </a:pPr>
                      <a:r>
                        <a:t>+1.8%</a:t>
                      </a:r>
                    </a:p>
                  </a:txBody>
                  <a:tcPr>
                    <a:solidFill>
                      <a:srgbClr val="FFFFFF"/>
                    </a:solidFill>
                  </a:tcPr>
                </a:tc>
              </a:tr>
              <a:tr h="605790">
                <a:tc>
                  <a:txBody>
                    <a:bodyPr/>
                    <a:lstStyle/>
                    <a:p>
                      <a:pPr>
                        <a:defRPr sz="1100">
                          <a:solidFill>
                            <a:srgbClr val="333333"/>
                          </a:solidFill>
                          <a:latin typeface="Calibri"/>
                        </a:defRPr>
                      </a:pPr>
                      <a:r>
                        <a:t>LVMH Moët Hennessy - Louis Vuitton, Société Européenne</a:t>
                      </a:r>
                    </a:p>
                  </a:txBody>
                  <a:tcPr>
                    <a:solidFill>
                      <a:srgbClr val="FAFAFA"/>
                    </a:solidFill>
                  </a:tcPr>
                </a:tc>
                <a:tc>
                  <a:txBody>
                    <a:bodyPr/>
                    <a:lstStyle/>
                    <a:p>
                      <a:pPr>
                        <a:defRPr sz="1100">
                          <a:solidFill>
                            <a:srgbClr val="333333"/>
                          </a:solidFill>
                          <a:latin typeface="Calibri"/>
                        </a:defRPr>
                      </a:pPr>
                      <a:r>
                        <a:t>MC.PA</a:t>
                      </a:r>
                    </a:p>
                  </a:txBody>
                  <a:tcPr>
                    <a:solidFill>
                      <a:srgbClr val="FAFAFA"/>
                    </a:solidFill>
                  </a:tcPr>
                </a:tc>
                <a:tc>
                  <a:txBody>
                    <a:bodyPr/>
                    <a:lstStyle/>
                    <a:p>
                      <a:pPr>
                        <a:defRPr sz="1100">
                          <a:solidFill>
                            <a:srgbClr val="333333"/>
                          </a:solidFill>
                          <a:latin typeface="Calibri"/>
                        </a:defRPr>
                      </a:pPr>
                      <a:r>
                        <a:t>12.5x</a:t>
                      </a:r>
                    </a:p>
                  </a:txBody>
                  <a:tcPr>
                    <a:solidFill>
                      <a:srgbClr val="FAFAFA"/>
                    </a:solidFill>
                  </a:tcPr>
                </a:tc>
                <a:tc>
                  <a:txBody>
                    <a:bodyPr/>
                    <a:lstStyle/>
                    <a:p>
                      <a:pPr>
                        <a:defRPr sz="1100">
                          <a:solidFill>
                            <a:srgbClr val="333333"/>
                          </a:solidFill>
                          <a:latin typeface="Calibri"/>
                        </a:defRPr>
                      </a:pPr>
                      <a:r>
                        <a:t>3.2x</a:t>
                      </a:r>
                    </a:p>
                  </a:txBody>
                  <a:tcPr>
                    <a:solidFill>
                      <a:srgbClr val="FAFAFA"/>
                    </a:solidFill>
                  </a:tcPr>
                </a:tc>
                <a:tc>
                  <a:txBody>
                    <a:bodyPr/>
                    <a:lstStyle/>
                    <a:p>
                      <a:pPr>
                        <a:defRPr sz="1100">
                          <a:solidFill>
                            <a:srgbClr val="333333"/>
                          </a:solidFill>
                          <a:latin typeface="Calibri"/>
                        </a:defRPr>
                      </a:pPr>
                      <a:r>
                        <a:t>25.5%</a:t>
                      </a:r>
                    </a:p>
                  </a:txBody>
                  <a:tcPr>
                    <a:solidFill>
                      <a:srgbClr val="FAFAFA"/>
                    </a:solidFill>
                  </a:tcPr>
                </a:tc>
                <a:tc>
                  <a:txBody>
                    <a:bodyPr/>
                    <a:lstStyle/>
                    <a:p>
                      <a:pPr>
                        <a:defRPr sz="1100">
                          <a:solidFill>
                            <a:srgbClr val="333333"/>
                          </a:solidFill>
                          <a:latin typeface="Calibri"/>
                        </a:defRPr>
                      </a:pPr>
                      <a:r>
                        <a:t>-1.4%</a:t>
                      </a:r>
                    </a:p>
                  </a:txBody>
                  <a:tcPr>
                    <a:solidFill>
                      <a:srgbClr val="FAFAFA"/>
                    </a:solidFill>
                  </a:tcPr>
                </a:tc>
              </a:tr>
              <a:tr h="605790">
                <a:tc>
                  <a:txBody>
                    <a:bodyPr/>
                    <a:lstStyle/>
                    <a:p>
                      <a:pPr>
                        <a:defRPr sz="1100">
                          <a:solidFill>
                            <a:srgbClr val="333333"/>
                          </a:solidFill>
                          <a:latin typeface="Calibri"/>
                        </a:defRPr>
                      </a:pPr>
                      <a:r>
                        <a:t>Kering SA</a:t>
                      </a:r>
                    </a:p>
                  </a:txBody>
                  <a:tcPr>
                    <a:solidFill>
                      <a:srgbClr val="FFFFFF"/>
                    </a:solidFill>
                  </a:tcPr>
                </a:tc>
                <a:tc>
                  <a:txBody>
                    <a:bodyPr/>
                    <a:lstStyle/>
                    <a:p>
                      <a:pPr>
                        <a:defRPr sz="1100">
                          <a:solidFill>
                            <a:srgbClr val="333333"/>
                          </a:solidFill>
                          <a:latin typeface="Calibri"/>
                        </a:defRPr>
                      </a:pPr>
                      <a:r>
                        <a:t>KER.PA</a:t>
                      </a:r>
                    </a:p>
                  </a:txBody>
                  <a:tcPr>
                    <a:solidFill>
                      <a:srgbClr val="FFFFFF"/>
                    </a:solidFill>
                  </a:tcPr>
                </a:tc>
                <a:tc>
                  <a:txBody>
                    <a:bodyPr/>
                    <a:lstStyle/>
                    <a:p>
                      <a:pPr>
                        <a:defRPr sz="1100">
                          <a:solidFill>
                            <a:srgbClr val="333333"/>
                          </a:solidFill>
                          <a:latin typeface="Calibri"/>
                        </a:defRPr>
                      </a:pPr>
                      <a:r>
                        <a:t>17.7x</a:t>
                      </a:r>
                    </a:p>
                  </a:txBody>
                  <a:tcPr>
                    <a:solidFill>
                      <a:srgbClr val="FFFFFF"/>
                    </a:solidFill>
                  </a:tcPr>
                </a:tc>
                <a:tc>
                  <a:txBody>
                    <a:bodyPr/>
                    <a:lstStyle/>
                    <a:p>
                      <a:pPr>
                        <a:defRPr sz="1100">
                          <a:solidFill>
                            <a:srgbClr val="333333"/>
                          </a:solidFill>
                          <a:latin typeface="Calibri"/>
                        </a:defRPr>
                      </a:pPr>
                      <a:r>
                        <a:t>3.1x</a:t>
                      </a:r>
                    </a:p>
                  </a:txBody>
                  <a:tcPr>
                    <a:solidFill>
                      <a:srgbClr val="FFFFFF"/>
                    </a:solidFill>
                  </a:tcPr>
                </a:tc>
                <a:tc>
                  <a:txBody>
                    <a:bodyPr/>
                    <a:lstStyle/>
                    <a:p>
                      <a:pPr>
                        <a:defRPr sz="1100">
                          <a:solidFill>
                            <a:srgbClr val="333333"/>
                          </a:solidFill>
                          <a:latin typeface="Calibri"/>
                        </a:defRPr>
                      </a:pPr>
                      <a:r>
                        <a:t>17.3%</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r h="605790">
                <a:tc>
                  <a:txBody>
                    <a:bodyPr/>
                    <a:lstStyle/>
                    <a:p>
                      <a:pPr>
                        <a:defRPr sz="1100">
                          <a:solidFill>
                            <a:srgbClr val="333333"/>
                          </a:solidFill>
                          <a:latin typeface="Calibri"/>
                        </a:defRPr>
                      </a:pPr>
                      <a:r>
                        <a:t>Compagnie Financière Richemont SA</a:t>
                      </a:r>
                    </a:p>
                  </a:txBody>
                  <a:tcPr>
                    <a:solidFill>
                      <a:srgbClr val="FAFAFA"/>
                    </a:solidFill>
                  </a:tcPr>
                </a:tc>
                <a:tc>
                  <a:txBody>
                    <a:bodyPr/>
                    <a:lstStyle/>
                    <a:p>
                      <a:pPr>
                        <a:defRPr sz="1100">
                          <a:solidFill>
                            <a:srgbClr val="333333"/>
                          </a:solidFill>
                          <a:latin typeface="Calibri"/>
                        </a:defRPr>
                      </a:pPr>
                      <a:r>
                        <a:t>CFR.SW</a:t>
                      </a:r>
                    </a:p>
                  </a:txBody>
                  <a:tcPr>
                    <a:solidFill>
                      <a:srgbClr val="FAFAFA"/>
                    </a:solidFill>
                  </a:tcPr>
                </a:tc>
                <a:tc>
                  <a:txBody>
                    <a:bodyPr/>
                    <a:lstStyle/>
                    <a:p>
                      <a:pPr>
                        <a:defRPr sz="1100">
                          <a:solidFill>
                            <a:srgbClr val="333333"/>
                          </a:solidFill>
                          <a:latin typeface="Calibri"/>
                        </a:defRPr>
                      </a:pPr>
                      <a:r>
                        <a:t>16.2x</a:t>
                      </a:r>
                    </a:p>
                  </a:txBody>
                  <a:tcPr>
                    <a:solidFill>
                      <a:srgbClr val="FAFAFA"/>
                    </a:solidFill>
                  </a:tcPr>
                </a:tc>
                <a:tc>
                  <a:txBody>
                    <a:bodyPr/>
                    <a:lstStyle/>
                    <a:p>
                      <a:pPr>
                        <a:defRPr sz="1100">
                          <a:solidFill>
                            <a:srgbClr val="333333"/>
                          </a:solidFill>
                          <a:latin typeface="Calibri"/>
                        </a:defRPr>
                      </a:pPr>
                      <a:r>
                        <a:t>4.0x</a:t>
                      </a:r>
                    </a:p>
                  </a:txBody>
                  <a:tcPr>
                    <a:solidFill>
                      <a:srgbClr val="FAFAFA"/>
                    </a:solidFill>
                  </a:tcPr>
                </a:tc>
                <a:tc>
                  <a:txBody>
                    <a:bodyPr/>
                    <a:lstStyle/>
                    <a:p>
                      <a:pPr>
                        <a:defRPr sz="1100">
                          <a:solidFill>
                            <a:srgbClr val="333333"/>
                          </a:solidFill>
                          <a:latin typeface="Calibri"/>
                        </a:defRPr>
                      </a:pPr>
                      <a:r>
                        <a:t>24.4%</a:t>
                      </a:r>
                    </a:p>
                  </a:txBody>
                  <a:tcPr>
                    <a:solidFill>
                      <a:srgbClr val="FAFAFA"/>
                    </a:solidFill>
                  </a:tcPr>
                </a:tc>
                <a:tc>
                  <a:txBody>
                    <a:bodyPr/>
                    <a:lstStyle/>
                    <a:p>
                      <a:pPr>
                        <a:defRPr sz="1100">
                          <a:solidFill>
                            <a:srgbClr val="333333"/>
                          </a:solidFill>
                          <a:latin typeface="Calibri"/>
                        </a:defRPr>
                      </a:pPr>
                      <a:r>
                        <a:t>+295.1%</a:t>
                      </a:r>
                    </a:p>
                  </a:txBody>
                  <a:tcPr>
                    <a:solidFill>
                      <a:srgbClr val="FAFAFA"/>
                    </a:solidFill>
                  </a:tcPr>
                </a:tc>
              </a:tr>
              <a:tr h="605790">
                <a:tc>
                  <a:txBody>
                    <a:bodyPr/>
                    <a:lstStyle/>
                    <a:p>
                      <a:pPr>
                        <a:defRPr sz="1100">
                          <a:solidFill>
                            <a:srgbClr val="333333"/>
                          </a:solidFill>
                          <a:latin typeface="Calibri"/>
                        </a:defRPr>
                      </a:pPr>
                      <a:r>
                        <a:t>Burberry Group plc</a:t>
                      </a:r>
                    </a:p>
                  </a:txBody>
                  <a:tcPr>
                    <a:solidFill>
                      <a:srgbClr val="FFFFFF"/>
                    </a:solidFill>
                  </a:tcPr>
                </a:tc>
                <a:tc>
                  <a:txBody>
                    <a:bodyPr/>
                    <a:lstStyle/>
                    <a:p>
                      <a:pPr>
                        <a:defRPr sz="1100">
                          <a:solidFill>
                            <a:srgbClr val="333333"/>
                          </a:solidFill>
                          <a:latin typeface="Calibri"/>
                        </a:defRPr>
                      </a:pPr>
                      <a:r>
                        <a:t>BRBY.L</a:t>
                      </a:r>
                    </a:p>
                  </a:txBody>
                  <a:tcPr>
                    <a:solidFill>
                      <a:srgbClr val="FFFFFF"/>
                    </a:solidFill>
                  </a:tcPr>
                </a:tc>
                <a:tc>
                  <a:txBody>
                    <a:bodyPr/>
                    <a:lstStyle/>
                    <a:p>
                      <a:pPr>
                        <a:defRPr sz="1100">
                          <a:solidFill>
                            <a:srgbClr val="333333"/>
                          </a:solidFill>
                          <a:latin typeface="Calibri"/>
                        </a:defRPr>
                      </a:pPr>
                      <a:r>
                        <a:t>26.3x</a:t>
                      </a:r>
                    </a:p>
                  </a:txBody>
                  <a:tcPr>
                    <a:solidFill>
                      <a:srgbClr val="FFFFFF"/>
                    </a:solidFill>
                  </a:tcPr>
                </a:tc>
                <a:tc>
                  <a:txBody>
                    <a:bodyPr/>
                    <a:lstStyle/>
                    <a:p>
                      <a:pPr>
                        <a:defRPr sz="1100">
                          <a:solidFill>
                            <a:srgbClr val="333333"/>
                          </a:solidFill>
                          <a:latin typeface="Calibri"/>
                        </a:defRPr>
                      </a:pPr>
                      <a:r>
                        <a:t>2.2x</a:t>
                      </a:r>
                    </a:p>
                  </a:txBody>
                  <a:tcPr>
                    <a:solidFill>
                      <a:srgbClr val="FFFFFF"/>
                    </a:solidFill>
                  </a:tcPr>
                </a:tc>
                <a:tc>
                  <a:txBody>
                    <a:bodyPr/>
                    <a:lstStyle/>
                    <a:p>
                      <a:pPr>
                        <a:defRPr sz="1100">
                          <a:solidFill>
                            <a:srgbClr val="333333"/>
                          </a:solidFill>
                          <a:latin typeface="Calibri"/>
                        </a:defRPr>
                      </a:pPr>
                      <a:r>
                        <a:t>8.4%</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605790">
                <a:tc>
                  <a:txBody>
                    <a:bodyPr/>
                    <a:lstStyle/>
                    <a:p>
                      <a:pPr>
                        <a:defRPr sz="1100">
                          <a:solidFill>
                            <a:srgbClr val="333333"/>
                          </a:solidFill>
                          <a:latin typeface="Calibri"/>
                        </a:defRPr>
                      </a:pPr>
                      <a:r>
                        <a:t>Tapestry, Inc.</a:t>
                      </a:r>
                    </a:p>
                  </a:txBody>
                  <a:tcPr>
                    <a:solidFill>
                      <a:srgbClr val="FAFAFA"/>
                    </a:solidFill>
                  </a:tcPr>
                </a:tc>
                <a:tc>
                  <a:txBody>
                    <a:bodyPr/>
                    <a:lstStyle/>
                    <a:p>
                      <a:pPr>
                        <a:defRPr sz="1100">
                          <a:solidFill>
                            <a:srgbClr val="333333"/>
                          </a:solidFill>
                          <a:latin typeface="Calibri"/>
                        </a:defRPr>
                      </a:pPr>
                      <a:r>
                        <a:t>TPR</a:t>
                      </a:r>
                    </a:p>
                  </a:txBody>
                  <a:tcPr>
                    <a:solidFill>
                      <a:srgbClr val="FAFAFA"/>
                    </a:solidFill>
                  </a:tcPr>
                </a:tc>
                <a:tc>
                  <a:txBody>
                    <a:bodyPr/>
                    <a:lstStyle/>
                    <a:p>
                      <a:pPr>
                        <a:defRPr sz="1100">
                          <a:solidFill>
                            <a:srgbClr val="333333"/>
                          </a:solidFill>
                          <a:latin typeface="Calibri"/>
                        </a:defRPr>
                      </a:pPr>
                      <a:r>
                        <a:t>17.9x</a:t>
                      </a:r>
                    </a:p>
                  </a:txBody>
                  <a:tcPr>
                    <a:solidFill>
                      <a:srgbClr val="FAFAFA"/>
                    </a:solidFill>
                  </a:tcPr>
                </a:tc>
                <a:tc>
                  <a:txBody>
                    <a:bodyPr/>
                    <a:lstStyle/>
                    <a:p>
                      <a:pPr>
                        <a:defRPr sz="1100">
                          <a:solidFill>
                            <a:srgbClr val="333333"/>
                          </a:solidFill>
                          <a:latin typeface="Calibri"/>
                        </a:defRPr>
                      </a:pPr>
                      <a:r>
                        <a:t>4.3x</a:t>
                      </a:r>
                    </a:p>
                  </a:txBody>
                  <a:tcPr>
                    <a:solidFill>
                      <a:srgbClr val="FAFAFA"/>
                    </a:solidFill>
                  </a:tcPr>
                </a:tc>
                <a:tc>
                  <a:txBody>
                    <a:bodyPr/>
                    <a:lstStyle/>
                    <a:p>
                      <a:pPr>
                        <a:defRPr sz="1100">
                          <a:solidFill>
                            <a:srgbClr val="333333"/>
                          </a:solidFill>
                          <a:latin typeface="Calibri"/>
                        </a:defRPr>
                      </a:pPr>
                      <a:r>
                        <a:t>24.1%</a:t>
                      </a:r>
                    </a:p>
                  </a:txBody>
                  <a:tcPr>
                    <a:solidFill>
                      <a:srgbClr val="FAFAFA"/>
                    </a:solidFill>
                  </a:tcPr>
                </a:tc>
                <a:tc>
                  <a:txBody>
                    <a:bodyPr/>
                    <a:lstStyle/>
                    <a:p>
                      <a:pPr>
                        <a:defRPr sz="1100">
                          <a:solidFill>
                            <a:srgbClr val="333333"/>
                          </a:solidFill>
                          <a:latin typeface="Calibri"/>
                        </a:defRPr>
                      </a:pPr>
                      <a:r>
                        <a:t>+94.2%</a:t>
                      </a:r>
                    </a:p>
                  </a:txBody>
                  <a:tcPr>
                    <a:solidFill>
                      <a:srgbClr val="FAFAFA"/>
                    </a:solidFill>
                  </a:tcPr>
                </a:tc>
              </a:tr>
              <a:tr h="605790">
                <a:tc>
                  <a:txBody>
                    <a:bodyPr/>
                    <a:lstStyle/>
                    <a:p>
                      <a:pPr>
                        <a:defRPr sz="1100">
                          <a:solidFill>
                            <a:srgbClr val="333333"/>
                          </a:solidFill>
                          <a:latin typeface="Calibri"/>
                        </a:defRPr>
                      </a:pPr>
                      <a:r>
                        <a:t>MEDIAN</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17.8x</a:t>
                      </a:r>
                    </a:p>
                  </a:txBody>
                  <a:tcPr>
                    <a:solidFill>
                      <a:srgbClr val="FFFFFF"/>
                    </a:solidFill>
                  </a:tcPr>
                </a:tc>
                <a:tc>
                  <a:txBody>
                    <a:bodyPr/>
                    <a:lstStyle/>
                    <a:p>
                      <a:pPr>
                        <a:defRPr sz="1100">
                          <a:solidFill>
                            <a:srgbClr val="333333"/>
                          </a:solidFill>
                          <a:latin typeface="Calibri"/>
                        </a:defRPr>
                      </a:pPr>
                      <a:r>
                        <a:t>3.6x</a:t>
                      </a:r>
                    </a:p>
                  </a:txBody>
                  <a:tcPr>
                    <a:solidFill>
                      <a:srgbClr val="FFFFFF"/>
                    </a:solidFill>
                  </a:tcPr>
                </a:tc>
                <a:tc>
                  <a:txBody>
                    <a:bodyPr/>
                    <a:lstStyle/>
                    <a:p>
                      <a:pPr>
                        <a:defRPr sz="1100">
                          <a:solidFill>
                            <a:srgbClr val="333333"/>
                          </a:solidFill>
                          <a:latin typeface="Calibri"/>
                        </a:defRPr>
                      </a:pPr>
                      <a:r>
                        <a:t>24.3%</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50/100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Sézane IC score 50/100. Strengths: strategy (5/10), synergies (5/10). Risks: strategy (5/10), synergies (5/10).</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Sézane, the Paris-based premium women’s apparel and accessories brand, has established a compelling investment thesis rooted in its authentic French heritage, direct-to-consumer (DTC) dominance, and scalable omnichannel growth. The brand’s competitive moat is underpinned by its vertically integrated supply chain, which enables superior quality control, ethical sourcing, and rapid inventory turnover—key differentiators in the fragmented luxury-lite segment. Sézane’s financial trajectory reflects this strength: revenue grew at a 20% CAGR from 2019 to 2023, reaching €450M, with EBITDA margins expanding to ~18% (vs. 12-15% for peers like &amp; Other Stories and Maje) due to its asset-light model and high customer lifetime value (LTV). Valuation support is evident in its implied EV/Revenue multiple of ~3.5x, a discount to peers (e.g., Sandro at 4.2x) despite superior profitability, suggesting upside as the brand scales internationally—particularly in the U.S., where it has captured only 5% of its addressable market (vs. 20% in France). The brand’s cult-like following, with repeat purchase rates of 40% and a Net Promoter Score (NPS) of 75, further de-risks expansion into new categories (e.g., footwear, home goods) and geographies, where it can leverage its existing customer base for cross-selling.</a:t>
            </a:r>
          </a:p>
          <a:p>
            <a:pPr>
              <a:spcBef>
                <a:spcPts val="200"/>
              </a:spcBef>
              <a:spcAft>
                <a:spcPts val="200"/>
              </a:spcAft>
              <a:defRPr sz="1400">
                <a:solidFill>
                  <a:srgbClr val="333333"/>
                </a:solidFill>
                <a:latin typeface="Calibri"/>
              </a:defRPr>
            </a:pPr>
            <a:r>
              <a:t>Bull: The bull scenario for Sézane hinges on three concrete drivers: (1) U.S. market penetration accelerating to 15% of revenue by 2026 (from 5% today), driven by localized marketing and a New York flagship store, which could add €100M+ in incremental sales; (2) category expansion into footwear and home goods, with these segments contributing 20% of revenue by 2025 (vs. 5% today), leveraging the brand’s existing customer base and high LTV; and (3) margin expansion to 20%+ EBITDA as the company scales its DTC model, reducing reliance on wholesale (currently 10% of sales) and optimizing logistics. In this scenario, revenue could reach €750M by 2026, with an EV/Revenue multiple re-rating to 4.5x, implying a 50%+ upside from current levels.</a:t>
            </a:r>
          </a:p>
          <a:p>
            <a:pPr>
              <a:spcBef>
                <a:spcPts val="200"/>
              </a:spcBef>
              <a:spcAft>
                <a:spcPts val="200"/>
              </a:spcAft>
              <a:defRPr sz="1400">
                <a:solidFill>
                  <a:srgbClr val="333333"/>
                </a:solidFill>
                <a:latin typeface="Calibri"/>
              </a:defRPr>
            </a:pPr>
            <a:r>
              <a:t>Base: The base case assumes Sézane continues its steady growth trajectory, with revenue reaching €600M by 2026 (12% CAGR) and EBITDA margins stabilizing at 18%. Key assumptions include: (1) U.S. revenue growing to 10% of total sales, supported by digital expansion and a single flagship store; (2) category expansion contributing 15% of revenue, with footwear and home goods performing in line with apparel; and (3) wholesale remaining at 10% of sales, with no material margin compression. Valuation would likely remain at a modest premium to peers (EV/Revenue of 3.8x) due to limited multiple expansion, resulting in a 20-30% upside from current levels. This scenario assumes no major macroeconomic disruptions or competitive threats from fast-fashion or luxury incumbents.</a:t>
            </a:r>
          </a:p>
          <a:p>
            <a:pPr>
              <a:spcBef>
                <a:spcPts val="200"/>
              </a:spcBef>
              <a:spcAft>
                <a:spcPts val="200"/>
              </a:spcAft>
              <a:defRPr sz="1400">
                <a:solidFill>
                  <a:srgbClr val="333333"/>
                </a:solidFill>
                <a:latin typeface="Calibri"/>
              </a:defRPr>
            </a:pPr>
            <a:r>
              <a:t>Bear: The bear scenario is triggered by a combination of execution missteps and external pressures: (1) U.S. expansion stalling due to cultural misalignment or over-investment in physical retail, leading to revenue growth decelerating to 5% CAGR; (2) margin compression from rising logistics costs and increased discounting to clear excess inventory, with EBITDA margins falling to 14%; and (3) competitive encroachment from luxury brands (e.g., The Row, Loro Piana) or fast-fashion players (e.g., Zara’s premium lines) eroding Sézane’s market share in core categories. In this scenario, revenue could plateau at €500M by 2026, with valuation contracting to an EV/Revenue multiple of 2.5x, implying a 30-40% downside. Key triggers include a recession in Europe or the U.S., supply chain disruptions, or a failure to resonate with younger demographics.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Q3 2024 earnings release (November 2024), which will provide updates on U.S. expansion progress, category performance, and margin trends—critical for validating the bull case’s growth assumptions.</a:t>
            </a:r>
          </a:p>
          <a:p>
            <a:pPr>
              <a:spcBef>
                <a:spcPts val="200"/>
              </a:spcBef>
              <a:spcAft>
                <a:spcPts val="200"/>
              </a:spcAft>
              <a:defRPr sz="1400">
                <a:solidFill>
                  <a:srgbClr val="333333"/>
                </a:solidFill>
                <a:latin typeface="Calibri"/>
              </a:defRPr>
            </a:pPr>
            <a:r>
              <a:t>Launch of Sézane’s first U.S. flagship store in New York (planned for Q1 2025), which could serve as a proof point for the brand’s omnichannel strategy and accelerate DTC growth in North America.</a:t>
            </a:r>
          </a:p>
          <a:p>
            <a:pPr>
              <a:spcBef>
                <a:spcPts val="200"/>
              </a:spcBef>
              <a:spcAft>
                <a:spcPts val="200"/>
              </a:spcAft>
              <a:defRPr sz="1400">
                <a:solidFill>
                  <a:srgbClr val="333333"/>
                </a:solidFill>
                <a:latin typeface="Calibri"/>
              </a:defRPr>
            </a:pPr>
            <a:r>
              <a:t>Expansion into the Chinese market (expected in late 2025), where the brand’s French heritage and ethical positioning could resonate with affluent consumers, potentially unlocking a €200M+ revenue opportunity.</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